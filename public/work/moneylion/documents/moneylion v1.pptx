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charts/chart1.xml" ContentType="application/vnd.openxmlformats-officedocument.drawingml.chart+xml"/>
  <Override PartName="/ppt/slides/slide68.xml" ContentType="application/vnd.openxmlformats-officedocument.presentationml.slide+xml"/>
  <Override PartName="/ppt/slides/slide69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bbfa3db4b7e146c0"/><Relationship Type="http://schemas.openxmlformats.org/officeDocument/2006/relationships/extended-properties" Target="/docProps/app.xml" Id="Reec7bc5d99f84822"/><Relationship Type="http://schemas.openxmlformats.org/officeDocument/2006/relationships/officeDocument" Target="/ppt/presentation.xml" Id="R9780213cb94a4d7e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cbaf7685514a95"/>
  </p:sldMasterIdLst>
  <p:sldIdLst>
    <p:sldId xmlns:r="http://schemas.openxmlformats.org/officeDocument/2006/relationships" id="256" r:id="Rfd636f34d57d4a2f"/>
    <p:sldId xmlns:r="http://schemas.openxmlformats.org/officeDocument/2006/relationships" id="257" r:id="Re87838bb4a014b40"/>
    <p:sldId xmlns:r="http://schemas.openxmlformats.org/officeDocument/2006/relationships" id="258" r:id="R4926d28fb0ad4e5e"/>
    <p:sldId xmlns:r="http://schemas.openxmlformats.org/officeDocument/2006/relationships" id="259" r:id="Rfa93c9bb20dd4690"/>
    <p:sldId xmlns:r="http://schemas.openxmlformats.org/officeDocument/2006/relationships" id="260" r:id="R5b668a9e95494e8a"/>
    <p:sldId xmlns:r="http://schemas.openxmlformats.org/officeDocument/2006/relationships" id="261" r:id="R83ae19b9df904cfc"/>
    <p:sldId xmlns:r="http://schemas.openxmlformats.org/officeDocument/2006/relationships" id="262" r:id="R5105b3e42dbb485e"/>
    <p:sldId xmlns:r="http://schemas.openxmlformats.org/officeDocument/2006/relationships" id="263" r:id="Rd7a4ab36f43347d6"/>
    <p:sldId xmlns:r="http://schemas.openxmlformats.org/officeDocument/2006/relationships" id="264" r:id="Rec5bfd53c08b4849"/>
    <p:sldId xmlns:r="http://schemas.openxmlformats.org/officeDocument/2006/relationships" id="265" r:id="Rfa8b651981d34db2"/>
    <p:sldId xmlns:r="http://schemas.openxmlformats.org/officeDocument/2006/relationships" id="266" r:id="R6ed0141d97b84d00"/>
    <p:sldId xmlns:r="http://schemas.openxmlformats.org/officeDocument/2006/relationships" id="267" r:id="R466842feb3cf4274"/>
    <p:sldId xmlns:r="http://schemas.openxmlformats.org/officeDocument/2006/relationships" id="268" r:id="R4f455c16cd0d406c"/>
    <p:sldId xmlns:r="http://schemas.openxmlformats.org/officeDocument/2006/relationships" id="269" r:id="R763e0439eb504ffc"/>
    <p:sldId xmlns:r="http://schemas.openxmlformats.org/officeDocument/2006/relationships" id="270" r:id="R85716efe716e4b56"/>
    <p:sldId xmlns:r="http://schemas.openxmlformats.org/officeDocument/2006/relationships" id="271" r:id="Ra9d290d575ef4ed7"/>
    <p:sldId xmlns:r="http://schemas.openxmlformats.org/officeDocument/2006/relationships" id="272" r:id="R94110648c308460c"/>
    <p:sldId xmlns:r="http://schemas.openxmlformats.org/officeDocument/2006/relationships" id="273" r:id="R3dabda4339254841"/>
    <p:sldId xmlns:r="http://schemas.openxmlformats.org/officeDocument/2006/relationships" id="274" r:id="R607f0920d9a24292"/>
    <p:sldId xmlns:r="http://schemas.openxmlformats.org/officeDocument/2006/relationships" id="275" r:id="R3312ad52a1da4eda"/>
    <p:sldId xmlns:r="http://schemas.openxmlformats.org/officeDocument/2006/relationships" id="276" r:id="Rb9e6e0e1f8e0499e"/>
    <p:sldId xmlns:r="http://schemas.openxmlformats.org/officeDocument/2006/relationships" id="277" r:id="R6ee9b7dd86f74ecf"/>
    <p:sldId xmlns:r="http://schemas.openxmlformats.org/officeDocument/2006/relationships" id="278" r:id="R378b7cc1294e4c09"/>
    <p:sldId xmlns:r="http://schemas.openxmlformats.org/officeDocument/2006/relationships" id="279" r:id="Rbd9c2bdf73a84a3d"/>
    <p:sldId xmlns:r="http://schemas.openxmlformats.org/officeDocument/2006/relationships" id="280" r:id="R974306a50d65423c"/>
    <p:sldId xmlns:r="http://schemas.openxmlformats.org/officeDocument/2006/relationships" id="281" r:id="Raaff02c97e79482f"/>
    <p:sldId xmlns:r="http://schemas.openxmlformats.org/officeDocument/2006/relationships" id="282" r:id="R3088a170a3a44509"/>
    <p:sldId xmlns:r="http://schemas.openxmlformats.org/officeDocument/2006/relationships" id="283" r:id="Rde0db073b60b4006"/>
    <p:sldId xmlns:r="http://schemas.openxmlformats.org/officeDocument/2006/relationships" id="284" r:id="R4e2a15658f544622"/>
    <p:sldId xmlns:r="http://schemas.openxmlformats.org/officeDocument/2006/relationships" id="285" r:id="Raa0ae5436a8647ca"/>
    <p:sldId xmlns:r="http://schemas.openxmlformats.org/officeDocument/2006/relationships" id="286" r:id="R088fcf8df8a642f6"/>
    <p:sldId xmlns:r="http://schemas.openxmlformats.org/officeDocument/2006/relationships" id="287" r:id="R621c654d791f4c76"/>
    <p:sldId xmlns:r="http://schemas.openxmlformats.org/officeDocument/2006/relationships" id="288" r:id="Rc28f85370f16495c"/>
    <p:sldId xmlns:r="http://schemas.openxmlformats.org/officeDocument/2006/relationships" id="289" r:id="R72828c888bcf4e74"/>
    <p:sldId xmlns:r="http://schemas.openxmlformats.org/officeDocument/2006/relationships" id="290" r:id="R2b8cd4b836a040b0"/>
    <p:sldId xmlns:r="http://schemas.openxmlformats.org/officeDocument/2006/relationships" id="291" r:id="R4112b30b354e4ba2"/>
    <p:sldId xmlns:r="http://schemas.openxmlformats.org/officeDocument/2006/relationships" id="292" r:id="R2a6337017bd944c4"/>
    <p:sldId xmlns:r="http://schemas.openxmlformats.org/officeDocument/2006/relationships" id="293" r:id="Rde783f6e56c8432b"/>
    <p:sldId xmlns:r="http://schemas.openxmlformats.org/officeDocument/2006/relationships" id="294" r:id="R3b4979c5a7754c9c"/>
    <p:sldId xmlns:r="http://schemas.openxmlformats.org/officeDocument/2006/relationships" id="295" r:id="Rb954119eadb74b43"/>
    <p:sldId xmlns:r="http://schemas.openxmlformats.org/officeDocument/2006/relationships" id="296" r:id="R1e44988c2b4d4d66"/>
    <p:sldId xmlns:r="http://schemas.openxmlformats.org/officeDocument/2006/relationships" id="297" r:id="Raed210a8731b44f8"/>
    <p:sldId xmlns:r="http://schemas.openxmlformats.org/officeDocument/2006/relationships" id="298" r:id="R4a19a35d42d64ed6"/>
    <p:sldId xmlns:r="http://schemas.openxmlformats.org/officeDocument/2006/relationships" id="299" r:id="R3a4c28d26ed94b40"/>
    <p:sldId xmlns:r="http://schemas.openxmlformats.org/officeDocument/2006/relationships" id="300" r:id="Rfd3428e4770147b0"/>
    <p:sldId xmlns:r="http://schemas.openxmlformats.org/officeDocument/2006/relationships" id="301" r:id="R9b1b0868655a4fed"/>
    <p:sldId xmlns:r="http://schemas.openxmlformats.org/officeDocument/2006/relationships" id="302" r:id="Rb760d7b832bc4f20"/>
    <p:sldId xmlns:r="http://schemas.openxmlformats.org/officeDocument/2006/relationships" id="303" r:id="R0e924868a78043b8"/>
    <p:sldId xmlns:r="http://schemas.openxmlformats.org/officeDocument/2006/relationships" id="304" r:id="Rff1d46fae0a14513"/>
    <p:sldId xmlns:r="http://schemas.openxmlformats.org/officeDocument/2006/relationships" id="305" r:id="R67bd4b7c15574dac"/>
    <p:sldId xmlns:r="http://schemas.openxmlformats.org/officeDocument/2006/relationships" id="306" r:id="R6985a8f1d6894e77"/>
    <p:sldId xmlns:r="http://schemas.openxmlformats.org/officeDocument/2006/relationships" id="307" r:id="R6bd0569fb23b42bc"/>
    <p:sldId xmlns:r="http://schemas.openxmlformats.org/officeDocument/2006/relationships" id="308" r:id="Rb7552eb29cb5480b"/>
    <p:sldId xmlns:r="http://schemas.openxmlformats.org/officeDocument/2006/relationships" id="309" r:id="Rdff79bbe5ee44eec"/>
    <p:sldId xmlns:r="http://schemas.openxmlformats.org/officeDocument/2006/relationships" id="310" r:id="R9b4137bea6ed46f2"/>
    <p:sldId xmlns:r="http://schemas.openxmlformats.org/officeDocument/2006/relationships" id="311" r:id="Rd3b064112e194bb5"/>
    <p:sldId xmlns:r="http://schemas.openxmlformats.org/officeDocument/2006/relationships" id="312" r:id="R3aa8b3d92ae643d7"/>
    <p:sldId xmlns:r="http://schemas.openxmlformats.org/officeDocument/2006/relationships" id="313" r:id="Rd2eb75488667438a"/>
    <p:sldId xmlns:r="http://schemas.openxmlformats.org/officeDocument/2006/relationships" id="314" r:id="R2837b3d36cf64e11"/>
    <p:sldId xmlns:r="http://schemas.openxmlformats.org/officeDocument/2006/relationships" id="315" r:id="R508fa914d7e54110"/>
    <p:sldId xmlns:r="http://schemas.openxmlformats.org/officeDocument/2006/relationships" id="316" r:id="R0a0952fc13e2423b"/>
    <p:sldId xmlns:r="http://schemas.openxmlformats.org/officeDocument/2006/relationships" id="317" r:id="R0288db64ec114237"/>
    <p:sldId xmlns:r="http://schemas.openxmlformats.org/officeDocument/2006/relationships" id="318" r:id="R8712460503334969"/>
    <p:sldId xmlns:r="http://schemas.openxmlformats.org/officeDocument/2006/relationships" id="319" r:id="Rddcbdd5d66f14631"/>
    <p:sldId xmlns:r="http://schemas.openxmlformats.org/officeDocument/2006/relationships" id="320" r:id="R8ea39e0de8004eef"/>
    <p:sldId xmlns:r="http://schemas.openxmlformats.org/officeDocument/2006/relationships" id="321" r:id="R7db8a18db00148af"/>
    <p:sldId xmlns:r="http://schemas.openxmlformats.org/officeDocument/2006/relationships" id="322" r:id="Rd507db52003a4129"/>
    <p:sldId xmlns:r="http://schemas.openxmlformats.org/officeDocument/2006/relationships" id="323" r:id="Re0e418da67cf4073"/>
    <p:sldId xmlns:r="http://schemas.openxmlformats.org/officeDocument/2006/relationships" id="324" r:id="R6aa4bde7969148e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6404847bf0014b00"/><Relationship Type="http://schemas.openxmlformats.org/officeDocument/2006/relationships/slideMaster" Target="/ppt/slideMasters/slideMaster1.xml" Id="R94cbaf7685514a95"/><Relationship Type="http://schemas.openxmlformats.org/officeDocument/2006/relationships/presProps" Target="/ppt/presProps.xml" Id="Raeffafe8eb194d2b"/><Relationship Type="http://schemas.openxmlformats.org/officeDocument/2006/relationships/tableStyles" Target="/ppt/tableStyles.xml" Id="Raf0599db94d14051"/><Relationship Type="http://schemas.openxmlformats.org/officeDocument/2006/relationships/slide" Target="/ppt/slides/slide1.xml" Id="Rfd636f34d57d4a2f"/><Relationship Type="http://schemas.openxmlformats.org/officeDocument/2006/relationships/slide" Target="/ppt/slides/slide2.xml" Id="Re87838bb4a014b40"/><Relationship Type="http://schemas.openxmlformats.org/officeDocument/2006/relationships/slide" Target="/ppt/slides/slide3.xml" Id="R4926d28fb0ad4e5e"/><Relationship Type="http://schemas.openxmlformats.org/officeDocument/2006/relationships/slide" Target="/ppt/slides/slide4.xml" Id="Rfa93c9bb20dd4690"/><Relationship Type="http://schemas.openxmlformats.org/officeDocument/2006/relationships/slide" Target="/ppt/slides/slide5.xml" Id="R5b668a9e95494e8a"/><Relationship Type="http://schemas.openxmlformats.org/officeDocument/2006/relationships/slide" Target="/ppt/slides/slide6.xml" Id="R83ae19b9df904cfc"/><Relationship Type="http://schemas.openxmlformats.org/officeDocument/2006/relationships/slide" Target="/ppt/slides/slide7.xml" Id="R5105b3e42dbb485e"/><Relationship Type="http://schemas.openxmlformats.org/officeDocument/2006/relationships/slide" Target="/ppt/slides/slide8.xml" Id="Rd7a4ab36f43347d6"/><Relationship Type="http://schemas.openxmlformats.org/officeDocument/2006/relationships/slide" Target="/ppt/slides/slide9.xml" Id="Rec5bfd53c08b4849"/><Relationship Type="http://schemas.openxmlformats.org/officeDocument/2006/relationships/slide" Target="/ppt/slides/slide10.xml" Id="Rfa8b651981d34db2"/><Relationship Type="http://schemas.openxmlformats.org/officeDocument/2006/relationships/slide" Target="/ppt/slides/slide11.xml" Id="R6ed0141d97b84d00"/><Relationship Type="http://schemas.openxmlformats.org/officeDocument/2006/relationships/slide" Target="/ppt/slides/slide12.xml" Id="R466842feb3cf4274"/><Relationship Type="http://schemas.openxmlformats.org/officeDocument/2006/relationships/slide" Target="/ppt/slides/slide13.xml" Id="R4f455c16cd0d406c"/><Relationship Type="http://schemas.openxmlformats.org/officeDocument/2006/relationships/slide" Target="/ppt/slides/slide14.xml" Id="R763e0439eb504ffc"/><Relationship Type="http://schemas.openxmlformats.org/officeDocument/2006/relationships/slide" Target="/ppt/slides/slide15.xml" Id="R85716efe716e4b56"/><Relationship Type="http://schemas.openxmlformats.org/officeDocument/2006/relationships/slide" Target="/ppt/slides/slide16.xml" Id="Ra9d290d575ef4ed7"/><Relationship Type="http://schemas.openxmlformats.org/officeDocument/2006/relationships/slide" Target="/ppt/slides/slide17.xml" Id="R94110648c308460c"/><Relationship Type="http://schemas.openxmlformats.org/officeDocument/2006/relationships/slide" Target="/ppt/slides/slide18.xml" Id="R3dabda4339254841"/><Relationship Type="http://schemas.openxmlformats.org/officeDocument/2006/relationships/slide" Target="/ppt/slides/slide19.xml" Id="R607f0920d9a24292"/><Relationship Type="http://schemas.openxmlformats.org/officeDocument/2006/relationships/slide" Target="/ppt/slides/slide20.xml" Id="R3312ad52a1da4eda"/><Relationship Type="http://schemas.openxmlformats.org/officeDocument/2006/relationships/slide" Target="/ppt/slides/slide21.xml" Id="Rb9e6e0e1f8e0499e"/><Relationship Type="http://schemas.openxmlformats.org/officeDocument/2006/relationships/slide" Target="/ppt/slides/slide22.xml" Id="R6ee9b7dd86f74ecf"/><Relationship Type="http://schemas.openxmlformats.org/officeDocument/2006/relationships/slide" Target="/ppt/slides/slide23.xml" Id="R378b7cc1294e4c09"/><Relationship Type="http://schemas.openxmlformats.org/officeDocument/2006/relationships/slide" Target="/ppt/slides/slide24.xml" Id="Rbd9c2bdf73a84a3d"/><Relationship Type="http://schemas.openxmlformats.org/officeDocument/2006/relationships/slide" Target="/ppt/slides/slide25.xml" Id="R974306a50d65423c"/><Relationship Type="http://schemas.openxmlformats.org/officeDocument/2006/relationships/slide" Target="/ppt/slides/slide26.xml" Id="Raaff02c97e79482f"/><Relationship Type="http://schemas.openxmlformats.org/officeDocument/2006/relationships/slide" Target="/ppt/slides/slide27.xml" Id="R3088a170a3a44509"/><Relationship Type="http://schemas.openxmlformats.org/officeDocument/2006/relationships/slide" Target="/ppt/slides/slide28.xml" Id="Rde0db073b60b4006"/><Relationship Type="http://schemas.openxmlformats.org/officeDocument/2006/relationships/slide" Target="/ppt/slides/slide29.xml" Id="R4e2a15658f544622"/><Relationship Type="http://schemas.openxmlformats.org/officeDocument/2006/relationships/slide" Target="/ppt/slides/slide30.xml" Id="Raa0ae5436a8647ca"/><Relationship Type="http://schemas.openxmlformats.org/officeDocument/2006/relationships/slide" Target="/ppt/slides/slide31.xml" Id="R088fcf8df8a642f6"/><Relationship Type="http://schemas.openxmlformats.org/officeDocument/2006/relationships/slide" Target="/ppt/slides/slide32.xml" Id="R621c654d791f4c76"/><Relationship Type="http://schemas.openxmlformats.org/officeDocument/2006/relationships/slide" Target="/ppt/slides/slide33.xml" Id="Rc28f85370f16495c"/><Relationship Type="http://schemas.openxmlformats.org/officeDocument/2006/relationships/slide" Target="/ppt/slides/slide34.xml" Id="R72828c888bcf4e74"/><Relationship Type="http://schemas.openxmlformats.org/officeDocument/2006/relationships/slide" Target="/ppt/slides/slide35.xml" Id="R2b8cd4b836a040b0"/><Relationship Type="http://schemas.openxmlformats.org/officeDocument/2006/relationships/slide" Target="/ppt/slides/slide36.xml" Id="R4112b30b354e4ba2"/><Relationship Type="http://schemas.openxmlformats.org/officeDocument/2006/relationships/slide" Target="/ppt/slides/slide37.xml" Id="R2a6337017bd944c4"/><Relationship Type="http://schemas.openxmlformats.org/officeDocument/2006/relationships/slide" Target="/ppt/slides/slide38.xml" Id="Rde783f6e56c8432b"/><Relationship Type="http://schemas.openxmlformats.org/officeDocument/2006/relationships/slide" Target="/ppt/slides/slide39.xml" Id="R3b4979c5a7754c9c"/><Relationship Type="http://schemas.openxmlformats.org/officeDocument/2006/relationships/slide" Target="/ppt/slides/slide40.xml" Id="Rb954119eadb74b43"/><Relationship Type="http://schemas.openxmlformats.org/officeDocument/2006/relationships/slide" Target="/ppt/slides/slide41.xml" Id="R1e44988c2b4d4d66"/><Relationship Type="http://schemas.openxmlformats.org/officeDocument/2006/relationships/slide" Target="/ppt/slides/slide42.xml" Id="Raed210a8731b44f8"/><Relationship Type="http://schemas.openxmlformats.org/officeDocument/2006/relationships/slide" Target="/ppt/slides/slide43.xml" Id="R4a19a35d42d64ed6"/><Relationship Type="http://schemas.openxmlformats.org/officeDocument/2006/relationships/slide" Target="/ppt/slides/slide44.xml" Id="R3a4c28d26ed94b40"/><Relationship Type="http://schemas.openxmlformats.org/officeDocument/2006/relationships/slide" Target="/ppt/slides/slide45.xml" Id="Rfd3428e4770147b0"/><Relationship Type="http://schemas.openxmlformats.org/officeDocument/2006/relationships/slide" Target="/ppt/slides/slide46.xml" Id="R9b1b0868655a4fed"/><Relationship Type="http://schemas.openxmlformats.org/officeDocument/2006/relationships/slide" Target="/ppt/slides/slide47.xml" Id="Rb760d7b832bc4f20"/><Relationship Type="http://schemas.openxmlformats.org/officeDocument/2006/relationships/slide" Target="/ppt/slides/slide48.xml" Id="R0e924868a78043b8"/><Relationship Type="http://schemas.openxmlformats.org/officeDocument/2006/relationships/slide" Target="/ppt/slides/slide49.xml" Id="Rff1d46fae0a14513"/><Relationship Type="http://schemas.openxmlformats.org/officeDocument/2006/relationships/slide" Target="/ppt/slides/slide50.xml" Id="R67bd4b7c15574dac"/><Relationship Type="http://schemas.openxmlformats.org/officeDocument/2006/relationships/slide" Target="/ppt/slides/slide51.xml" Id="R6985a8f1d6894e77"/><Relationship Type="http://schemas.openxmlformats.org/officeDocument/2006/relationships/slide" Target="/ppt/slides/slide52.xml" Id="R6bd0569fb23b42bc"/><Relationship Type="http://schemas.openxmlformats.org/officeDocument/2006/relationships/slide" Target="/ppt/slides/slide53.xml" Id="Rb7552eb29cb5480b"/><Relationship Type="http://schemas.openxmlformats.org/officeDocument/2006/relationships/slide" Target="/ppt/slides/slide54.xml" Id="Rdff79bbe5ee44eec"/><Relationship Type="http://schemas.openxmlformats.org/officeDocument/2006/relationships/slide" Target="/ppt/slides/slide55.xml" Id="R9b4137bea6ed46f2"/><Relationship Type="http://schemas.openxmlformats.org/officeDocument/2006/relationships/slide" Target="/ppt/slides/slide56.xml" Id="Rd3b064112e194bb5"/><Relationship Type="http://schemas.openxmlformats.org/officeDocument/2006/relationships/slide" Target="/ppt/slides/slide57.xml" Id="R3aa8b3d92ae643d7"/><Relationship Type="http://schemas.openxmlformats.org/officeDocument/2006/relationships/slide" Target="/ppt/slides/slide58.xml" Id="Rd2eb75488667438a"/><Relationship Type="http://schemas.openxmlformats.org/officeDocument/2006/relationships/slide" Target="/ppt/slides/slide59.xml" Id="R2837b3d36cf64e11"/><Relationship Type="http://schemas.openxmlformats.org/officeDocument/2006/relationships/slide" Target="/ppt/slides/slide60.xml" Id="R508fa914d7e54110"/><Relationship Type="http://schemas.openxmlformats.org/officeDocument/2006/relationships/slide" Target="/ppt/slides/slide61.xml" Id="R0a0952fc13e2423b"/><Relationship Type="http://schemas.openxmlformats.org/officeDocument/2006/relationships/slide" Target="/ppt/slides/slide62.xml" Id="R0288db64ec114237"/><Relationship Type="http://schemas.openxmlformats.org/officeDocument/2006/relationships/slide" Target="/ppt/slides/slide63.xml" Id="R8712460503334969"/><Relationship Type="http://schemas.openxmlformats.org/officeDocument/2006/relationships/slide" Target="/ppt/slides/slide64.xml" Id="Rddcbdd5d66f14631"/><Relationship Type="http://schemas.openxmlformats.org/officeDocument/2006/relationships/slide" Target="/ppt/slides/slide65.xml" Id="R8ea39e0de8004eef"/><Relationship Type="http://schemas.openxmlformats.org/officeDocument/2006/relationships/slide" Target="/ppt/slides/slide66.xml" Id="R7db8a18db00148af"/><Relationship Type="http://schemas.openxmlformats.org/officeDocument/2006/relationships/slide" Target="/ppt/slides/slide67.xml" Id="Rd507db52003a4129"/><Relationship Type="http://schemas.openxmlformats.org/officeDocument/2006/relationships/slide" Target="/ppt/slides/slide68.xml" Id="Re0e418da67cf4073"/><Relationship Type="http://schemas.openxmlformats.org/officeDocument/2006/relationships/slide" Target="/ppt/slides/slide69.xml" Id="R6aa4bde7969148ea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4ea1f850aef4cbf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f8aff03b3fc74a24"/><Relationship Type="http://schemas.openxmlformats.org/officeDocument/2006/relationships/slideLayout" Target="/ppt/slideLayouts/slideLayout1.xml" Id="Rf60118bac3bc488b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0118bac3bc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6e9328d1fb74017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50a671b7e8a414f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936c0302cd347f1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b01d3e33323469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f5f6d3a82b8441f"/><Relationship Type="http://schemas.openxmlformats.org/officeDocument/2006/relationships/hyperlink" Target="https://sec.gov/Archives/edgar/data/1807846/000121390025016783/ea023197301ex99-1_money.htm" TargetMode="External" Id="R0d8bb553ee7e45aa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a61fe0202eb4bf8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5d9d96dec494257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a9e6bb139e34f21"/><Relationship Type="http://schemas.openxmlformats.org/officeDocument/2006/relationships/hyperlink" Target="https://federalreserve.gov/newsevents/pressreleases/other20260513a.htm" TargetMode="External" Id="R32072e850330462e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9c4b1a595524399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814a5a389c947e9"/><Relationship Type="http://schemas.openxmlformats.org/officeDocument/2006/relationships/hyperlink" Target="https://moneylion.com/referrals-terms-and-conditions" TargetMode="External" Id="R462bcb8c31b64aa9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f1ed04bd98d4090"/><Relationship Type="http://schemas.openxmlformats.org/officeDocument/2006/relationships/hyperlink" Target="https://moneylion.com/membership" TargetMode="External" Id="R852023f2cb1040b9"/><Relationship Type="http://schemas.openxmlformats.org/officeDocument/2006/relationships/hyperlink" Target="https://help.chime.com/how-does-my-friends-chime-referral-link-work-5bb2ea50" TargetMode="External" Id="Raabf40c8cee84c08"/><Relationship Type="http://schemas.openxmlformats.org/officeDocument/2006/relationships/hyperlink" Target="https://rakuten.com/help" TargetMode="External" Id="Rc6115c966cd14172"/><Relationship Type="http://schemas.openxmlformats.org/officeDocument/2006/relationships/hyperlink" Target="https://help.ibotta.com" TargetMode="External" Id="R8856cb28ce8548a4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a6cecb939fd468f"/><Relationship Type="http://schemas.openxmlformats.org/officeDocument/2006/relationships/hyperlink" Target="https://aboutamazon.com/news/retail/prime-membership-shopping-benefits" TargetMode="External" Id="R005401bc114744be"/><Relationship Type="http://schemas.openxmlformats.org/officeDocument/2006/relationships/hyperlink" Target="https://spotify.com/us/premium" TargetMode="External" Id="R548a61ccafd6499f"/><Relationship Type="http://schemas.openxmlformats.org/officeDocument/2006/relationships/hyperlink" Target="https://costco.com/f/-/executive-rewards" TargetMode="External" Id="R7d581deedf3d4e70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8e3c84b616344b5"/><Relationship Type="http://schemas.openxmlformats.org/officeDocument/2006/relationships/hyperlink" Target="https://help.dropbox.com/storage-space/earn-space-referring-friends" TargetMode="External" Id="R1dc35f4b9535495c"/><Relationship Type="http://schemas.openxmlformats.org/officeDocument/2006/relationships/hyperlink" Target="https://help.chime.com" TargetMode="External" Id="R61b9b353125640b1"/><Relationship Type="http://schemas.openxmlformats.org/officeDocument/2006/relationships/hyperlink" Target="https://rakuten.com/help/article/referafriend-program-faq-115009160427" TargetMode="External" Id="R476326825cd84691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41052c72c484611"/><Relationship Type="http://schemas.openxmlformats.org/officeDocument/2006/relationships/hyperlink" Target="https://blueland.com/collections/refills" TargetMode="External" Id="R6ace74bf59d64998"/><Relationship Type="http://schemas.openxmlformats.org/officeDocument/2006/relationships/hyperlink" Target="https://dollarshaveclub.com" TargetMode="External" Id="R9814180af54043c4"/><Relationship Type="http://schemas.openxmlformats.org/officeDocument/2006/relationships/hyperlink" Target="https://bombas.com" TargetMode="External" Id="R978b51c25f0a46ad"/><Relationship Type="http://schemas.openxmlformats.org/officeDocument/2006/relationships/hyperlink" Target="https://allbirds.com" TargetMode="External" Id="Rcf68086855804e7c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17f08694ac84b08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3d37209bfed4a7e"/><Relationship Type="http://schemas.openxmlformats.org/officeDocument/2006/relationships/hyperlink" Target="https://moneylion.com/membership" TargetMode="External" Id="R85535d6242914c3a"/><Relationship Type="http://schemas.openxmlformats.org/officeDocument/2006/relationships/hyperlink" Target="https://moneylion.com/referrals-terms-and-conditions" TargetMode="External" Id="R3cbae8d7b9b044f1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ee8c99ef6f241c5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e5eb453802140a3"/><Relationship Type="http://schemas.openxmlformats.org/officeDocument/2006/relationships/hyperlink" Target="https://support.google.com/analytics/answer/10917952" TargetMode="External" Id="Rdca9d8ae2c294f28"/><Relationship Type="http://schemas.openxmlformats.org/officeDocument/2006/relationships/hyperlink" Target="https://docs.stripe.com/webhooks" TargetMode="External" Id="R9555de09900d492b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0df9ba054a749f1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d0f4a9f233d4317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2e2a31cb7224b28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08813264eb543b3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e470d18c42d4f4f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d801a19abc14d35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dcdfe74006448cd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9c4318789124ee5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c5197642c9e4716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3479b27bbd0490a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def3dac32e74014"/><Relationship Type="http://schemas.openxmlformats.org/officeDocument/2006/relationships/hyperlink" Target="https://docs.stripe.com/webhooks" TargetMode="External" Id="R5c8e6ab2ca2541ca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e78c71201284fca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2789349513b4b34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ea6dcf535904345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7d641c7d5fb448c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b51c8cca4dc489b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628bd59c0c642e9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205a46945744a3f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4a8a536852f4fad"/><Relationship Type="http://schemas.openxmlformats.org/officeDocument/2006/relationships/hyperlink" Target="https://ftc.gov/business-guidance/advertising-marketing/endorsements-influencers-reviews" TargetMode="External" Id="R6c42ec8f97ec4303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2519c4d9b584e0e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f6ee7c853754fbb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a2b9acb741c43d8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cb9082392124bed"/><Relationship Type="http://schemas.openxmlformats.org/officeDocument/2006/relationships/hyperlink" Target="https://moneylion.com/referrals-terms-and-conditions" TargetMode="External" Id="R3915815e26954624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ed4d902747c4cdb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e5debc999d04ac7"/><Relationship Type="http://schemas.openxmlformats.org/officeDocument/2006/relationships/hyperlink" Target="https://plaid.com/docs/api/products/transactions" TargetMode="External" Id="Re1b62e99a5154eff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6bf99dc552a4732"/><Relationship Type="http://schemas.openxmlformats.org/officeDocument/2006/relationships/hyperlink" Target="https://plaid.com/docs/api/products/transactions" TargetMode="External" Id="R1ce9a41e9cfc4141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d78c041a6cd4543"/><Relationship Type="http://schemas.openxmlformats.org/officeDocument/2006/relationships/hyperlink" Target="https://plaid.com/docs/api/products/liabilities" TargetMode="External" Id="R8865b50ecda44d2e"/><Relationship Type="http://schemas.openxmlformats.org/officeDocument/2006/relationships/hyperlink" Target="https://consumerfinance.gov/rules-policy/regulations/1002/9" TargetMode="External" Id="R4796d9413b4c4e3f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42a2289c6f24df4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c880b390642429f"/><Relationship Type="http://schemas.openxmlformats.org/officeDocument/2006/relationships/hyperlink" Target="https://docs.stripe.com/webhooks" TargetMode="External" Id="R4cd7403fb11742b4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2388866f57b4699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282f71cf6cd444e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55ac44c6cf44e43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b82e8f9fd574814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7c292ad37c647f3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0c0cb809cf84d91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d63e4887f6e4257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6a19040c2414055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34e62084fdc4b53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e70e0c152234d95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761938d58be4b77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39a9673b9f44c53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8ab724360104251"/></Relationships>
</file>

<file path=ppt/slides/_rels/slide6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77acf5b3d7b492f"/></Relationships>
</file>

<file path=ppt/slides/_rels/slide6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f40eb61206f4dea"/></Relationships>
</file>

<file path=ppt/slides/_rels/slide6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feaf4c09feb4dfd"/></Relationships>
</file>

<file path=ppt/slides/_rels/slide6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31579f7b3b34ea9"/></Relationships>
</file>

<file path=ppt/slides/_rels/slide6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13c96f4bbeb4674"/></Relationships>
</file>

<file path=ppt/slides/_rels/slide6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d324d91c0474f85"/></Relationships>
</file>

<file path=ppt/slides/_rels/slide6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c6974e3c3dc452a"/><Relationship Type="http://schemas.openxmlformats.org/officeDocument/2006/relationships/chart" Target="/ppt/slides/charts/chart1.xml" Id="R81ed7f77064a4647"/></Relationships>
</file>

<file path=ppt/slides/_rels/slide6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a217ae450054f44"/></Relationships>
</file>

<file path=ppt/slides/_rels/slide6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fe80512e0d74e82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Launch cohort</c:v>
          </c:tx>
          <c:spPr>
            <a:ln xmlns:a="http://schemas.openxmlformats.org/drawingml/2006/main" w="38100">
              <a:solidFill>
                <a:srgbClr val="83939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83939B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Paid start</c:v>
                </c:pt>
                <c:pt idx="1">
                  <c:v>D30</c:v>
                </c:pt>
                <c:pt idx="2">
                  <c:v>D60</c:v>
                </c:pt>
                <c:pt idx="3">
                  <c:v>D90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1</c:v>
                </c:pt>
                <c:pt idx="1">
                  <c:v>0.65</c:v>
                </c:pt>
                <c:pt idx="2">
                  <c:v>0.48</c:v>
                </c:pt>
                <c:pt idx="3">
                  <c:v>0.4</c:v>
                </c:pt>
              </c:numCache>
            </c:numRef>
          </c:val>
        </c:ser>
        <c:ser>
          <c:idx val="1"/>
          <c:order val="1"/>
          <c:tx>
            <c:v>Later cohort</c:v>
          </c:tx>
          <c:spPr>
            <a:ln xmlns:a="http://schemas.openxmlformats.org/drawingml/2006/main" w="38100">
              <a:solidFill>
                <a:srgbClr val="007B64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07B64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Paid start</c:v>
                </c:pt>
                <c:pt idx="1">
                  <c:v>D30</c:v>
                </c:pt>
                <c:pt idx="2">
                  <c:v>D60</c:v>
                </c:pt>
                <c:pt idx="3">
                  <c:v>D90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1</c:v>
                </c:pt>
                <c:pt idx="1">
                  <c:v>0.82</c:v>
                </c:pt>
                <c:pt idx="2">
                  <c:v>0.74</c:v>
                </c:pt>
                <c:pt idx="3">
                  <c:v>0.7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4DE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AFC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32B36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AFC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6BE38-3CFB-46EE-9DED-3B8762BB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500BE-E76C-4A4E-B6FC-332F1FB4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01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92C3D-270B-4A9A-BAC3-9C51EECD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WOW membership worth renewing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5D8B7-CA29-4B5D-91D1-3B1237A3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Senior Principal Product Manager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74D91-3D2B-482F-B142-15BC0AB9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DD97E-4C85-4AE2-90C5-B37564C4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381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More money kept.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Value members can verify.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C5887-9F44-4B37-A4E0-3D00E756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BET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1617-3158-453E-97C0-968340B2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Merchant-funded cashback on purchases members already planned.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7436B-29C3-4193-8D2D-E6B683A9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24500"/>
            <a:ext cx="661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BET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C6271-E62F-47F6-B855-5227F37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57900"/>
            <a:ext cx="661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cash-flow companion that makes savings relevant and shows the value received.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13309-3F93-4EAE-B814-CBC4B8B0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285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Priyam Sameer,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8198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9118A-2212-4278-BF18-A6D55B8F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A1482-B187-4EA4-8D25-0F39504C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02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0A317-2229-4EDD-8EBB-DD1133EF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executive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22B64-A0F9-489C-849F-4E483FEB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fund a staged test of recurring member value at the case price of $9.99/month.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B83A0-D89D-4B52-A39A-63407BA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 proposition fails if rewards need extra spending, recurring subsidies, or cancellation friction to retain members.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C24F0-0B87-4832-8846-BABDC8F6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986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62625"/>
                <a:gridCol w="5591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Reasoning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required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priority bets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Selected cashback creates measurable value. A companion improves relevance and exposes weak value before renewal.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retention and member net value improve versus current WOW.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selective first audience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members with planned purchases and usable offers reduce the need to buy traffic before proving fulfillment.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category coverage, payout reliability and voluntary renewal.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Economics as a release gate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base model yields $7.15 monthly contribution, yet only $0.09 member advantage over a free 3% alternative.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Better incremental member value without subsidizing every order.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Staged funding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release $160k first, with a six-month envelope of $980k subject to gates.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Finance, Partnerships, Risk and Engineering sign off before each expansion.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48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2A77B-D841-4B70-B0ED-1B22DF7E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8D391-4453-4183-A80F-5CDDA102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03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A9E93-5AFC-430A-9840-9BEAA229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assignment and the reading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7CC04-5B07-473E-A6AF-C654442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Each section resolves a decision. The core proposal remains a membership strategy, with referrals as a growth mechanism.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0018C-9716-403D-8516-71CF0878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Suggested discussion checkpoints: slides 7, 24, 34, 57 and 69. Supporting reasoning is visible throughout.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14867-5CD1-4E8D-992E-6C8CE1A6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476750"/>
                <a:gridCol w="7924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Slides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 answered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1-15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Executive case and market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should WOW exist, who competes for this need, and why could we win?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16-34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Audit, strategy and controls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five perks matter, why these two bets, and what would prove them wrong?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35-47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Personas, journeys and data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 receives value, how does the experience work, and what must the platform deliver?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48-62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Economics and application design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 funds rewards, when do both sides break even, and what does the member see?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63-69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GTM and leadership decisions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do we validate and launch, then interpret 5,000 signups and volatile acquisition?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325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6F334-825D-4C40-8610-1FC128C3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0EB3D-7C06-45B4-998F-CC5B2958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04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34B8C-7F25-474E-ADC8-9E74F4F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problem is a possible gap in recurring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EA2C9-923B-4B86-A985-E1FA65F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Hypothesis: a member may receive useful one-time benefits without finding enough value in the next billing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CB9B2-DEEC-447F-A6E9-57A231C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Mission test: does this help Americans make a better money decision in their own financial situation?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6AA48-AFBD-494C-BF71-F57059A2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 These leaks are hypotheses, not observed MoneyLion results.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286375"/>
                <a:gridCol w="55911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structural leak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consequence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consequence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Episodic demand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original need ends, while the monthly charge continues.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cost must be recovered over fewer paid months.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Unclear or delayed rewards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promised benefit feels uncertain until eligibility and payout are visible.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More support contacts, weaker trust and avoidable voluntary churn.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Irrelevant offer supply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large catalog can still miss what a specific household planned to buy.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 redemption reduces both affiliate income and renewal justification.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Growth without contribution discipline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promotion makes joining attractive even when ongoing use is poor.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Signups rise while subsidy costs and replacement acquisition consume margin.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343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AE216-8C6F-4785-A028-F67E6748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E8348-68C4-40E1-91C8-EBEDF782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05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E65DF-1515-4C06-8454-AF991B5C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MoneyLion already has several revenue engines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02EF7-0EE7-4B7A-8F7E-FDBD32A3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FY2024 revenue was approximately $546m, up 29% year over year. This case does not assume a distressed business.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0C751-50C5-49BE-9CCC-C78BC1B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Internal data needed: WOW revenue, benefits cost, retained contribution and cannibalization by cohort. Public revenue cannot answer these.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C4B2E-A0E2-447C-994B-9AE9432F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MoneyLion FY2024 results, 25 Feb 2025.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d8bb553ee7e45aa"/>
              </a:rPr>
              <a:t>sec.gov/Archives/edgar/data/1807846/000121390025016783/ea023197301ex99-1_money.htm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Product monetization categories are analytical framing.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286375"/>
                <a:gridCol w="6019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engine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can create revenue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the WOW decision must account for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access fees fund benefits and service delivery.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collection after refunds and processing, plus retention at a constant price.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Marketplace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 pay for qualifying financial-product outcomes.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Eligibility, partner demand, acquisition costs and displaced existing commissions.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 movement and accounts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product fees and contracted card economics can support the ecosystem.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 net revenue after partner shares, losses and servicing. No assumed interchange windfall.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Enterprise distribution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B2B capabilities can distribute offers beyond the consumer app.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Different economics and customers. Do not attribute enterprise revenue to WOW.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612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8A4F6-C52D-4F74-B9A2-576DAD3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6729E-8AA8-4C78-9B6F-8A725F45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06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6E191-A565-4A6C-9C1B-116A519F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subscription needs an economic reason to exist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7BE18-D4A2-430C-9B33-484D721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the proposed service costs $3.90 per member/month before displaced legacy contribution.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EB2C5-33D3-48E0-9797-12EFAD9C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Subscription is conditional on superior recurring value. A cheaper free experience remains a valid alternative if this condition fails.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E533E-95CC-4F09-8CFA-3744DF8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715000"/>
                <a:gridCol w="535305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counterfactual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Free, same service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 orders × $3.50 order contribution − $3.90 service cost = −$0.75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assumed offer margin alone does not fund the full service.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at $9.99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collected fee $9.40 − $0.75 = $8.65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fees fund service availability between purchases.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displaced legacy margin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$8.65 − $1.50 = $7.15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This is an economic contribution measure before fixed costs and CAC.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counterfactual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$11.70 cashback − $9.99 fee = $1.71 cash value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Against a free 3% reward alternative, the assumed advantage falls to $0.09.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514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CE46F-E38D-4B4A-817C-9AED3C30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760F8-30C6-4D7E-889F-3FA7B9F4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07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C74E8-9200-49AC-979B-F0FB31F4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Evidence, judgment and execution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33339-D869-4CC5-9D4A-EC53CB2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Separate verified mechanics from product hypotheses, then use the smallest test that can change the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0A887-7B1C-4BFF-B03A-3E4ABB2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Discussion: do we agree to earn retention through verified value, then expand only when the economics and user evidence support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DE814-579A-4CCF-96C5-A2A62621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Basis: all five supplied strategy and presentation resources. Recommendations below distinguish proposals from verified facts. Source: Priyam Sameer, candidate CV, September 2026, pp. 1-2. Candidate-reported experience.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986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81625"/>
                <a:gridCol w="54959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or experience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we can use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remains unproven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Public product mechanics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pricing, published benefits, referral eligibility and reward timing establish the starting context.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Public pages do not reveal cohort retention, internal margins or the causes of cancellation.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 product hypotheses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Partner-funded rewards and clear value tracking may make the monthly fee easier to justify.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eligible supply, incremental merchant demand and sustained member value require paid tests.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automation proposals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Proactive reminders and explainable comparisons can support better financial decisions.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guaranteed score lift, zero-risk lending or automatic payment authority. Validate data and consent first.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My operating experience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API and webhook contracts, lender rules, AI-assisted review, payment reconciliation and rapid prototyping.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Apply these skills with US partners and counsel. Prior experience does not establish US product-market fit.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685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F5B7C-83CF-4399-A796-13F106A4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FF007-40A5-4290-84AC-2EB73802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08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5A458-B5B5-4CA3-8FDC-B3FB8E1B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 household resilience is mixed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1E466-7FC7-41A6-9725-C14C45A1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2025 Federal Reserve SHED survey provides context, not a profile of MoneyLion members.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AD11C-842D-4094-BDC8-38A96FB7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Macro conditions support testing useful savings. They do not prove that a paid cashback membership is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0D96C-0ED0-4D78-BA87-5DEF69B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Federal Reserve, 2025 SHED, published 13 May 2026.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2072e850330462e"/>
              </a:rPr>
              <a:t>federalreserve.gov/newsevents/pressreleases/other20260513a.htm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9A346-B93B-485C-BB4D-E7F2D806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63%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040A3-1748-4F1A-9728-26FD8DA1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61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Would cover a $400 emergency with cash or its equivalent.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0BCE6-44A5-4AFF-BA9E-B11BBD3C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73%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7006C-0130-4396-8343-A71DB626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61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Reported doing okay or living comfortably financially.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33095-1BA2-45CB-922E-1B2F192A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Product implication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4A42D-6203-4EF0-9BFF-B491D3E8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33725"/>
            <a:ext cx="7429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recurring $9.99 charge must justify itself. A large reward that requires an unnecessary purchase can worsen the household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A3435-A069-47BF-8FE7-39E408F8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624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Commercial implication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B22CE-A528-44B1-B8CC-0A0E261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72000"/>
            <a:ext cx="7429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Assumption: merchants under acquisition pressure may welcome qualified demand, but weaker household purchasing power can also reduce conversion and partner budgets.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A5986-85E4-4397-ABD0-1FF88F57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600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Validation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AB4B2-F9D4-4A22-B40A-7F3B9A62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010275"/>
            <a:ext cx="7429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Recruit across income stability and spending needs. Do not infer MoneyLion defaults or a target market size from national survey averages.</a:t>
            </a:r>
          </a:p>
        </p:txBody>
      </p:sp>
    </p:spTree>
    <p:extLst>
      <p:ext uri="{BB962C8B-B14F-4D97-AF65-F5344CB8AC3E}">
        <p14:creationId xmlns:p14="http://schemas.microsoft.com/office/powerpoint/2010/main" val="5928707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12BAA-3B81-4773-B83F-A0B8ED67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6FD1-E6B7-4902-AEC0-20355DFA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09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528A0-6559-4431-9EEA-805B0947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Three economic decisions must work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3F97A-1679-4764-83F7-F76E121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each participant evaluates value against an available alternative, not against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A231D-E98F-4523-ACA3-D8096CC8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 strongest offer is the one all three parties can sustain after the launch promotion ends.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0E1F1-B7A4-4C1E-B352-BF119A7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715000"/>
                <a:gridCol w="58769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Participant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equation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response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benefits − membership fee − extra spending − extra effort &gt; 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comparable prices, reward conditions and the next charge. Reward planned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customer contribution − bounty − integration and service cost &gt; 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incremental orders and repeat contribution against a holdout.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Collected fees + partner contribution − service costs − lost legacy margin − CAC &gt; 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 cohort cash recovery and fixed-cost coverage as well as order margin.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 equilibrium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Higher headline rewards can attract more shoppers but exhaust merchant budgets.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Negotiate repeat offers and caps. Avoid promising acquisition bounties indefinitely.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8540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FA96E-06DE-4178-867E-33A36704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B207B-DF64-4C19-84A0-61073C92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10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A908A-80BD-4C72-AD78-8390A77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current referral program rewards banking activation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D9BE-A236-45C3-AD2B-912A7718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Published terms describe a targeted invitation program. It is separate from the proposed WOW referral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8B8C0-785F-4246-81E5-4BDCEF31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WOW referral test needs its own approved eligibility, stacking rules, funding and measurement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A6F05-0B7C-4293-9A3A-ED475880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MoneyLion Referral Program,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62bcb8c31b64aa9"/>
              </a:rPr>
              <a:t>moneylion.com/referrals-terms-and-conditions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967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191250"/>
                <a:gridCol w="5353050"/>
              </a:tblGrid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Published mechanic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Verified requirement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Implication for the redesign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 reward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 for each participant after the new user registers with a valid code and opens MoneyLion Spend.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Retain clear shared value, but measure downstream paid WOW retention separately.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Further reward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$50 each after payroll switch and two eligible deposits of at least $100 within 60 days.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Qualification can span pay cycles. Show completed and remaining steps.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timing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rewards generally arrive within 14 days after qualifying actions, subject to terms and delays.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qualification time from processing time in the dashboard.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Attribution and audience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Code entry is required. Existing or former users are excluded. Personal, non-commercial relationships apply.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not silently reuse these terms for influencers, public leaderboards or a new paid-membership incentive.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57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24D00-8B00-4EA0-B553-3F1395A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BD451-7092-4DDF-9768-78230555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11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1452B-FED1-46F0-A519-B8D98142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Free alternatives set a high bar for paid cashback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76643-5865-4F65-8EB6-6248467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Comparison of public mechanics. No internal conversion, margin or retention benchmark is available.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30FC5-4EAB-4E3F-AD74-BFC084A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Positioning hypothesis: WOW can win through relevant, repeatable savings plus financial context. More offers alone are insufficient.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866E0-CC30-4239-8BC4-E6B7E7B4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52023f2cb1040b9"/>
              </a:rPr>
              <a:t>moneylion.com/membership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abf40c8cee84c08"/>
              </a:rPr>
              <a:t>help.chime.com/how-does-my-friends-chime-referral-link-work-5bb2ea50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6115c966cd14172"/>
              </a:rPr>
              <a:t>rakuten.com/help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856cb28ce8548a4"/>
              </a:rPr>
              <a:t>help.ibotta.com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62375"/>
                <a:gridCol w="4667250"/>
                <a:gridCol w="3638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member value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or payout mechanic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Lesson for WOW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WOW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Financial membership with selected rewards and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bank referral terms are separate from WOW.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incremental paid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Chime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Banking relationship and eligible financial features.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requires qualifying deposit and card activation under applicable terms.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useful activation.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Rakuten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Shopping cashback through participating merchants.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Qualifying purchase and confirmation underpin rewards. Standard payments are quarterly.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Attribution and expectations matter.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Ibotta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on eligible shopping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Withdrawal generally requires at least $20 plus other conditions.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Thresholds and fulfillment shape trust.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360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EC192-CF6F-4C50-9127-81483618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1A533-946F-41DC-BF8F-851DFBA6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12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2B7DB-9A36-45B5-9C13-62550EA7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memberships make the core benefit repeatable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13312-04E9-4483-83C4-1C3FC9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useful analogy is the frequency and reliability of value, not the breadth of the bundle.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8067B-082E-4FD7-BA78-C0D7B450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valuable weekly or monthly money decision can matter more than daily app opens.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904C5-4698-4610-BBD4-4B708F7F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05401bc114744be"/>
              </a:rPr>
              <a:t>aboutamazon.com/news/retail/prime-membership-shopping-benefits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48a61ccafd6499f"/>
              </a:rPr>
              <a:t>spotify.com/us/premium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d581deedf3d4e70"/>
              </a:rPr>
              <a:t>costco.com/f/-/executive-rewards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191000"/>
                <a:gridCol w="4476750"/>
                <a:gridCol w="31623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Observable membership mechanic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Adaptation for WOW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Limit of analogy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Amazon Prime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Fast, free delivery on eligible purchases and additional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Reduce a recurring friction in an existing behavior. Make terms visible before purchase.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does not control merchant logistics.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Spotify Premium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Ad-free music and offline listening support repeated use.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 the main experience consistently useful between occasional large rewards.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should not maximize daily consumption.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Costco Executive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Annual 2% reward on qualified purchases, with exclusions and a cap.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eligible value and a clear calculation. Evaluate spending needed to cover the fee.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Basket size and shopping frequency differ.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8790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2EE0E-B86E-494E-B5E0-96A5C973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9B35F-58AF-45B5-B3BB-9EF450D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13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8CBA2-0792-4E9D-B058-0D717FC1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Referral rewards work best when they reinforce product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530BF-E29E-432F-8288-04FB3A0B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These public examples illustrate design choices. They do not establish a causal growth forecast for WOW.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46434-C720-473F-85FB-2D86B60F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Immediate feedback is broadly feasible. Immediate withdrawable money needs a separately funded and controlled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1CBE5-D66C-45B9-8F3A-4C282ECF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dc35f4b9535495c"/>
              </a:rPr>
              <a:t>help.dropbox.com/storage-space/earn-space-referring-friends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1b9b353125640b1"/>
              </a:rPr>
              <a:t>help.chime.com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76326825cd84691"/>
              </a:rPr>
              <a:t>rakuten.com/help/article/referafriend-program-faq-115009160427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619750"/>
                <a:gridCol w="6067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Mechanic worth learning from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adaptation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Dropbox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storage rewards give value inside the product to the inviter and friend.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a benefit the intended member can use, with an understandable qualifying action.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Chime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qualification connects referral acquisition to actual banking activation.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 for verified, incremental membership activation rather than an app install.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Rakuten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status distinguishes invitation, qualification and paid reward.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Expose progress and exceptions so a delay does not look like a broken promise.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WOW test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$10 to each side after first paid cycle and a confirmed eligible purchase, with refund checks.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Instant progress feedback. Cash follows validation. Cap rewards and measure referral CAC after organic cannibalization.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9315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2994E-E3A4-4AD0-B4B4-32E57AEC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9B0BC-A5DC-4161-B198-E4901B80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14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54BAD-33E8-4593-811E-209BED8A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D2C shortlist must balance acquisition and repeat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C1B8E-972B-4B38-9E71-B4CA947F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Examples for commercial discovery only. No partnership, commission rate or offer availability is assumed.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12D75-67CD-4CD7-B5E1-B82D100E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recruit 8-12 pilot merchants across at least three relevant categories before expanding the audience.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DF462-9B61-4408-85E7-5ED226D1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Brand category 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ace74bf59d64998"/>
              </a:rPr>
              <a:t>blueland.com/collections/refills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814180af54043c4"/>
              </a:rPr>
              <a:t>dollarshaveclub.com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78b51c25f0a46ad"/>
              </a:rPr>
              <a:t>bombas.com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f68086855804e7c"/>
              </a:rPr>
              <a:t>allbirds.com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 Commercial assessment is proposed.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4333875"/>
                <a:gridCol w="4876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Example brand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role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 before contracting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Blueland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Household cleaning refills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replenishment category could support repeat utility.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repeat purchases fund an incremental reward after discounts and shipping?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Dollar Shave Club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Grooming and shaving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need with a possible first-order offer.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the offer create a new subscription obligation the member does not want?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Bombas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Socks and basics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planned replenishment or occasional basket.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contribution support a bounty without an inflated minimum order?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Allbirds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Footwear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Occasional purchase with visible reward potential.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do returns and low purchase frequency affect earned value?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378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9FAEE-FE21-47D2-842B-2B28296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55C71-CA2B-4817-944E-B236896A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15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36A57-1DE5-4A47-B236-D425B030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defensible advantage would be reliable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B7CA8-0B39-469D-B603-F9515B2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Hypothesis: relevance, partner access and trusted fulfillment together can outperform a generic cashback catalog.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EF2DF-9568-4EAA-8EE8-EB6ABA9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bigger user count is not automatically a network effect. Merchant participation must improve usable value per member.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F665A-97F2-4713-B419-D656E9E7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762625"/>
                <a:gridCol w="549592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advantage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it could develop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would disprove it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Better relevance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Consented goals and cash-flow context help identify an existing need.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Manual preferences perform equally well at lower cost.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Better repeat supply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Partnerships negotiates recurring offers and monitors merchant incrementality.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Most value comes from one-time acquisition bounties.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Better trust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Accurate status, predictable payout and honest negative-value statements earn renewal.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Complaints or cancellation friction drive apparent retention.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distribution cost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eligible audiences reduce initial acquisition spend.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Owned-channel conversions mostly cannibalize users who would already subscribe.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0414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2772E-4EE4-4680-9F3C-DF87E6B0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9461A-FA7F-44DD-844E-A6EEFC5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16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5DC4E-F4FF-48FC-A9C6-361C066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audit separates visible terms from unknown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C0369-24FA-4734-8505-CFD73D82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Public pages establish mechanics. Product analytics and customer research must establish the size of each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62675-1754-4A84-A1B6-DF1D8230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prioritize fixes after a two-week baseline review. Avoid labeling hypotheses as confirmed MoneyLion defects.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91804-3CAF-46DF-8F01-8D68D36D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MoneyLion WOW membership,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5535d6242914c3a"/>
              </a:rPr>
              <a:t>moneylion.com/membership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 Offer terms vary. Source: MoneyLion Referral Program,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cbae8d7b9b044f1"/>
              </a:rPr>
              <a:t>moneylion.com/referrals-terms-and-conditions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86250"/>
                <a:gridCol w="4238625"/>
                <a:gridCol w="33051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issue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status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Immediate fix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delay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cash timing appears in published terms. Actual delay distribution is unknown.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qualification date, expected payment and delay reason.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P50/P90 time and delay contacts.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Weak value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existence is public. Member-level value is unknown.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settled value less fees each cycle.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 with negative net value.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drop-off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actions and code dependency are public. Conversion is unknown.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Preserve attribution and display remaining steps.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Eligible-step completion by device.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Irrelevant supply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internal coverage audit supplied.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Collect planned categories and hide ineligible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offer coverage by segment.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4070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BAFC4-D02E-472C-BC4E-AEC246E7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64398-52F6-4DC2-B9A5-72F10309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17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D2D51-D180-432B-9545-6336FA6C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funnel shows where volume can disappear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71029-5986-44BC-9845-B4A5A43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diagnostic example for one acquisition cohort. These are not observed MoneyLion conversion rates.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CAADB-92AF-469A-A4C7-86FFFEB4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Track D90 paid retention from the original 400, even for non-redeemers. Do not condition retention reporting on successful activation.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0E922-0DF6-4D12-8EE4-8C3EEC5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1428750"/>
                <a:gridCol w="2809875"/>
                <a:gridCol w="535305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Users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Rate from prior step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if weak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users reached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 denominator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channel quality and offer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proposition viewed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 placement or explain the benefit.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Checkout started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relevance, price and terms comprehension.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payment succeeded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Diagnose payment failure separately from rejection.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reward settled by D30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Investigate purchase intent, tracking and confirmation lag.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07965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D5657-B403-44AB-AA73-691108DC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68E43-FB10-4BE5-9698-E419FAE6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18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86F3D-1326-48F2-BFD3-6909970F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Attribution failures need recoverable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5F987-20F8-4DC0-BD2D-2E70FF3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 UTM tag identifies campaign traffic. It cannot prove a purchase qualifies for a reward.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A854B-68C1-40BF-AE98-CBF0C1BE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launch only with an auditable purchase-confirmation route. UTM-only integrations are insufficient for financial entitlements.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08543-DF45-4DB3-B0EE-FEF82281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Google Analytics URL builders,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ca9d8ae2c294f28"/>
              </a:rPr>
              <a:t>support.google.com/analytics/answer/10917952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555de09900d492b"/>
              </a:rPr>
              <a:t>docs.stripe.com/webhooks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controls.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5572125"/>
                <a:gridCol w="5543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Failure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Prevention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Recovery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 install loses context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Create a signed referral token and persist permitted attribution through onboarding.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Let the user verify the inviter before account creation finishes.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Cross-device merchant checkout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merchant-supported account or order matching where consent and contracts allow it.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an order-ID claim with secure proof and a published response target.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Coupons overwrite attribution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Display allowed coupon rules before click-out. Preserve the offer version.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Reconcile disputed orders with the network and merchant.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Duplicate or late events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Deduplicate merchant/order/event IDs. Support out-of-order status changes.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Replay a durable event queue and reconcile against partner statements.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7711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6DDB1-0F03-426A-ADDD-B452C52D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ED999-47DB-4002-914A-C9074FA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19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4FCD8-52E5-4B8B-8A3F-0D5ECD54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Instant rewards require precise language and funding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74D7E-8064-4A9F-8506-D11B8099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experience should acknowledge progress immediately while stating when money becomes available.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344A0-BC23-41BE-AF9A-2AD0B05F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test early availability only for low-risk orders with a funded reserve. No universal instant-payout promise.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AAC03-D07E-417C-B4FB-8F42E82E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810250"/>
                <a:gridCol w="5924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the member sees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permits the next state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purchase was reported. Estimated cashback: $13.”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partner event with order and offer IDs.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Pending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reward awaits merchant confirmation. Expected review: 15 Oct.”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Eligibility, fulfillment and return checks. Dates follow actual partner terms.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Available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“$13 is ready to withdraw.”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liability with funded payout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or reversed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“Paid to your selected destination” or a specific reversal explanation.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Reconciled payout event, or a documented return/fraud adjustment.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6266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5A61A-AB92-4BAB-9DD0-1CB81DDC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AD2ED-B756-4801-9132-FBB2BDC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20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E47F4-B5E3-47F2-A8A8-0511BF56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Two purchases do not automatically cover the membership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6267B-2067-468A-9D8C-01EECBA1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both members pay $9.99 in each of three months. Only settled, attributable benefits enter the statement.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A32BE-A0BA-4106-B98D-CDE43023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Referral bonuses and launch subsidies appear separately. They must not hide whether the core recurring proposition works.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5BFD1-BEB6-4F23-BF97-59E01701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4533900"/>
                <a:gridCol w="45339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90-day value statement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A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B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Settled purchase rewards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 + $20 = $40.00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 + $8 = $16.00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Verified fees avoided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fees paid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($29.97)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($29.97)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cash value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$10.03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−$13.97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Renewal implication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Positive cumulative value still needs a next-cycle reason to stay.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redemptions have not justified the fee. Show that clearly.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846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29522-F82C-4936-AB3A-0B8A0AB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7D470-2213-4E60-A7D0-9F769DE5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21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DE5FE-EC85-4FFD-A214-1ED90BFE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first month produces a baseline and a fix 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C9516-3674-4B1C-9DD4-0DCCD613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use existing data and services where available. Access and event quality determine the schedule.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8D6D5-CA99-4DA9-A99A-4D12A1D7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Deliverable: a cohort baseline, ranked problem list, approved pilot contract template and a tested reconciliation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22734-AC71-49CD-A473-19088755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5810250"/>
                <a:gridCol w="54006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to assemble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+ Data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cohorts by tenure, channel, billing plan and cancellation reason.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Locate the biggest value gap without assuming all churn has one cause.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collection, reward liabilities, partner receipts, support costs and legacy contribution.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Agree the accounting bridge and the experiment contribution definition.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Partnerships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inventory, exclusions, repeat funding, payout terms and concentration.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Identify segments with enough contracted supply to enter a pilot.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 + Operations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 loss, payment errors, claim queues and consent records.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 financial correctness before widening traffic.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Research + Risk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Interview retained members, cancellers and eligible non-buyers. Review complaints.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Agree offer language, exclusions and pause conditions.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2344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0216D-2CC5-4D20-A7C5-078E61D2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83664-57FA-4AE2-A6EF-251424A9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22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D9929-0496-4F08-926F-CA01ACB0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Five potential perks, with two clear priorities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5A9F8-CE96-4DCC-88E4-E7CC7886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keep the bundle focused. The value statement is shared infrastructure, not a sixth perk.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CF6B4-1338-4273-93D9-44379C03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 initial product must work for a member who never refers anyone and never takes a loan.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C0D3A-210E-4341-AFF4-1FC88A9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 All five entries are proposals.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333750"/>
                <a:gridCol w="4619625"/>
                <a:gridCol w="2638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job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or delivery constraint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 Planned-purchase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the cost of an intended purchase.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Needs funded, relevant and repeatable merchant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 Cash-flow companion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 useful savings and understand actual membership value.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cost, consent, freshness and recommendation quality.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 Targeted fee relief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Reduce a fee the member would otherwise pay.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Foregone revenue and adverse selection can erase margin.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a capped add-on later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 Guided credit help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Understand a credit issue and the next action.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access, evidence quality and regulated execution.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Defer automated actions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 Referral savings circle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 a useful offer and track earned referral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CAC, spam and multi-account abuse.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Small controlled growth test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6753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40C9C-F291-4DE2-AF03-27D496A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2CE9E-E0E7-40DA-8556-847E93CA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23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40B59-1C02-4E1B-BBB7-0FE818B5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Priority reflects value, economics and feasibility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EFC47-62F5-46C2-8DA8-6B3C0351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directional scores from 1 to 5, with 5 best. Weights are proposed decision preferences, not research findings.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481A0-A7B0-4E08-83C1-36B9D2F9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Sensitivity: cashback falls to 3.20 if repeat value scores 3 and economics scores 2. Weak merchant evidence can change the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8C75A-165D-4E3E-898D-672F848D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1905000"/>
                <a:gridCol w="1905000"/>
                <a:gridCol w="2000250"/>
                <a:gridCol w="1924050"/>
                <a:gridCol w="1905000"/>
              </a:tblGrid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value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35%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Economics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30%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Feasibility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Strategic fit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 score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Planned-purchase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companion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3.85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Targeted fee relief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Guided credit help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2.95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savings circle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2.85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1167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0608C-8063-4225-BF2E-4A125476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1CF5F-7F79-43F5-9B56-5743201B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24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A7063-9717-4874-A67B-5967E93C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two bets address different causes of weak renewal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374A0-7BFC-4AEF-B7D9-45F82A4F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Hypothesis: cashback creates value, while the companion makes that value easier to find and judge.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C735E-45C3-43BB-A3D3-AFDDAE15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Discussion: test each bet separately and together. If the companion adds cost without incremental benefit, keep the simpler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C8402-D9E6-404F-AC63-C56E78D2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629275"/>
                <a:gridCol w="56292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Design choice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 1: selected cashback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 2: cash-flow companion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outcome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Receive a confirmed reward on a planned purchase.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 a relevant opportunity and know whether WOW is worth renewing.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release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Curated catalog, eligibility, tracked order, reward ledger and claims.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Manual goals, next-bill visibility and a settled-value statement.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 release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offers, faster funded payouts and merchant budget automation.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Optional bank link, explainable relevance rules and useful reminders.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Causal hypothesis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increases paid retention and member net value.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Companion improves those outcomes beyond cashback alone, after its costs.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Big uncertainty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acquisition bounties become recurring supply?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users value the help enough to justify extra data and service cost?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7172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CE1BF-0E0D-458F-8704-EE5FB481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D1A42-FB36-4C18-B8D6-7E7FA636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25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08AB0-E89C-4B88-B520-D924F8CE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high cashback offer has a specific funding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69674-1B1A-4A28-8E1A-8F5B69ED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one illustrative $60 eligible order earns a $30 merchant bounty. This is not a negotiated MoneyLion offer.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E6061-A73C-4256-8EDF-56445DC9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50% reward on this order would pay $30 and leave a $2 loss. It requires at least a $35 bounty to preserve a $3 contribution.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87CFF-963D-4D6C-A6F4-81E9176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900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2000250"/>
                <a:gridCol w="76866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exists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pays the merchant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merchant remains responsible for checkout, goods, shipping and returns.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pays MoneyLion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Only after the contracted acquisition action qualifies and survives validation.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$25.00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41.7% of the eligible order value. Excludes taxes, shipping or other excluded amounts.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Tracking, support and payout cost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 cost attributable to this transaction.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Expected unrecovered loss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Reserve assumption for approved transactions. Normal returns reverse both bounty and reward.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contribution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$30.00 − $25.00 − $1.50 − $0.50, before membership costs.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1918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6B25B-5079-40F2-9223-2CF8FBE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784B3-4414-4077-97C4-25B80C72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26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609D3-0DB2-4265-94FD-540E38B4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Cashback must outperform simpler alternatives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D2596-E8D8-4E7A-8890-1B9DF899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compare options against the same member need and full economic cost, including free alternatives.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94BAA-D3BB-45F4-9C09-DCF2CFDB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Fallback: offer direct discounts or free discovery when delayed cashback and paid access do not create enough additional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6C672-95B7-4A01-89F4-3924E221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619750"/>
                <a:gridCol w="5686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could be better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is not the initial core bet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coupon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Instant price reduction avoids payout waiting and working capital.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may already offer it publicly. Test whether WOW provides incremental access.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Flat 3% cashback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Predictable and easy to explain across purchases.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Without sufficient funding, reward costs scale faster than platform revenue.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Card-linked offers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reduce click-out friction and improve in-store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Needs processor/network integrations, merchant identity matching and different commercial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 acquisition bounty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Large first reward can offset the fee quickly.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New-customer eligibility and purchase frequency limit recurrence. Use selectively.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Curated repeat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Fits the recurring membership if categories match planned spending.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Chosen hypothesis, contingent on repeat funding, member value and reliable attribution.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430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4FE72-D523-4011-89E4-E6804453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1B197-DF4B-438F-BC4A-C154F7D3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27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6EB66-3DE5-4839-8E6F-B5C946ED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profitability decides whether rewards can repeat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FF76C-A212-4EF4-A6B3-BA134CA4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order, 55% gross margin, $5 fulfillment/service cost, $30 bounty and 70% incremental acquisition.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8D775-A4C6-418C-B8AE-976E5CCA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Commercial proof: randomized or matched merchant holdouts, qualified new-customer rate, returns and observed contribution payback.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F4A6F-277F-4587-987D-08A01959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4429125"/>
                <a:gridCol w="5257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meaning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First-order contribution before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× 55% − $5 = $28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$30 acquisition bounty already exceeds first-order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Incrementality-adjusted first order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70% × $28 − $30 = −$10.40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Some rewarded orders would have happened anyway. Attribution is not incrementality.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90-day contribution before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per acquired customer, assumed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purchasing must create enough additional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Adjusted 90-day economics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70% × $60 − $30 = $12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Potentially viable before integration overhead and uncertainty.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Repeat-order contract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smaller bounty or funded percentage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not apply a new-customer bounty to every later order in the forecast.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3307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C5F62-B4CB-4B05-B213-6AE11E83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3D7D3-0862-4732-97C7-F187CDA1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28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84653-2E8F-4EBC-A143-8B0A808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Partnerships is a core operating function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04712-DBF3-4BBA-AC0A-BBDCFB7E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three dedicated partnership roles support the pilot and expansion, with Finance and Operations alongside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989D4-6A23-4285-B87F-C1404EB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no merchant supplies more than 25% of expected reward value at scale. Concentration is visible before increasing exposure.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082A1-FA2C-45EE-A2F4-BC0B5FD9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24500"/>
                <a:gridCol w="52101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Ownership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Weekly business review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lead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 suitable merchants, negotiate bounty economics and build category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Qualified pipeline, live funded offers and concentration by merchant.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success lead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Protect repeat funding, refresh offers and resolve operational issues.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ROI, return rate, repeat supply and budget exhaustion.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Integration/commercial operations lead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Align tracking, order status, invoicing, payout terms and contract versions.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Unmatched orders, aged receivables, claim resolution and expired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+ Product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 caps and downside exposure. Rank supply by member value and contribution.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liability, forecast coverage, incrementality and member-value distribution.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031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72928-ADF9-426F-B3C5-5A41092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1FBAF-17C1-4241-B61E-0B1598FB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29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F8F2A-6CEB-4D6A-8226-6FFC6971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Payments, attribution and rewards have different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78F12-7BE5-475C-9971-5FE7200A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reuse proven MoneyLion services where available. Do not assume a new payment gateway is necessary.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BE03C-24DC-4755-B08C-58DC36D4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PG processes money. It does not automatically supply affiliate tracking, merchant commissions or reward eligibility.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41768-BB5F-4B8D-9FDE-B0612DFF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Stripe webhook documentation,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c8e6ab2ca2541ca"/>
              </a:rPr>
              <a:t>docs.stripe.com/webhooks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Architecture is proposed, not a MoneyLion system audit.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810250"/>
                <a:gridCol w="53530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control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Subscription PG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Collect the membership fee, manage tokens, refunds and renewal failures.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successful payment events for entitlement. Reconcile fees and chargebacks.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checkout PG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Process the purchase on the merchant site.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does not need card data. Merchant/order confirmation establishes the reward basis.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Attribution service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Join campaign UTM, activation ID, referral token, offer version and merchant order ID.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Preserve consent and agreed attribution rules. UTM alone never releases money.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ledger + payout rail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 pending and payable liabilities, reversals, payout attempts and final settlement.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Immutable entries, idempotency and daily reconciliation.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console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 merchant budget, eligible SKUs, caps, dates, margins and disputes.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Role-based access, approval for commercial changes and a partner kill switch.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2366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0303F-E7C4-4CD8-A46B-CA89F79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3531F-A03E-47E6-A76C-BD8CA327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30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B9301-E71B-497B-B332-7DF67A15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Fraud controls should target suspicious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75171-B154-4633-9733-E086A98A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apply proportionate checks at reward and payout boundaries, with an appeal route for genuine users.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8D7FF-E6EE-4900-9C4B-A4E2D2BE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pause a partner or flow for a material money-movement defect. Risk owns release criteria and customer remediation.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9F008-CB99-4016-8378-618AE1E2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5905500"/>
                <a:gridCol w="54959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Threat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Detection and prevention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Friction and recovery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Fake or duplicate accounts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verified identity where required, device signals, reused payout destinations and referral graphs.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shared household or device is a risk signal, not automatic fraud proof.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Fake or refunded orders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merchant events, unique order IDs, fulfillment checks and return-state reconciliation.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pending status. Use reasoned reversals and manual claim review.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farms and spam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Velocity limits, self-referral rules, per-member caps and blocked commercial distribution.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address-book upload or automatic bulk messaging. Verify unusual clusters.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 takeover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Reauthenticate sensitive changes and delay high-risk new-destination payouts.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Keep browsing usable. Provide a supported recovery path.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False positives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a sample of blocked rewards and compare appeal outcomes across segments.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track blocks, overturned appeals, abandonment and fraud loss.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5402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9B779-CA1E-457D-B82E-6209BAE0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7D46B-C05A-4565-818A-DF6BB3C9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31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91DEB-2DD7-46E8-977E-B76B3FD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north star joins retention with realized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A892B-49A8-42F2-AD13-4646E2B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north star: the share of an enrolled paid cohort still paid at D90 with positive core net cash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7B33B-2697-48D5-83C0-C6A96236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Also report month-by-month value and value versus free alternatives. One large launch reward can conceal weak later months.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090C8-9984-4DCF-84F9-884806B7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953250"/>
                <a:gridCol w="46386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element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Exact definition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matters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Numerator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 continuously paid through D90 whose settled core rewards + verified fees avoided − membership fees paid &gt; $0.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Joining, clicking or pending rewards cannot satisfy the metric.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Denominator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Every day-0 enrolled paid member in a cohort that has reached D90.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Non-redeemers, churned members and refunded starts remain visible.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members: randomization date. New members: first successful membership payment.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Analyze separately, stratifying existing members by tenure.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initial pilot goal ≥35%, alongside a ≥5-point D90 retention lift versus control.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planning gate, not a universal product-market-fit benchmark.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0135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0C9CB-1A9A-40A6-B458-43CB8E5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FE594-2E61-4C37-81A8-7075040D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32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4B998-2074-4667-9A6A-5FA9E1C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operating scorecard assigns decisions to owners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A1BFB-D07A-4930-B006-D4DED2F4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numerical gates are initial hypotheses to refine after baseline measurement. Report denominators and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88B0A-DA30-4D58-BAD5-5BFB5D1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Trust guardrails: payout delays, claims per 1,000 orders, billing defects, reported overspending and false-positive fraud blocks.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18C28-F93A-4DC1-8DE1-D0280613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6810375"/>
                <a:gridCol w="4448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 and action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D30 activation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 with a first settled core reward by D30 ÷ all day-0 paid starts.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Product: target ≥40%, with lag analysis for merchant confirmation.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utility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 with a settled reward in a later billing cycle ÷ all matured paid starts.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Partnerships: expand repeat supply before buying more traffic.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coefficient 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Inviter share × invites per inviter × acceptance × paid conversion × qualification.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Growth: 0.25 × 3 × 0.40 × 0.20 × 0.80 = 0.048, assumed.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and payback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Cohort contribution after reward/service costs and displaced margin. CAC recovered from observed cohort cash.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Finance: positive incremental D90 contribution before scaling.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Program ROI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(Incremental contribution − program cost) ÷ program cost, for a stated period.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Finance: avoid double counting. Show fixed costs separately.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8265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C696A-C547-4BA0-BB35-76425B73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4AE1C-E90B-4CAB-806E-A149E99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33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0A76A-0990-4642-8230-EE15099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Validation progresses from need to paid renewal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87F3B-8B0E-4DDE-85FE-D90E1094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sample sizes and sequence. Research and Data finalize recruitment, power and analysis before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B75AD-593C-4675-BA70-99EAF713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waitlist click measures interest. A conjoint survey informs trade-offs. Neither establishes willingness to keep paying.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51F62-7496-4673-A648-7C6ECF93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6143625"/>
                <a:gridCol w="5210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design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to proceed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Problem discovery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interviews: 8 retained members, 8 cancellers, 8 eligible non-buyers. Review actual intended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recurring need and credible willingness to pay, including reasons to reject WOW.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proof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8-12 merchant term sheets and a manually curated offer test.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supply, funded payouts and member-relevant categories.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Operational pilot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consenting paying members over at least two billing cycles.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Correct tracking, comprehensible terms and reliable fulfillment.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Causal retention test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2×2 randomization: current WOW, cashback, companion, both. Analyze all assigned members.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contrast: combined versus current WOW, on D90 retention and contribution.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Power and scope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About 1,600 per arm for 50% versus 55% retention at 80% power and 5% two-sided alpha.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primary contrast. Recalculate for attrition, clustering and extra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47411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0DBBA-CF9D-4039-A31A-AE9815F9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82736-1750-438B-B082-706E55D3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34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D5D8E-EC1F-4A27-A006-AA40DB2F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Each bet has early signals and a failure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17BB8-76BA-42F8-90A2-0B046211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Assumption: gates are provisional. Material consumer harm or money-movement defects trigger immediate intervention.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E4C9D-0A4B-421F-9F5C-41A348CF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Discussion: approve the evidence gates now, including conditions under which we would stop our preferred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A003B-B679-4911-B019-1852CC6C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81625"/>
                <a:gridCol w="54959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we learn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 success signal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Failure response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fits planned spending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 find eligible offers for existing needs and settle a first reward.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relevance is weak, narrow the audience or add supply before promoting.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repeats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Later-cycle rewards and merchant renewals continue after acquisition bounties.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repeat funding fails, move to direct discounts or a free discovery model.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Companion adds value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Randomized companion exposure improves reward use or retention after its costs.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it does not, retain manual preferences and remove expensive data refreshes.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Economics survive real behavior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Positive incremental D90 contribution and credible CAC recovery.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not, renegotiate rewards, remove loss-making offers or stop expansion.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Experience earns trust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 unresolved claims, clear consent and accurate value statements.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Pause affected flows, repay owed rewards and fix the underlying failure.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548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6EEA1-E9EE-40B6-9C24-BBEB1BA1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BDA7E-AFBE-4FB2-BD47-8F5D51A5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35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19003-FF34-45E8-9A44-A3BF643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first audience has planned spending and usable supply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F4A69-3823-41A1-996D-B2FFBC63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fictional research personas. Demographics provide context, not eligibility rules or credit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23947-FE08-424F-90B0-D61B56E7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Pilot priority: verified category fit and planned spending. Someone with no relevant offers should not be pushed to subscribe.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F3233-A02D-4383-9C12-2A3DDD79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619750"/>
                <a:gridCol w="54483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Financial and shopping context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 and likely objection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Maya, 35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Working parent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Regular income, household replenishment and limited time to compare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“Save me money on what I already buy. Do not add tasks or a second shopping subscription.”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Theo, 27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Early-career renter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Some online D2C shopping, a thin credit file and concern about unnecessary fees.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“Tell me what I will actually receive. Do not imply joining guarantees a better loan.”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Elena, 42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Variable-income worker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Income timing varies. Purchases depend on essential bills and available cash.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“Help me avoid a bad purchase decision. A reward next month does not solve a shortfall today.”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6655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7E7AF-1D14-4C51-9F01-7AF982EA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A9DA4-37DF-4808-8453-145DB47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36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4CEAF-0DFF-497A-A647-CF92D85B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same reward can have different household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D3E2-E794-4BE9-A796-ADAD4A1B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monthly budgets. These examples do not represent MoneyLion customer income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47624-1043-4218-AAC0-39EC076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Segment on needs and behavior. High spend alone does not mean high suitability or strong incremental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5B0AA-710F-48F8-BF29-766391C3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3714750"/>
                <a:gridCol w="3733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context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Maya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Theo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Elena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 eligible spend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$120 household items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occasional essentials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$40 only if cash remains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Useful product behavior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Surface a repeat offer with a competitive total price.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first-order eligibility and the next-cycle value gap.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Let the member defer spending and mute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 of poor design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minimum basket turns savings into extra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large first reward masks three later subscription charges.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delayed reward encourages use of expensive credit.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Research question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Would you buy this exact basket without the reward?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benefit would make month two worth paying for?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Would you still buy if the reward settled after your next bill?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5220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45D7C-EB50-4393-A031-A2DC6768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639F4-70AF-4B71-B0E0-BE9AB2FF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37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CC3AD-5542-4BB2-899C-6BF6168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Network growth starts with relevant shared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47147-A6BD-41AE-A50E-61F64288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tailor the message to the benefit. Keep personal referrals separate from paid creator distribution.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F3D71-BD82-4DFB-BF52-1723BAE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cultural relevance improves conversion only if the offer remains useful after the referral bonus ends.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80167-61B8-4DB1-8394-F0092874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MoneyLion referral terms; FTC endorsement guidance,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c42ec8f97ec4303"/>
              </a:rPr>
              <a:t>ftc.gov/business-guidance/advertising-marketing/endorsements-influencers-reviews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segmentation.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52578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Community context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Useful invitation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Safeguard and measurement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Household or neighborhood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 an eligible replenishment offer with people who already need the category.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sharing of purchase details. Compare incremental qualified paid members by invitation context.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Workplace or professional network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the monthly fee, likely reward and qualifying actions plainly.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employer endorsement claim. No pressure to disclose income or credit status.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Creator audience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a real example with full price, timing and the sponsored relationship visible.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separate affiliate terms, approved claims and channel holdouts.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Savings circle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Optional progress toward a fixed, capped group goal.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public balances, debt rankings or rewards for borrowing. Easy opt-out.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3794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1ECA7-7787-4C45-B5A0-22333B85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74058-32F1-4076-949A-DA3AC4B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38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63EDF-AE66-476C-9B6D-3979810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Supply coverage determines which segments can launch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8E256-0F01-486A-83A0-FD17B3EB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admission gates for the first pilot. Actual thresholds depend on merchant terms and research.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46C91-56E4-4F28-9F65-6E5B93F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Report excluded users and exclusion reasons. A successful narrow pilot does not justify a claim of mass-market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F44DE-D080-4509-9A4C-473E8A87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905500"/>
                <a:gridCol w="53530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Segment check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gate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protects the test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Relevant inventory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least 3 eligible offers across the member’s selected categories.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Avoid testing an empty marketplace and calling it weak demand.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opportunity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least 1 realistic repeat or later-cycle offer within 60 days.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first-order bounty alone cannot establish renewal value.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Price and access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Comparable basket price and clear shipping, return and customer-type rules.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Prevent nominal cashback from concealing a worse total purchase.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Operational coverage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Supported geography, merchant tracking and a usable payout destination.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not acquire users whom the service cannot fulfill.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Research balance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 non-linkers, lower spenders and disappointed prior members.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Avoid a pilot composed only of enthusiastic high-value users.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49019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B45DD-A462-4658-95DA-BBE68ECA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1346D-CC90-438B-9E11-9B40265F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39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3CBDB-DE94-4E53-AA67-69E34731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Honest enrollment protects trust and the 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B12E2-1418-440E-8394-76E57AC0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show price and realistic eligibility before a user pays. Let users continue with free services.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F20CF-0A43-4FE9-8A5B-FFDBA7F1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flagship membership should be confidently recommended to the right member, not sold indiscriminately.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907D7-4407-47CD-B58B-FB7C5783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6238875"/>
                <a:gridCol w="4876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situation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Experience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implication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relevant offer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that the current catalog may not justify WOW for them. Offer alerts only with consent.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short-term conversion can prevent expensive churn and support contacts.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Urgent cash need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Keep ordinary product choices clear. Do not make a shopping reward appear to solve immediate liquidity.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membership conversion from advance eligibility and speed.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Declines bank access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manual goals and the same clear reward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whether added data produces enough incremental benefit.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Negative value at renewal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settled value and fee paid, plus next charge and cancellation access.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not hide poor fit with pending rewards, score threats or forced retention steps.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60341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7BFDF-8539-4729-8211-1266D2BB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BFF9C-9E4A-41E2-AA1F-9796E1CC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40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1B35D-74A7-42CE-B2A4-29DBEB7F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core member journey has an honest exit at each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FF64F-625F-4913-A33B-7272ABE5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one persistent offer record connects the promise, purchase and final reward.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6009C-E73A-4EB0-A2C5-AB70617B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Success is a completed useful money decision. Every extra screen must serve eligibility, comprehension or reliable fulfillment.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FB509-9CF1-4AB1-8414-1AFBB91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905500"/>
                <a:gridCol w="5924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action and information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System decision or exception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 Discover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Choose a planned category. See fee, reward range and eligibility.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usable offer: remain free or request an alert.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 Join and activate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 recurring payment and activate a specific version of the offer.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Payment fails: explain and retry without creating paid entitlement.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 Shop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Continue to the merchant with full terms visible.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Preserve activation ID and allowed tracking context.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 Track and receive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View reported order, pending status, approval and payout.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Missing order: claim route. Return: reasoned reversal.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 Evaluate renewal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settled benefits with fees and next-cycle opportunities.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Renew, change preferences or cancel. Earned obligations remain traceable.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71110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2CA37-5B9D-4998-B762-2285B581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9DF6F-E4B1-49C3-90DC-5CA92C4A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41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009D4-BA04-47B1-A29B-7AF4A4D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referral journey rewards qualified incremental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F0050-44FC-4825-934A-DE567323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experiment, separate from the currently published banking referral program.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B866C-52F1-466F-BDB1-F0EA1108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Prevent stacking with conflicting campaigns. A claimed referral is not automatically an incremental customer.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F4760-57BE-4E2F-BF18-9B63223D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MoneyLion Referral Program,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915815e26954624"/>
              </a:rPr>
              <a:t>moneylion.com/referrals-terms-and-conditions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 Proposed WOW amounts and qualification rules are assumptions.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6191250"/>
                <a:gridCol w="54959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Member-visible behavior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 or event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Invitation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shares a personal link with the fee, both rewards and conditions.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Create signed referral token. No automatic contact upload.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Acceptance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Friend sees who invited them and confirms attribution before registration.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 accepted referral and consent. Block self-referral.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activation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Friend pays for WOW and activates a useful eligible offer.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 successful payment, campaign and experiment assignment.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Qualification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paid cycle and confirmed eligible purchase satisfy the test rules after refund checks.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$10 to each side, maximum 5 qualified referrals per inviter/month.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and follow-up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Both see qualified, available and paid states. Only necessary status is shared.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reward cost, incremental CAC and referred-member D90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25408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8D758-A1A1-4AFA-8141-6C969143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2B2A0-268F-4883-B36F-31274129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42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C09F8-79A6-42A7-8F4A-60C7057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Gamification can support progress without encouraging excess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29B2-F070-4D9D-BF8B-92406D7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an optional savings circle and private progress view. Launch only after the core reward experience works.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73349-4F06-43FE-9D4F-3838099F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Test whether gamification improves qualified retained use. More invitations alone would not justify added complexity.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B6400-2813-4AA8-A819-1CFC54F4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810250"/>
                <a:gridCol w="58293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Interaction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experience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and risk rule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Join a circle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 in with a nickname. Choose a relevant goal such as understanding cashback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automatic social enrollment or shared financial information.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See progress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 qualified invitations and completed helpful actions.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reward for loan volume, higher debt or unnecessary purchase frequency.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View leaderboard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Optional ranking by completed, capped qualifying actions within the circle.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Private by default. No income, balances, credit scores or spending rankings.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Receive a milestone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a fixed merchant-funded benefit within a disclosed campaign budget.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 the full cost in CAC. Stop at the budget cap, without retroactive rule changes.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Leave or report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Hide the leaderboard, leave the circle or report an invitation.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penalty to earned cashback. Monitor spam, opt-outs and harm reports.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3586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917E8-0BCE-4AC7-9872-1FC5311C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86C5C-A8ED-4F65-9F81-CC1184CA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43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9171A-624F-4320-90B1-78832F87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Earning potential must show uncertainty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2B439-BF88-469A-A727-8EFAA632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calculate a personalized estimate from eligible offers and stated plans, then keep it separate from settled money.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98343-12F2-41ED-AC12-49D637AE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AI may explain an offer. Deterministic rules and approved commercial terms determine eligibility and money.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22514-0DD5-4E75-B6C1-1E4AC7E5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Plaid Transactions and Liabilities API documentation.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1b62e99a5154eff"/>
              </a:rPr>
              <a:t>plaid.com/docs/api/products/transactions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/liabilities. Accessed 23 Sep 2026. Forecast ranges and interface design are proposed.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810250"/>
                <a:gridCol w="5257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input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Allowed use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User-facing boundary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Manual shopping plan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category, timing and approximate budget to available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“Based on purchases you said you already planned.”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Eligibility and price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Apply new-customer, SKU, geography and minimum-purchase rules.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exclusions before activation and compare total price.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Optional transaction signals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Suggest categories with plausible recurring need, when data and consent permit.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why the suggestion appears and how recently data updated.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forecast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display a range such as $0-$15 for the next cycle.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cash earned. No promise that a member will recover the fee.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 statement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settled rewards, fees and valid reversals.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Display actual net value even when negative.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5114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06A00-C648-410B-857A-2FCF4720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31BE1-B782-4CB4-B665-B80B9155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44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CFEAB-6EB6-4120-A226-96428DA2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companion starts with transparent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D032-DC25-4DB0-B772-9CAF77C4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solve a useful decision before adding sophisticated models or automated financial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EC0AB-02DC-467C-8916-FF7FA1F5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My relevant execution pattern: separate deterministic eligibility from AI guidance, with an auditable human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B345A-2251-4C34-A451-2A3713D1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Plaid Transactions and Liabilities API documentation.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ce9a41e9cfc4141"/>
              </a:rPr>
              <a:t>plaid.com/docs/api/products/transactions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/liabilities. Accessed 23 Sep 2026. Source: Priyam Sameer, candidate CV, September 2026, pp. 1-2. Candidate-reported experience.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6191250"/>
                <a:gridCol w="4924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 and fallback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V1: no bank link required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Manual goals, offer filters, renewal date and settled-value statement.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comprehension and paid renewal. Keep this route available.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V2: optional context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consented recurring-income and category signals to rank relevant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freshness and reasons. Stale or absent data falls back to manual goals.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V3: financial comparison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the member’s request, explain eligible credit options and full costs from approved partners.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promised approval, rate reduction or replacement of lender underwriting.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AI assistance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Summarize terms, classify support evidence and draft an explanation for review.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Ground answers in approved records. Route uncertain money or credit issues to people.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22822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B5135-9EC8-48D3-A52B-460CCEA6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D151D-3ADA-4DC0-8D84-2CCC268C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45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2E704-037C-41F8-BB1C-8E8C3E02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Future credit capabilities require separate proof and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4CF48-F9E9-417F-ADA1-9ACFBA24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Credit Cockpit sources offer useful problem hypotheses, but the proposed MVP does not automate credit payments or bureau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3EC97-F6B7-400C-B4A6-3478CBA8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Regulation B requires specific adverse-action reasons where applicable. Counsel and lender partners own the launch interpretation.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C7C46-0275-420D-BB50-AD62D3F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865b50ecda44d2e"/>
              </a:rPr>
              <a:t>plaid.com/docs/api/products/liabilities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796d9413b4c4e3f"/>
              </a:rPr>
              <a:t>consumerfinance.gov/rules-policy/regulations/1002/9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future scope.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986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857875"/>
                <a:gridCol w="5210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Future capability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would be required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Boundary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credit routing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Specific consent, lender-approved data use, model validation and fair-lending review.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flow may supplement evidence. It cannot guarantee better pricing or safely replace every score.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Payment reminders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Verified due dates, freshness checks and clear user confirmation.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Plaid fields can be nullable. A last statement date is not a guaranteed future closing timestamp.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Automated payments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payment authority, funds checks, rails, return handling and servicing.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data API is not permission to move money. No automated sweep in this pilot.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Credit-report assistance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 bureau access, accurate evidence, user review and approved dispute processes.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Bank transactions alone do not prove every obligation was satisfied. No automatic score-gain promise.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25222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DD600-FE57-42A6-A2B6-F5583A2E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B8DE7-4DB4-4650-9C3A-56EFB5A2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46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1D2EC-2C79-4B64-893A-475CA9F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Instrumentation connects experience to financial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7DF51-B2FB-4749-BE36-6E17634F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one event contract with stable IDs, experiment assignment and immutable commercial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6C16C-C243-4347-BD4F-6D6DE899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Minimize personal data in analytics and URLs. Use access controls and retention rules by purpose, not unrestricted data reuse.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74CAA-162A-4922-AFD9-E17E5C80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7048500"/>
                <a:gridCol w="44005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 family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fields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question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member_id, cohort_id, billing_plan, payment_id, experiment_arm, timestamp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 paid, renewed, failed payment or received a refund?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Discovery and attribution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offer_id, offer_version, activation_id, UTM fields, referral_token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eligible promise and campaign preceded the purchase?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and reward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merchant_id, order_id, eligible_amount, reward_id, status, reason_code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qualifies, what is owed, and what changed after a return?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Payout and reconciliation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ledger_entry_id, payout_id, destination_token, settlement_status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Did money arrive once, at the correct destination and amount?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and support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consent_version, purpose, data_freshness, claim_id, resolution_code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Was a recommendation authorized, understandable and recoverable?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93223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5A121-B66C-46D1-873B-BAB7FB7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CF328-B214-404F-AA48-1E74E946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47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7539E-9AEA-479B-B02C-7EAA3551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Reliability is a product feature and a finance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94779-E1D3-4E82-AE9A-9CAC6A35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initial service objectives. Measure against partner events received, with separate visibility for events never received.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F419D-1907-46EE-A6E7-682E99D6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high event-match rate can coexist with missing orders. Both reconciliation completeness and customer claims must be monitored.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6D0C3-99DB-4CE8-9A64-F21499A8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Stripe webhook documentation,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cd7403fb11742b4"/>
              </a:rPr>
              <a:t>docs.stripe.com/webhooks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Architecture is proposed, not a MoneyLion system audit.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6048375"/>
                <a:gridCol w="53530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Operating design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 and trigger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 delivery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Verify signatures, enqueue events, deduplicate IDs and tolerate out-of-order arrival.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Engineering: retry queue and alert on lag or failed processing.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Reconciliation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Daily compare merchant statements, reward ledger, invoices and payouts.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Ops: target ≥99% matched within 24h of received event.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Missing-event detection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partner statement totals with reported orders and test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Partnerships: investigate silent tracking loss, not just queue errors.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 integrity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Balanced ledger entries, separate cash/reward liabilities and explicit reversal entries.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Payments: pause disbursement for unmatched balances or insufficient coverage.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recovery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Publish delay reasons, preserve claim evidence and assign accountable cases.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Operations: target first response within 2 business days. Review aged unresolved claims daily.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619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44BA-0D05-46E7-90B7-3B956A38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81558-00E7-4A42-826D-E0FBAABA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48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459B9-E421-4C2F-A2EF-61CDEAAC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financial model starts with explicit assumptions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B12BE-68F2-4A14-852F-5AAECC4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all figures below are planning inputs in USD. Replace them with observed cohorts and signed contracts.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45370-D3E8-4C09-B02D-30B0BBD6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Base monthly contribution = $9.40 + (0.90 × $3.50) − $3.90 − $1.50 = $7.15 before fixed costs and acquisition.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E3FD9-10B4-4907-A43D-6A295A28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6572250"/>
                <a:gridCol w="46863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assumption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Definition or sensitivity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Price and collection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$9.99 fee − $0.10 refunds − $0.49 processing = $9.40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billing. Excludes sales taxes collected for authorities. No annual-plan mixing.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economics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bounty − $13 reward − $1 variable ops − $0.50 loss = $3.50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approved order. Standard returned orders reverse bounty and reward.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frequency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 approved orders per paid member/month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low at 0.25, 40% medium at 1.00, 20% high at 2.00.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service cost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$2.40 existing benefits + $0.90 data + $0.60 support = $3.90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from per-order operations and payment processing.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Other economic inputs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$1.50 displaced legacy margin, $30 CAC, 6% monthly churn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run cost $145k/month. Discount rate 1% monthly for illustrative LTV.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76770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7CDE8-A516-4914-91E3-E7729FD7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34F0C-8C34-42D9-887C-EF37B70B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49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30F6C-474B-4FE0-9661-A1F6255D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An approved order contributes $3.50 in the base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25F3F-D1DD-4C2B-ABFA-BF288EF9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this blended order differs from the one-time high-bounty example on slide 25.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FA925-6DCA-4B94-9E09-85E9884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Bounty concentration, new-versus-repeat mix and returns can change the blend. Forecast each contract before aggregating.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AB4B2-F39A-47D9-970E-1ED846D7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410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190750"/>
                <a:gridCol w="7162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approved order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Accounting treatment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Recognize after contractual qualification. A tracked click is not revenue.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payable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($13.00)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entitlement, funded from the bounty.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 operations and payout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($1.00)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Order-specific tracking, handling and payout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Expected unrecovered loss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($0.50)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Fraud and adjustments that cannot be recovered after approval.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19.4% of bounty. Before shared membership service cost.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Break-even bounty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the same reward and variable costs. A lower bounty requires redesign.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78404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98A69-9F98-4481-95BF-9DAA9A74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AF337-1FF8-42C6-A203-C18F7F2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50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61F48-E27C-466B-9536-AFCC7FCF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 value must beat the best realistic alternative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57722-DA2F-4CAC-9CD2-51D733FE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eligible basket, $13 WOW cashback, and a free alternative paying 3% on the same basket.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A6CDE-54FB-4C83-B933-98BAAA91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$4 price or shipping disadvantage on one order wipes out the assumed $1.21 advantage. Total purchase economics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618F6-70E5-40A3-8057-F743F316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238750"/>
                <a:gridCol w="50673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Comparison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it tells us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approved order, cash view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$13.00 − $9.99 = $3.01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member receives more cash than the fee, before other purchase differences.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order versus free rewards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$13.00 − $1.80 − $9.99 = $1.21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Only the extra benefit over the free option justifies paid access.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monthly frequency: 0.90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 × $13.00 − $9.99 = $1.71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Average net cash value can hide many negative-value members.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versus free alternative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 × ($13.00 − $1.80) − $9.99 = $0.09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base proposition has almost no cushion against worse prices or shipping.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break-even frequency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$9.99 ÷ $11.20 = 0.892 orders/month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Requires relevant, planned purchases. Never encourage extra spending to meet this threshold.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22111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A6C58-0C83-48BE-9760-62AB2AF1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CEFD7-1D90-470C-A996-A38BBC0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51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68211-3E4A-4782-B920-3E4CA9F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Lower spending can mean negative member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60036-C68F-4C18-A5CB-49413426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spending tiers describe eligible order behavior, not income. Shared monthly costs are held constant for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855F7-0423-4052-8BD8-C20A0743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40% of this assumed mix receives negative cash value even while the platform earns contribution. Do not optimize retention by hiding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4DF7E-38CC-49A5-88E5-0CC4DE14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 Contribution values use unrounded calculations.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2381250"/>
                <a:gridCol w="2381250"/>
                <a:gridCol w="2381250"/>
                <a:gridCol w="2638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member/month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Medium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 base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Mix / approved orders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/ 0.25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/ 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 / 2.00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 / 0.90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received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$3.25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$11.70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cash value after $9.99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−$6.74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$3.01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$16.01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$1.71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versus free 3%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−$7.19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$1.21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$12.41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$4.88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action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option may fit better.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 next-cycle supply.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price and actual need.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the full distribution.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07453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85F93-8129-44AF-A0D7-A870C06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01530-A09E-4BC2-AD81-579CFD98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52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EF331-77B6-4492-A1BD-1D705207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monthly contribution bridge is fully costed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7C01F-535B-4879-AEA7-C6122BC9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10,000 paid members in one month, each at the base behavior mix. Amounts shown in USD thousands.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A02A7-8E2A-44C9-B2D7-46BD56B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This is a managerial gross-flow bridge. Finance must determine principal-versus-agent revenue presentation and statutory accounting.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381C8-91B2-4667-9BBF-381CD15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190750"/>
                <a:gridCol w="6400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bridge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Explanation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billed, less refunds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$99.9 billed less $1.0 expected refunds.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merchant bounties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162.0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9,000 approved orders × $18.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Cashback, order ops and loss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(130.5)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$117.0 rewards + $9.0 order ops + $4.5 loss.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processing and recurring service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(43.9)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$4.9 processing + $39.0 benefit/data/support cost.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before displacement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86.5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inflows of $260.9k less $174.4k direct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Displaced legacy contribution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(15.0)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Opportunity cost, not a second cash payment.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contribution / fixed cost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$71.5 / ($145.0)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−$73.5k before acquisition. Positive units do not imply operating profitability.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66717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FE8D5-BEAE-432D-B9B7-821797F3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58780-5D9B-4D5F-A6EE-3BC136DF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53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AE8BA-60DE-4D03-8E90-E928C34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Sensitivity reveals the fragility of the member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8F338-DEDD-4C54-9326-9CD7E692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scenarios change several inputs together. They are stress cases, not probability-weighted forecasts.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8F2B9-5E3E-4E5E-85F5-000112AD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$5 monthly advantage over free rewards needs 1.34 approved orders at base economics. Target existing purchase needs, never extra spending.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DB04C-D87D-49D7-8420-3922C857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857500"/>
                <a:gridCol w="2857500"/>
                <a:gridCol w="2876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member/month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Stress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Upside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orders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1.20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Bounty / reward per order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$15.30 / $13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/ $13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 / $14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$0.80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 / displaced margin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$4.50 / $2.50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 / $1.50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$4.00 / $1.00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$2.88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$9.80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cash value after fee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−$2.19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$1.71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$6.81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 or narrow before scaling.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Prove advantage over free.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repeatability.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42203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D6C78-BA96-41B7-8BB7-47D7253E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8580C-FCDE-4C5F-88DF-0ADD558C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54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AAC20-B66E-48ED-9A3B-C9C87453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CAC includes both referral sides and organic cannibalization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8D607-D196-47E0-AEC8-AA704537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acquisition cohorts. Incrementality factors require randomized or credible holdout estimates.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68163-8294-4480-B829-CA7F54B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K = 0.048 under the example on slide 32. Referrals can lower CAC without making growth self-sustaining or “viral.”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2DD57-258E-4891-817F-5D28D486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6048375"/>
                <a:gridCol w="2238375"/>
                <a:gridCol w="27813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Channel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 per observed paid start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share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CAC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Owned surfaces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 placement, operations and promotion cost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 referral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 dual reward + $2 operations + $1 loss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$28.75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media / creators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$48 media + $7 creative and operations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85%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$64.71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mix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50% owned, 30% referral, 20% paid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Shares of incremental customers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$26.57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Planning budget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Conservative CAC used in projections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input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1547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5AC1C-524B-426A-9C99-64222C43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A4A9C-8E89-49A9-904B-62992734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55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BF666-85C4-4FD2-902C-C2A8E708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LTV depends more on survival than on a single margin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E35CE-083C-43BD-B465-74AF97CA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$7.15 contribution per active month, 6% monthly churn, 1% monthly discount, no reactivation or margin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6459F-3782-4100-9EDE-EE902FB7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6% monthly churn implies 83.1% retention after three renewals. A 5-point experimental lift does not validate this LTV assumption.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F4F81-54EF-48CD-B95B-CB60FC9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6048375"/>
                <a:gridCol w="4543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 and limit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Simple CAC payback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 ÷ $7.15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4.2 months, ignoring churn and settlement timing.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Survival-adjusted payback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Cumulative contribution: month 4 $26.13, month 5 $31.71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 5 before cash-collection lags. Use actual receipts for cash payback.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12-month discounted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Σ for t=0..11: $7.15 × (0.94 / 1.01)^t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$59.59 per acquired member, before $30 CAC and fixed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12-month LTV / CAC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$59.59 ÷ $30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1.99×. A capped contribution horizon, not a valuation multiple.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Churn sensitivity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12-month formula, with 15% or 20% monthly churn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$39.44 or $32.29 before CAC. LTV / CAC falls to 1.31× or 1.08×.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57649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493B2-2267-483B-8D7E-F55541AE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9FCA7-4CE0-47EC-9D12-80BF767E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56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6E915-F90F-4F76-A416-B9FD0D8B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six-month scale scenario still requires investment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BAC37-A8D4-4B52-9F10-66E11E16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expansion after validation, not the pilot roadmap. New starts receive a full billed month. 6% monthly churn.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54AC9-4CCB-402C-9C15-8457975D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Member-months = prior month × 94% + new starts. Inflows = $26.09/member. CAC totals $360k and fixed cost $870k.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01FB0-D95E-4D8D-AA66-9CCF4931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 Inflows follow the managerial bridge on slide 52, not a GAAP revenue forecast. Totals use unrounded values.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047875"/>
                <a:gridCol w="2476500"/>
                <a:gridCol w="2619375"/>
                <a:gridCol w="2333625"/>
                <a:gridCol w="27336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Scale 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New paid starts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member-months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Gross economic inflows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CAC + fixed cost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−149.6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988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25.8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7.1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−161.9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2,529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66.0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18.1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−174.9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4,777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124.6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34.2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−182.8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7,490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195.4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53.6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−181.4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11,041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288.1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78.9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−186.1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27,025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705.1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193.2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−1,036.8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1335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DA8B3-247A-4C73-9417-3F80BA0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19B6E-548A-40DC-9BCC-C501AE5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57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E18A0-2541-49B8-A240-470785F5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Working capital and fixed costs constrain expansion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62771-D339-43ED-B7BC-2B8FD9A3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Assumption: 10,000 base-case paid members, immediate reward release and 45-day merchant collection lag for this stress calculation.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B5DD5-6FD3-449F-9FC0-94F67088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Discussion: prefer merchant prefunding or payout after confirmation. Separate the pilot budget, scale losses and any payout facility.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BEDA4-C89F-41A8-A6DA-871811AE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6191250"/>
                <a:gridCol w="4543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question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Implication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member rewards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10,000 × 0.90 × $13 = $117,000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liability and cash requirement, even when order contribution is positive.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Early-payment exposure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$117,000 × 45/30 = $175,500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reward funding before merchant cash arrives.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 buffer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 × $175,500 = $35,100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$210,600 reward funding envelope. Other cash needs are additional.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Fixed-cost break-even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$145,000 ÷ $7.15 ≈ 20,280 paid members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Before replacement acquisition and working capital.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Steady-state replacement CAC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6% × $30 = $1.80/member/month</a:t>
                      </a:r>
                    </a:p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$145,000 ÷ ($7.15 − $1.80) ≈ 27,103 members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Simplified stable-mix threshold. Hold contribution and churn assumptions constant.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27001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BDD48C-9BC6-409E-A9CA-A60AF5C7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B9E26-29DB-47C0-B9AA-AFE37D50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58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890B3-FD13-4083-84D5-239AFD3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Home makes the monthly decision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EDEA7-4431-407D-8B45-B6C9E8DF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wireframe. Assumption: illustrative account data, dates and offers. This is not an existing MoneyLion screen.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C83F2-956D-4489-AA52-C68FF8E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39025"/>
            <a:ext cx="1402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Design goal: the member understands whether WOW has helped, before deciding to shop again.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5DBF2-7280-4A92-AFF7-9D353F9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82C87-C57B-4ECE-BF1B-B76ECC26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B58B7-CF57-45F3-B646-1021D6F7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DAEE1-DC7C-4B49-A623-1A2EC254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WOW 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EF6CB-08BA-459D-A2AD-E3FDBD11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099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September membership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9AB7D-8A0B-4A98-B783-ECA16342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9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Next charge: $9.99 on 1 Oct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43096-8C3B-4D9F-99E6-89483504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623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Settled rewards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48713-8B25-4B18-A32D-1F1219E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624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$13.00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726AB-1E61-420E-A350-44B9A7BB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148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Fee paid this 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1F6EA-1596-4D75-B87C-3863193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514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$9.99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657F9-CA99-4947-AAB9-FF7E499A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672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Net cash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6C094-4D73-44D7-8374-AC6AEC1D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673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$3.01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54F1A-3625-4ADC-85D3-BC60EF64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97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planned categories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1CFF5-1C76-4626-A5B8-0E62400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197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Household essentials, Grooming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68050-809F-4440-9452-597A577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721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Useful next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5245F-5748-435B-B4EF-1922947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722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View eligible offers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05204-FAD0-491C-871B-4BF9F5D5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246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Membership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FCAEF-EBD2-4F5C-AFF2-9B009FC3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7246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View statement, Manage or cancel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886CB-6F08-429B-9E79-3459601B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Value before promotion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CD418-5283-4CF7-BFA0-05BD0D7B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settled benefits and the fee in the same view. Pending rewards never inflate the headline.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589940-B210-4810-924F-048CCF2F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0047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Personal relevance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DA655-B038-4411-8E24-A68C7207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member chooses categories. Bank linking is optional, with a visible explanation of any suggestion.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7C1FC5-D1BC-41E1-A333-E89013EC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No manufactured urgency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C77843-1B38-4FFF-B6B0-32535E81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7685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If no relevant offer exists, say so. Do not substitute a countdown or a high minimum basket.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B8841A-E442-40AF-AF78-889AA548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02932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Acceptance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607FBA-D6CE-4EFD-A8A1-65B0C192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39127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member can correctly identify their net value, next charge and cancellation route without help.</a:t>
            </a:r>
          </a:p>
        </p:txBody>
      </p:sp>
    </p:spTree>
    <p:extLst>
      <p:ext uri="{BB962C8B-B14F-4D97-AF65-F5344CB8AC3E}">
        <p14:creationId xmlns:p14="http://schemas.microsoft.com/office/powerpoint/2010/main" val="190226062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0AEB96-B7E2-4C52-8767-A720356A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60894-9A48-474E-A80D-9CFB06F2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59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A8DD7-7DA2-41D5-A05B-CD9F099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offer screen explains the full purchase 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D7273-DC21-44EC-A048-9AF6845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wireframe. Assumption: fictional “Household Co.” offer. It is not a claim about any named partner.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3F826-8AD4-45F3-9857-A22A4B96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39025"/>
            <a:ext cx="1402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Do not advertise “50% back” without matching eligible inventory, clear caps and a funded offer-level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D51F9-DA57-41B5-A337-9BEB0A85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97D41-29E9-4121-AE86-EC2EDF08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23598-7AF2-497C-8CAF-3B3B24B2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0E549-A044-4452-86AE-F11C603E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Offer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3212D-B629-4554-BC3C-D8BF983B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099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Household 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70B9F-B214-4F87-B330-9CBBCF3B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9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Planned cleaning refill purchase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69D22-9B2E-42F3-ACB8-D59D5EFB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623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Eligible purchase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7AE8C-88BA-4C6D-B41E-07E8F23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624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$60 item subtotal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FEB2D-258F-4955-B828-284FDA61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148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Cashback if approved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7EA35-7F3B-4B9A-AE83-339149B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514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$13.00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432DD-E83C-4DB2-B76B-B2ED23B0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672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A1AEC-E6BD-46D2-801B-A93BE3DD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673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New customer, Selected items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C7505-9922-4825-9832-3A280EA3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97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E9900-EB27-4AA1-B43F-7715BA1B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197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After return window. Expected 15 Oct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9DFCA-13C6-42EF-9C59-F51D3587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721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Before you continue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24080-8C66-4847-8B8B-33339251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722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 shipping, price and coupon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043B9-6FFB-4AB9-BEA3-34F662A7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246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39515-D1FD-4E3F-A3F0-AA065A87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7246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Activate offer and visit merchant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5E30D-856A-4EA7-A386-23E75A8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Specific reward basis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6E68C-1458-4068-9EDA-B216931A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State whether tax, delivery, discounts and gift cards count. Preserve the accepted offer version.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32E45-B158-460A-9E48-1350270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0047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Visible trade-off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71837-158C-4CDA-9AD1-AA120074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member still pays the merchant now. Cashback arrives later and depends on qualification.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9A91B-DE24-4AB6-AF0E-EFB021CD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Alternative comparison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61A129-9ACD-4450-9827-9A85903D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7685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Encourage a total-price comparison. A free coupon may be the better choice.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3EC39C-52DB-49D1-B5E2-B8D83FD4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02932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Acceptance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AD2B3-6D12-480E-B806-F9B13C40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39127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user can explain what qualifies and when the reward should arrive. Confirm comprehension before launch.</a:t>
            </a:r>
          </a:p>
        </p:txBody>
      </p:sp>
    </p:spTree>
    <p:extLst>
      <p:ext uri="{BB962C8B-B14F-4D97-AF65-F5344CB8AC3E}">
        <p14:creationId xmlns:p14="http://schemas.microsoft.com/office/powerpoint/2010/main" val="10670201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619CB8-55CB-4360-B348-3A206AE4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9E9A8-491F-453A-96C4-31ED5775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60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EC421-866A-44EA-9989-8584696C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wallet separates a promise from available money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1BF3D-72B9-4EC1-B9CB-0A5CB047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wireframe. Assumption: illustrative transactions. The ledger, not a marketing counter, supplies every amount.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9D3BE-7CD2-49A3-8963-4F1CDC81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39025"/>
            <a:ext cx="1402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member should never need to guess whether a displayed reward can be spent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94233-6BED-4DB1-A22F-D008BAC1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CB52E-6312-4987-96F1-0F6E156F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D7A6F-6FB8-4200-8871-0E66E260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9C336-B051-4AD5-9DBA-CEC168EB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Rewards wallet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F15B3-1B0B-49DF-8E16-ACC94016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099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Available to withdraw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3ECB0-C9BE-4116-BE5E-D39EABB5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9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$13.00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0C5AD-1F8B-4F7B-8CF5-7CCF9D3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623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Pending merchant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3C2A4-79F6-482E-8264-02F30A32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624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$8.00, Expected by 20 Oct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6E0D4-EE01-402C-87D0-68F97D8D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148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Last payout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1D33B-4729-4BED-970B-23A18975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514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$25.00, Paid 12 Sep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1A014-3CA7-4F7A-AF79-FD80AF7B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672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Order #1042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1B09A-F35F-488D-8E4F-FE88B6A5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673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$13.00, Approved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24819-6877-49A1-9F36-E75056B6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97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Order #1079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7FB72-44BA-4951-BD90-86FA61C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197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$8.00, 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AB03F-B0A3-4817-934B-21C23FB8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721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Missing or incorrect reward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8807B-24D2-40A7-A5DA-BF3D337E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722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Submit a claim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C2003-91B2-4A85-A2FF-A61400A7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246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DCFAA-954A-4D2F-B11E-6E65ACAC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7246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Withdraw, View full statement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8F5AE-96D9-431F-B0C0-A5BF1B3A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Unambiguous balances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394DF-A8C5-435B-B0BE-25289A77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Available, pending, paid and reversed rewards are distinct. Show a reason for each adjustment.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BDED1F-5A8E-4D23-9CBC-4A73A0DD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0047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Reliable withdrawal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E585A-301A-45F9-9A50-932BF5B8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Confirm destination and amount. Idempotency prevents duplicate payment after a retry.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5546C-5558-463B-A67E-DBEED05F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Customer recovery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87782-E71A-4C3F-9289-71A1A730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7685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claim links to the order and accepted terms. Provide a reference number and expected response.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1A9ED4-D022-4CF6-8041-4D03A20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02932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Acceptance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FC3711-7B9D-4CBF-8CB0-BDB631A6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39127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Returning an order updates the correct reward once. Failed payouts remain recoverable and traceable.</a:t>
            </a:r>
          </a:p>
        </p:txBody>
      </p:sp>
    </p:spTree>
    <p:extLst>
      <p:ext uri="{BB962C8B-B14F-4D97-AF65-F5344CB8AC3E}">
        <p14:creationId xmlns:p14="http://schemas.microsoft.com/office/powerpoint/2010/main" val="201684431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508C8-0B21-4611-804F-CF60E72E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BE2BF-F369-47A1-94B5-A7CED3CA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61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FD7ED-4C10-487C-B989-EF5FF15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referral dashboard shows progress without exposing finances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C35C5-2DD7-4C68-AC6F-E0145DA5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wireframe. Assumption: the $10/$10 test rules apply. This screen does not replace current MoneyLion referral terms.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3C1D3-D145-4916-9853-166E91E6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39025"/>
            <a:ext cx="1402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Measure incremental retained members and total referral cost, rather than celebrating the number of links shared.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B37FC-DB0F-4465-B8A2-BD028A85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06D7F-CEC7-4A4E-AD89-7ADEEEAF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A8C57-6716-400C-9E8B-03E84189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E7400-71A8-47F6-9050-EA48932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Invite and 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9781C-F46B-4D7A-B6DA-A7BAA88E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099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invitation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26064-15EE-4B08-8EF4-5B119403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9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 may each earn $10 after qualifying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16EDC-91A6-4916-91A5-580722E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623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D3293-4499-4E0C-A894-C599DBC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624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Paid cycle + eligible purchase + refund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27DAA-6758-4A5C-9ED9-58B72DEB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148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EA393-A24A-4949-BFE2-CED57549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514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Joined, Qualification pending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9B1A9-7118-4608-BBEB-2477AEBD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672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Jordan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DE6DC-46EB-4AE2-8E09-FA3B24E2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673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Qualified, Your $10 is available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69F7C-6A6A-464D-A3E5-E19BD434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97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Monthly cap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1B8E6-4C56-454F-8CD6-B7D82884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197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1 of 5 qualified referrals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553AC-E5D8-4102-9683-D8FEC26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721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Savings circle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166B9-62BD-44EC-96B5-8ACBF01E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722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Private, Optional progress 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202B6-F682-4C41-8612-1F371677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246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8E3F77-1838-4904-A6E9-281149BD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7246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Share personal link, Read full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29CD6-E609-4797-B14E-D7134B73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One clear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2A3B18-94C6-4FA9-8553-0296EB49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the next action and qualification window before sharing. Preserve referral attribution at signup.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AC53D-5F99-4DA5-BADA-40DB670B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0047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Limited disclosure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60172-B243-4B3D-93FF-4BF372E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Share only status necessary for the reward. Do not reveal the friend’s purchase, balance or credit details.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32E0E-50B7-4E2B-B6BC-3F39A952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Controlled social features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38217-00E3-4469-99A4-FF4D3401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7685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Leaderboard participation is optional. Use nicknames and capped actions, with report and leave controls.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DD08C-3D79-4B23-83FB-C80DCDEF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02932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Acceptance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4D1B1-FE46-46E6-A0E3-709EF08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39127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shared-device household can appeal a block. A duplicate or self-referral never releases an extra reward.</a:t>
            </a:r>
          </a:p>
        </p:txBody>
      </p:sp>
    </p:spTree>
    <p:extLst>
      <p:ext uri="{BB962C8B-B14F-4D97-AF65-F5344CB8AC3E}">
        <p14:creationId xmlns:p14="http://schemas.microsoft.com/office/powerpoint/2010/main" val="196970446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69141-2753-45AB-9A53-ABFA9D72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31E98-FF04-4165-951F-5250FE61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62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2CCC5-7204-4F12-AEDA-70D381F9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companion gives a reason and a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B24B4-844A-4814-A8EC-30EA79FA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wireframe. Assumption: illustrative goal and data status. Recommendations do not authorize financial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EF2B9-9D0F-4A94-893F-03348BEB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39025"/>
            <a:ext cx="1402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 first release proves useful guidance. Automated payments or credit reporting require separate product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B8875-9A00-432F-BDAC-61E6B558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C7769-2F60-42FB-8A64-0177AD6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BF494-2125-4219-9F31-58785DA6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DEF02-D6A4-4618-A970-0F53EB00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Your money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41675-093A-417F-B2A9-8495B35F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099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8130C-08B6-4EE6-84DF-19A5FCDA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9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Lower planned household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363F2-1CF5-47FC-B700-18469FE6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623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Possible next-cycle rewards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ED563-3492-41D2-988B-BC9EF134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624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$0-$15 estimate, Not guaranteed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CA948-6075-4BBB-9755-B393978F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148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Why this appears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3786D-3B75-4BC4-91E9-214DFC2A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514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 selected household refills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19B21-1EF4-41EC-B2EB-9E61A784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672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Data connection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4E108-BCBF-40DB-8675-E69230FA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673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Optional, Last refreshed 22 Sep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6774D-41DA-4932-BA24-C7DC22CC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97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Useful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5C567-6892-4664-9791-7B74431A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197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Compare two eligible offers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0A9A6-8652-42BF-9D56-FF8E190C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7217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Prefer another route?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B9D5F-C00F-4872-ABD4-6A603A6F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722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Edit goals, Use without bank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95941-5F0E-4E75-BE2D-6D1FAE3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24625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Data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50FA4-5973-4F85-B054-3BB9EC13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7246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Manage consent, Disconnect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A5277-4994-48A8-88C7-827C18A0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Explainable relevance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51D3B-BCDC-4D5A-AF18-9CA9A6A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whether a suggestion came from a stated goal or consented data. Avoid an unexplained score.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95938-EF71-4113-8E4F-D1FD77AB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0047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No automatic borrowing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3374B-2246-45E8-9FEE-326B4CD1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Credit comparison appears only on request, with lender terms and no approval or rate guarantee.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3CC12E-C8DA-4317-B796-03B38F54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Graceful degradation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EBAE7-15EE-4BD4-BC54-965EE1DB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76850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Missing or stale data returns the experience to manual goals. Browsing does not depend on a live bank call.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F875A9-8552-4FED-ACC6-D321381B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029325"/>
            <a:ext cx="750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Acceptance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F3C3E-8792-4C04-BDA3-445C15CA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391275"/>
            <a:ext cx="7505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Revoking data consent stops the relevant processing while preserving required transaction records and earned rewards.</a:t>
            </a:r>
          </a:p>
        </p:txBody>
      </p:sp>
    </p:spTree>
    <p:extLst>
      <p:ext uri="{BB962C8B-B14F-4D97-AF65-F5344CB8AC3E}">
        <p14:creationId xmlns:p14="http://schemas.microsoft.com/office/powerpoint/2010/main" val="52165405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9A7CD-8B43-4929-8F4F-16271B79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DEAB6-6774-4842-B7FB-E490364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63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E27C6-3E77-4011-AA5B-6F7E873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 readiness requires evidence from both sides of the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737E1-E3E8-4428-AC69-D2738CA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owned-channel pilot first. Broader marketing waits for usable supply and mature member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D2578-F8BA-45AF-B1D1-D170A1F5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Positioning: relevant savings you can verify. Avoid “free money,” universal fee recovery or guaranteed credit improvement.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819A8-12B6-4765-9AF6-4D31E164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6238875"/>
                <a:gridCol w="45910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Readiness question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 method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Go / hold 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users understand the proposition?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fee, eligibility, pending reward and cancellation comprehension with the three persona groups.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Hold misleading copy even if it converts well.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the reward fit local needs?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relevant category coverage and total prices across supported regions.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only where supply can fulfill the promise.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merchants renew funding?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repeat order contribution, incremental acquisition and reporting with pilot partners.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Hold scale if economics depend on unrepeatable first-order bounties.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a referral feel credible?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plain invitations, disclosure of incentives and non-participation reasons.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personal referrals from paid creators and public campaigns.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operations keep the promise?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Run test purchases, refunds, missed orders, payouts and account recovery.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expansion with material billing or reward correctness defects.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00657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4354F-4D1A-40B2-8E8C-9778BD78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DFDDB-3E29-4946-B581-672D9C4E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64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40A21-C4F2-4CEF-92B2-ED67877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six-month roadmap leaves time for D90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B3FAB-4E30-4A6C-9847-A4EC6976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contracts and platform reuse permit this schedule. Delayed prerequisites move the dependent milestone.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D2BD6-C2FE-447F-9D32-AD75F53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Influencer marketing follows demonstrated value. A six-month roadmap is not a promise of nationwide expansion by month six.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1D91E-6466-4A7C-B689-DFD9768C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410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524750"/>
                <a:gridCol w="49720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Deliverable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gate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 cohorts, research, merchant terms, event contracts and the value statement prototype.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economics, consent design and fulfillment plan.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catalog, reward ledger, claims and a 200-member operational pilot around day 45.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Correct payouts and enough contracted repeat supply.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companion rules and start the retention test around day 75.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Operational readiness before experiment enrollment.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Small, separate referral and gamification tests.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Protect the primary retention test.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 repeat use. Prepare creator and acquisition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Wait for mature retention evidence.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D90 results mature around day 165 for day-75 enrollment. Review regional/category expansion.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Scale only if value, retention, contribution and trust gates pass.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93361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12FD0-DAA8-462D-A6D2-5E7E5C9C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C5A31-BB92-483A-81A9-C1BDF975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65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61FC9-2DE8-47D0-B041-08BE59CE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Funding follows capability and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600CF-37EA-4F00-8745-C7147C5F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12 core roles plus shared Risk/Finance support. Fully allocated steady run cost is $145k/month.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92FE7-C20E-441A-B3B5-820488E1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Scale acquisition and a payout working-capital facility are separate approvals. Pilot allocations must not quietly fund open-ended growth.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C8ED1-1265-4323-969B-AB5E4CCD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48-57.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477000"/>
                <a:gridCol w="4495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Allocation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or capacity assumption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delivery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PM, 1 designer, 4 engineers and 1 data specialist.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 journeys, ledger integrations, measurement and releases.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execution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partnership specialists and 2 operations specialists.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Acquire supply, manage merchant success, reconcile rewards and resolve claims.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 control functions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Risk, Security, Legal and Finance have named decision owners.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Included in the planning cost envelope. Validate actual availability.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Tranche 1: month 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$160k for baseline, discovery and commercial validation.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first. Stop if relevant funded supply is not credible.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Tranches 2 and 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$320k for months 2-3, then $500k for months 4-6.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$980k: $870k run cost + $110k pilot/tooling contingency.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71347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58064-ACCE-4735-9CD8-DCFBD39A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6871B-935C-4E0D-ADC6-81D35CB6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66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E16F0-E788-4E1B-A5D1-DE1EBD8C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Lifecycle messages follow the member’s value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511BA-D827-48EC-96F2-DF7C9711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trigger messages on useful events and suppress irrelevant promotions. Marketing and bank-data consent remain separate.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19430-FEB2-4420-85F1-6F7CC523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cap promotional outreach at two messages weekly during the pilot, with preference controls and immediate suppression after opt-out.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1F770-82D8-40BA-8B43-26EEDD6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6667500"/>
                <a:gridCol w="50196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Example copy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 measure and constraint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Before payment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“Check the offer rules and payout timing. WOW costs $9.99 each month until you cancel.”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conversion followed by value and retention. No universal savings claim.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Day 0-7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“Choose a purchase you already planned. You can use WOW without linking a bank.”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activation and comprehension, not mandatory data linking.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purchase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$13 reward is pending merchant review. Expected decision: 15 Oct.”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 to confirmation, delay contacts and correct status.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Before renewal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 received $13 in rewards and paid $9.99 this cycle. Your next charge is 1 Oct.”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Voluntary renewal with clear access to manage or cancel.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value or cancellation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“No rewards settled this cycle. Review whether WOW still fits your needs.”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Honest cancellation and reason capture. Preserve earned obligations.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81892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43F9F-65D7-468E-936D-6E78B7DD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2E73A-6BB5-4244-8E6C-69C0B116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67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CBB64-833F-46DB-A709-937D123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5,000-signup spike needs a cohort 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442CE-884C-47E4-B7D2-84FE1CF3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Case fact: 5,000 signups in launch week, followed by volatile weeks. Assumption: all retention values below are illustrative.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015A8-4804-4D8F-9FC0-AB3A458E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Keep signups in the dashboard, but allocate capital using mature paid cohorts, recurring value and economics.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43AED-F087-46AC-B304-19E1E400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 Chart values and cohort comparison are assumptions.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714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ed7f77064a464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ED19C-0616-4667-A480-C4B7D33E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Equal-tenure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6BF7F-4506-47E1-ACFF-75E3027F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If all 5,000 launch signups became paid starts, 40% D90 retention leaves 2,000. A later 3,000-start cohort at 70% leaves 2,100. First verify trial-to-paid conversion.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D0720-9F6C-4DDE-A43C-DD57BBE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What to investigate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F980C-A757-43C8-87CF-75D93C61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Decompose eligible reach, channel spend, promotional price and paid conversion. Then compare retention, net value and contribution at the same tenure.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65258-4CF9-4277-98E8-3973F00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What we can 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14256-C324-4FFF-9CA3-5D70D936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Signups measure acquisition demand and channel output. They do not establish recurring willingness to pay. These example cohorts are descriptive, not causal evidence.</a:t>
            </a:r>
          </a:p>
        </p:txBody>
      </p:sp>
    </p:spTree>
    <p:extLst>
      <p:ext uri="{BB962C8B-B14F-4D97-AF65-F5344CB8AC3E}">
        <p14:creationId xmlns:p14="http://schemas.microsoft.com/office/powerpoint/2010/main" val="198026360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FDB6A-11BE-4663-A992-45489E6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AF39C-DD93-4787-B8E0-CA9521E4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68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2F1E6-8CF1-4231-9733-55DC0646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Product-market fit is a body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BEEE6-919E-44CE-ADA2-3F7E67A4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scale criteria. No single threshold or short flattening curve proves permanent retention.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6D1D2-5D5A-48BC-9B86-6B88C0A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Interview retained members and cancellers alongside the data. Persistent use, honest value and sustainable supply must tell the same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025B9-528E-4B26-A4D4-AEC413E1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6286500"/>
                <a:gridCol w="4829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 decision rule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retention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D90 uplift ≥5 percentage points versus current WOW, with confidence interval and no material trust harm.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 experimental assignment, tenure and payment-failure churn separately.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Realized member value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≥60% of matured enrolled members have positive core net cash value by D90.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Also inspect monthly value, bottom quartile and advantage over free alternatives.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Combined north star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≥35% continuously paid at D90 and positive cumulative core net cash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 every enrolled paid member, not only redeemers.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durability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Positive incremental D90 contribution and credible observed CAC recovery.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Continue beyond D90 to see whether repeat supply and contribution decay.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 matrix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+ economics pass: expand. Value passes only: repair funding. Economics passes only: repair fit.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Neither passes: stop or replace. Demand alone is insufficient.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9170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7A3B2-27FA-44EB-B79A-198350A2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MoneyLion WOW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CBD33-D336-46BC-80CF-824F8D63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69 / 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EFCF7-2793-44EE-A231-792B035D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leadership decisions are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FCAE8-0AB0-4F0F-B097-A4DA6434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Recommendation: approve a limited test of recurring member value, with shared ownership of the evidence and downside.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82EBC-CB2F-4853-AC11-B375F6E5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Priyam Sameer: I would scale WOW only when the member, merchant and MoneyLion each have a credible reason to continue.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895C1-CE90-4E54-9581-C531630F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Evidence: all five supplied resources, current public product/technical sources cited on relevant slides, and candidate CV. All proposed economics and gates are labeled assumptions.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286125"/>
                <a:gridCol w="7115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requested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Accountable partners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Commitment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Agree the product outcome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+ leadership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renewal with positive realized member value, evaluated against free alternatives.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 the first tranche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+ Engineering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$160k for month one. Reconcile the model with internal baselines before further release.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Secure usable recurring supply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Partnerships + Operations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terms, repeat-offer evidence, payout coverage and a claims path before enrollment.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 the experiment and controls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+ Risk + Legal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primary retention contrast, clear consent, financial correctness and predetermined stop rules.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Return with a decision, not a signup headline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PM + cross-functional owners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D90 maturity, show retained value, incremental contribution, failure evidence and the next funding request.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719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2026-09-24T02:53:48.6030000Z</dcterms:created>
  <dcterms:modified xsi:type="dcterms:W3CDTF">2026-09-24T02:53:48.6030000Z</dcterms:modified>
</coreProperties>
</file>