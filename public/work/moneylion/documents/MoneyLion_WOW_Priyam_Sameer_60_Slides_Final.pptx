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charts/chart1.xml" ContentType="application/vnd.openxmlformats-officedocument.drawingml.chart+xml"/>
  <Override PartName="/ppt/slides/slide60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742b5a5a9db4914"/><Relationship Type="http://schemas.openxmlformats.org/officeDocument/2006/relationships/extended-properties" Target="/docProps/app.xml" Id="R6aef0865fa5b4da8"/><Relationship Type="http://schemas.openxmlformats.org/officeDocument/2006/relationships/officeDocument" Target="/ppt/presentation.xml" Id="R9c1a4c1dfc484a6e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0dbeeb6f54473"/>
  </p:sldMasterIdLst>
  <p:sldIdLst>
    <p:sldId xmlns:r="http://schemas.openxmlformats.org/officeDocument/2006/relationships" id="256" r:id="Radd19b1cf5414a98"/>
    <p:sldId xmlns:r="http://schemas.openxmlformats.org/officeDocument/2006/relationships" id="257" r:id="R78a8deac8fd04dcc"/>
    <p:sldId xmlns:r="http://schemas.openxmlformats.org/officeDocument/2006/relationships" id="258" r:id="Rac288eb2241a4833"/>
    <p:sldId xmlns:r="http://schemas.openxmlformats.org/officeDocument/2006/relationships" id="259" r:id="Rda6d49f51463423d"/>
    <p:sldId xmlns:r="http://schemas.openxmlformats.org/officeDocument/2006/relationships" id="260" r:id="Rad5b86ef32d84b9d"/>
    <p:sldId xmlns:r="http://schemas.openxmlformats.org/officeDocument/2006/relationships" id="261" r:id="R87c40f739f864d70"/>
    <p:sldId xmlns:r="http://schemas.openxmlformats.org/officeDocument/2006/relationships" id="262" r:id="Rf924c3a86386453e"/>
    <p:sldId xmlns:r="http://schemas.openxmlformats.org/officeDocument/2006/relationships" id="263" r:id="R15f42bfb8cf24fb0"/>
    <p:sldId xmlns:r="http://schemas.openxmlformats.org/officeDocument/2006/relationships" id="264" r:id="Rb4252be88cdf43ca"/>
    <p:sldId xmlns:r="http://schemas.openxmlformats.org/officeDocument/2006/relationships" id="265" r:id="Rfdfb0c6a178f488b"/>
    <p:sldId xmlns:r="http://schemas.openxmlformats.org/officeDocument/2006/relationships" id="266" r:id="R5a1833c8ac264a4b"/>
    <p:sldId xmlns:r="http://schemas.openxmlformats.org/officeDocument/2006/relationships" id="267" r:id="Rc24b92ab245d461a"/>
    <p:sldId xmlns:r="http://schemas.openxmlformats.org/officeDocument/2006/relationships" id="268" r:id="R2eada5c5c40840a2"/>
    <p:sldId xmlns:r="http://schemas.openxmlformats.org/officeDocument/2006/relationships" id="269" r:id="Rf18d40cb347649cd"/>
    <p:sldId xmlns:r="http://schemas.openxmlformats.org/officeDocument/2006/relationships" id="270" r:id="R2d574c72404e47d9"/>
    <p:sldId xmlns:r="http://schemas.openxmlformats.org/officeDocument/2006/relationships" id="271" r:id="R0b23aef9006b4e43"/>
    <p:sldId xmlns:r="http://schemas.openxmlformats.org/officeDocument/2006/relationships" id="272" r:id="R1331d508262e40f3"/>
    <p:sldId xmlns:r="http://schemas.openxmlformats.org/officeDocument/2006/relationships" id="273" r:id="R5e398a9873244ade"/>
    <p:sldId xmlns:r="http://schemas.openxmlformats.org/officeDocument/2006/relationships" id="274" r:id="R35458251397b448d"/>
    <p:sldId xmlns:r="http://schemas.openxmlformats.org/officeDocument/2006/relationships" id="275" r:id="R8d3c9974d1084f16"/>
    <p:sldId xmlns:r="http://schemas.openxmlformats.org/officeDocument/2006/relationships" id="276" r:id="R66d64e6285cd4221"/>
    <p:sldId xmlns:r="http://schemas.openxmlformats.org/officeDocument/2006/relationships" id="277" r:id="Rf33ebcb6b3784084"/>
    <p:sldId xmlns:r="http://schemas.openxmlformats.org/officeDocument/2006/relationships" id="278" r:id="R0a9710c5ce8c490d"/>
    <p:sldId xmlns:r="http://schemas.openxmlformats.org/officeDocument/2006/relationships" id="279" r:id="Ra74b9cc35bee43d4"/>
    <p:sldId xmlns:r="http://schemas.openxmlformats.org/officeDocument/2006/relationships" id="280" r:id="R2f44890f17714b47"/>
    <p:sldId xmlns:r="http://schemas.openxmlformats.org/officeDocument/2006/relationships" id="281" r:id="Re2f6a61b0a7a4c68"/>
    <p:sldId xmlns:r="http://schemas.openxmlformats.org/officeDocument/2006/relationships" id="282" r:id="R74fba23098744580"/>
    <p:sldId xmlns:r="http://schemas.openxmlformats.org/officeDocument/2006/relationships" id="283" r:id="Rdf35913d4e014951"/>
    <p:sldId xmlns:r="http://schemas.openxmlformats.org/officeDocument/2006/relationships" id="284" r:id="R2f261b75ffe8415d"/>
    <p:sldId xmlns:r="http://schemas.openxmlformats.org/officeDocument/2006/relationships" id="285" r:id="R403c24d4b2bf4849"/>
    <p:sldId xmlns:r="http://schemas.openxmlformats.org/officeDocument/2006/relationships" id="286" r:id="R7a13c78473d046fa"/>
    <p:sldId xmlns:r="http://schemas.openxmlformats.org/officeDocument/2006/relationships" id="287" r:id="Rc5de214b3d3c476e"/>
    <p:sldId xmlns:r="http://schemas.openxmlformats.org/officeDocument/2006/relationships" id="288" r:id="R9608f48bb5ff4752"/>
    <p:sldId xmlns:r="http://schemas.openxmlformats.org/officeDocument/2006/relationships" id="289" r:id="R204e60cb34ca4175"/>
    <p:sldId xmlns:r="http://schemas.openxmlformats.org/officeDocument/2006/relationships" id="290" r:id="R804f65a80c1447ff"/>
    <p:sldId xmlns:r="http://schemas.openxmlformats.org/officeDocument/2006/relationships" id="291" r:id="R06cc6e834db84284"/>
    <p:sldId xmlns:r="http://schemas.openxmlformats.org/officeDocument/2006/relationships" id="292" r:id="R9f54d63b890c412e"/>
    <p:sldId xmlns:r="http://schemas.openxmlformats.org/officeDocument/2006/relationships" id="293" r:id="R7ed6511e1b5a45a7"/>
    <p:sldId xmlns:r="http://schemas.openxmlformats.org/officeDocument/2006/relationships" id="294" r:id="R374784f4828a45c6"/>
    <p:sldId xmlns:r="http://schemas.openxmlformats.org/officeDocument/2006/relationships" id="295" r:id="R05b1e2ad13d24bb5"/>
    <p:sldId xmlns:r="http://schemas.openxmlformats.org/officeDocument/2006/relationships" id="296" r:id="R094a639d6e18487f"/>
    <p:sldId xmlns:r="http://schemas.openxmlformats.org/officeDocument/2006/relationships" id="297" r:id="R29cbd52518894bcf"/>
    <p:sldId xmlns:r="http://schemas.openxmlformats.org/officeDocument/2006/relationships" id="298" r:id="Ra918ada09f0046b7"/>
    <p:sldId xmlns:r="http://schemas.openxmlformats.org/officeDocument/2006/relationships" id="299" r:id="R26490cd1dd9a4bdb"/>
    <p:sldId xmlns:r="http://schemas.openxmlformats.org/officeDocument/2006/relationships" id="300" r:id="Re37dfc790d6949a9"/>
    <p:sldId xmlns:r="http://schemas.openxmlformats.org/officeDocument/2006/relationships" id="301" r:id="R5ee9c0315f0848e2"/>
    <p:sldId xmlns:r="http://schemas.openxmlformats.org/officeDocument/2006/relationships" id="302" r:id="R19ac1708920a445c"/>
    <p:sldId xmlns:r="http://schemas.openxmlformats.org/officeDocument/2006/relationships" id="303" r:id="Rdf9f1d01138d4ddd"/>
    <p:sldId xmlns:r="http://schemas.openxmlformats.org/officeDocument/2006/relationships" id="304" r:id="R74b9771f39664301"/>
    <p:sldId xmlns:r="http://schemas.openxmlformats.org/officeDocument/2006/relationships" id="305" r:id="Rc612e2b0cfd74f1f"/>
    <p:sldId xmlns:r="http://schemas.openxmlformats.org/officeDocument/2006/relationships" id="306" r:id="R218c45a175054c2d"/>
    <p:sldId xmlns:r="http://schemas.openxmlformats.org/officeDocument/2006/relationships" id="307" r:id="R760437da32774e2a"/>
    <p:sldId xmlns:r="http://schemas.openxmlformats.org/officeDocument/2006/relationships" id="308" r:id="Rbe257bb743f1432b"/>
    <p:sldId xmlns:r="http://schemas.openxmlformats.org/officeDocument/2006/relationships" id="309" r:id="R399f3de682574297"/>
    <p:sldId xmlns:r="http://schemas.openxmlformats.org/officeDocument/2006/relationships" id="310" r:id="R2668a60d313344be"/>
    <p:sldId xmlns:r="http://schemas.openxmlformats.org/officeDocument/2006/relationships" id="311" r:id="R4f122d6470d24fa1"/>
    <p:sldId xmlns:r="http://schemas.openxmlformats.org/officeDocument/2006/relationships" id="312" r:id="Raedef63e694a45fc"/>
    <p:sldId xmlns:r="http://schemas.openxmlformats.org/officeDocument/2006/relationships" id="313" r:id="Rcd633226871c4a38"/>
    <p:sldId xmlns:r="http://schemas.openxmlformats.org/officeDocument/2006/relationships" id="314" r:id="R95f0b0b47a6041e2"/>
    <p:sldId xmlns:r="http://schemas.openxmlformats.org/officeDocument/2006/relationships" id="315" r:id="R915467f715624aa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293119a25bd42c0"/><Relationship Type="http://schemas.openxmlformats.org/officeDocument/2006/relationships/slideMaster" Target="/ppt/slideMasters/slideMaster1.xml" Id="Rb810dbeeb6f54473"/><Relationship Type="http://schemas.openxmlformats.org/officeDocument/2006/relationships/presProps" Target="/ppt/presProps.xml" Id="R99326fe364a3403e"/><Relationship Type="http://schemas.openxmlformats.org/officeDocument/2006/relationships/tableStyles" Target="/ppt/tableStyles.xml" Id="Rd858b27b77aa41bb"/><Relationship Type="http://schemas.openxmlformats.org/officeDocument/2006/relationships/slide" Target="/ppt/slides/slide1.xml" Id="Radd19b1cf5414a98"/><Relationship Type="http://schemas.openxmlformats.org/officeDocument/2006/relationships/slide" Target="/ppt/slides/slide2.xml" Id="R78a8deac8fd04dcc"/><Relationship Type="http://schemas.openxmlformats.org/officeDocument/2006/relationships/slide" Target="/ppt/slides/slide3.xml" Id="Rac288eb2241a4833"/><Relationship Type="http://schemas.openxmlformats.org/officeDocument/2006/relationships/slide" Target="/ppt/slides/slide4.xml" Id="Rda6d49f51463423d"/><Relationship Type="http://schemas.openxmlformats.org/officeDocument/2006/relationships/slide" Target="/ppt/slides/slide5.xml" Id="Rad5b86ef32d84b9d"/><Relationship Type="http://schemas.openxmlformats.org/officeDocument/2006/relationships/slide" Target="/ppt/slides/slide6.xml" Id="R87c40f739f864d70"/><Relationship Type="http://schemas.openxmlformats.org/officeDocument/2006/relationships/slide" Target="/ppt/slides/slide7.xml" Id="Rf924c3a86386453e"/><Relationship Type="http://schemas.openxmlformats.org/officeDocument/2006/relationships/slide" Target="/ppt/slides/slide8.xml" Id="R15f42bfb8cf24fb0"/><Relationship Type="http://schemas.openxmlformats.org/officeDocument/2006/relationships/slide" Target="/ppt/slides/slide9.xml" Id="Rb4252be88cdf43ca"/><Relationship Type="http://schemas.openxmlformats.org/officeDocument/2006/relationships/slide" Target="/ppt/slides/slide10.xml" Id="Rfdfb0c6a178f488b"/><Relationship Type="http://schemas.openxmlformats.org/officeDocument/2006/relationships/slide" Target="/ppt/slides/slide11.xml" Id="R5a1833c8ac264a4b"/><Relationship Type="http://schemas.openxmlformats.org/officeDocument/2006/relationships/slide" Target="/ppt/slides/slide12.xml" Id="Rc24b92ab245d461a"/><Relationship Type="http://schemas.openxmlformats.org/officeDocument/2006/relationships/slide" Target="/ppt/slides/slide13.xml" Id="R2eada5c5c40840a2"/><Relationship Type="http://schemas.openxmlformats.org/officeDocument/2006/relationships/slide" Target="/ppt/slides/slide14.xml" Id="Rf18d40cb347649cd"/><Relationship Type="http://schemas.openxmlformats.org/officeDocument/2006/relationships/slide" Target="/ppt/slides/slide15.xml" Id="R2d574c72404e47d9"/><Relationship Type="http://schemas.openxmlformats.org/officeDocument/2006/relationships/slide" Target="/ppt/slides/slide16.xml" Id="R0b23aef9006b4e43"/><Relationship Type="http://schemas.openxmlformats.org/officeDocument/2006/relationships/slide" Target="/ppt/slides/slide17.xml" Id="R1331d508262e40f3"/><Relationship Type="http://schemas.openxmlformats.org/officeDocument/2006/relationships/slide" Target="/ppt/slides/slide18.xml" Id="R5e398a9873244ade"/><Relationship Type="http://schemas.openxmlformats.org/officeDocument/2006/relationships/slide" Target="/ppt/slides/slide19.xml" Id="R35458251397b448d"/><Relationship Type="http://schemas.openxmlformats.org/officeDocument/2006/relationships/slide" Target="/ppt/slides/slide20.xml" Id="R8d3c9974d1084f16"/><Relationship Type="http://schemas.openxmlformats.org/officeDocument/2006/relationships/slide" Target="/ppt/slides/slide21.xml" Id="R66d64e6285cd4221"/><Relationship Type="http://schemas.openxmlformats.org/officeDocument/2006/relationships/slide" Target="/ppt/slides/slide22.xml" Id="Rf33ebcb6b3784084"/><Relationship Type="http://schemas.openxmlformats.org/officeDocument/2006/relationships/slide" Target="/ppt/slides/slide23.xml" Id="R0a9710c5ce8c490d"/><Relationship Type="http://schemas.openxmlformats.org/officeDocument/2006/relationships/slide" Target="/ppt/slides/slide24.xml" Id="Ra74b9cc35bee43d4"/><Relationship Type="http://schemas.openxmlformats.org/officeDocument/2006/relationships/slide" Target="/ppt/slides/slide25.xml" Id="R2f44890f17714b47"/><Relationship Type="http://schemas.openxmlformats.org/officeDocument/2006/relationships/slide" Target="/ppt/slides/slide26.xml" Id="Re2f6a61b0a7a4c68"/><Relationship Type="http://schemas.openxmlformats.org/officeDocument/2006/relationships/slide" Target="/ppt/slides/slide27.xml" Id="R74fba23098744580"/><Relationship Type="http://schemas.openxmlformats.org/officeDocument/2006/relationships/slide" Target="/ppt/slides/slide28.xml" Id="Rdf35913d4e014951"/><Relationship Type="http://schemas.openxmlformats.org/officeDocument/2006/relationships/slide" Target="/ppt/slides/slide29.xml" Id="R2f261b75ffe8415d"/><Relationship Type="http://schemas.openxmlformats.org/officeDocument/2006/relationships/slide" Target="/ppt/slides/slide30.xml" Id="R403c24d4b2bf4849"/><Relationship Type="http://schemas.openxmlformats.org/officeDocument/2006/relationships/slide" Target="/ppt/slides/slide31.xml" Id="R7a13c78473d046fa"/><Relationship Type="http://schemas.openxmlformats.org/officeDocument/2006/relationships/slide" Target="/ppt/slides/slide32.xml" Id="Rc5de214b3d3c476e"/><Relationship Type="http://schemas.openxmlformats.org/officeDocument/2006/relationships/slide" Target="/ppt/slides/slide33.xml" Id="R9608f48bb5ff4752"/><Relationship Type="http://schemas.openxmlformats.org/officeDocument/2006/relationships/slide" Target="/ppt/slides/slide34.xml" Id="R204e60cb34ca4175"/><Relationship Type="http://schemas.openxmlformats.org/officeDocument/2006/relationships/slide" Target="/ppt/slides/slide35.xml" Id="R804f65a80c1447ff"/><Relationship Type="http://schemas.openxmlformats.org/officeDocument/2006/relationships/slide" Target="/ppt/slides/slide36.xml" Id="R06cc6e834db84284"/><Relationship Type="http://schemas.openxmlformats.org/officeDocument/2006/relationships/slide" Target="/ppt/slides/slide37.xml" Id="R9f54d63b890c412e"/><Relationship Type="http://schemas.openxmlformats.org/officeDocument/2006/relationships/slide" Target="/ppt/slides/slide38.xml" Id="R7ed6511e1b5a45a7"/><Relationship Type="http://schemas.openxmlformats.org/officeDocument/2006/relationships/slide" Target="/ppt/slides/slide39.xml" Id="R374784f4828a45c6"/><Relationship Type="http://schemas.openxmlformats.org/officeDocument/2006/relationships/slide" Target="/ppt/slides/slide40.xml" Id="R05b1e2ad13d24bb5"/><Relationship Type="http://schemas.openxmlformats.org/officeDocument/2006/relationships/slide" Target="/ppt/slides/slide41.xml" Id="R094a639d6e18487f"/><Relationship Type="http://schemas.openxmlformats.org/officeDocument/2006/relationships/slide" Target="/ppt/slides/slide42.xml" Id="R29cbd52518894bcf"/><Relationship Type="http://schemas.openxmlformats.org/officeDocument/2006/relationships/slide" Target="/ppt/slides/slide43.xml" Id="Ra918ada09f0046b7"/><Relationship Type="http://schemas.openxmlformats.org/officeDocument/2006/relationships/slide" Target="/ppt/slides/slide44.xml" Id="R26490cd1dd9a4bdb"/><Relationship Type="http://schemas.openxmlformats.org/officeDocument/2006/relationships/slide" Target="/ppt/slides/slide45.xml" Id="Re37dfc790d6949a9"/><Relationship Type="http://schemas.openxmlformats.org/officeDocument/2006/relationships/slide" Target="/ppt/slides/slide46.xml" Id="R5ee9c0315f0848e2"/><Relationship Type="http://schemas.openxmlformats.org/officeDocument/2006/relationships/slide" Target="/ppt/slides/slide47.xml" Id="R19ac1708920a445c"/><Relationship Type="http://schemas.openxmlformats.org/officeDocument/2006/relationships/slide" Target="/ppt/slides/slide48.xml" Id="Rdf9f1d01138d4ddd"/><Relationship Type="http://schemas.openxmlformats.org/officeDocument/2006/relationships/slide" Target="/ppt/slides/slide49.xml" Id="R74b9771f39664301"/><Relationship Type="http://schemas.openxmlformats.org/officeDocument/2006/relationships/slide" Target="/ppt/slides/slide50.xml" Id="Rc612e2b0cfd74f1f"/><Relationship Type="http://schemas.openxmlformats.org/officeDocument/2006/relationships/slide" Target="/ppt/slides/slide51.xml" Id="R218c45a175054c2d"/><Relationship Type="http://schemas.openxmlformats.org/officeDocument/2006/relationships/slide" Target="/ppt/slides/slide52.xml" Id="R760437da32774e2a"/><Relationship Type="http://schemas.openxmlformats.org/officeDocument/2006/relationships/slide" Target="/ppt/slides/slide53.xml" Id="Rbe257bb743f1432b"/><Relationship Type="http://schemas.openxmlformats.org/officeDocument/2006/relationships/slide" Target="/ppt/slides/slide54.xml" Id="R399f3de682574297"/><Relationship Type="http://schemas.openxmlformats.org/officeDocument/2006/relationships/slide" Target="/ppt/slides/slide55.xml" Id="R2668a60d313344be"/><Relationship Type="http://schemas.openxmlformats.org/officeDocument/2006/relationships/slide" Target="/ppt/slides/slide56.xml" Id="R4f122d6470d24fa1"/><Relationship Type="http://schemas.openxmlformats.org/officeDocument/2006/relationships/slide" Target="/ppt/slides/slide57.xml" Id="Raedef63e694a45fc"/><Relationship Type="http://schemas.openxmlformats.org/officeDocument/2006/relationships/slide" Target="/ppt/slides/slide58.xml" Id="Rcd633226871c4a38"/><Relationship Type="http://schemas.openxmlformats.org/officeDocument/2006/relationships/slide" Target="/ppt/slides/slide59.xml" Id="R95f0b0b47a6041e2"/><Relationship Type="http://schemas.openxmlformats.org/officeDocument/2006/relationships/slide" Target="/ppt/slides/slide60.xml" Id="R915467f715624aa8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09373e195ae4d2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a79a39ec19874eb7"/><Relationship Type="http://schemas.openxmlformats.org/officeDocument/2006/relationships/slideLayout" Target="/ppt/slideLayouts/slideLayout1.xml" Id="R984b71b58760465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4b71b5876046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7c0e3d3ce7448f9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53434affff74f8e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2505bb2028141f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cc1e09db7934d2a"/><Relationship Type="http://schemas.openxmlformats.org/officeDocument/2006/relationships/hyperlink" Target="https://sec.gov/Archives/edgar/data/1807846/000121390025016783/ea023197301ex99-1_money.htm" TargetMode="External" Id="R0e129fc99a8c4ea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c1b3efa97c04c3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505279d8cb34a52"/><Relationship Type="http://schemas.openxmlformats.org/officeDocument/2006/relationships/hyperlink" Target="https://federalreserve.gov/newsevents/pressreleases/other20260513a.htm" TargetMode="External" Id="Rf3392725bc8a47d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2a779f0a11347fa"/><Relationship Type="http://schemas.openxmlformats.org/officeDocument/2006/relationships/hyperlink" Target="https://moneylion.com/referrals-terms-and-conditions" TargetMode="External" Id="Rd94b91a1a7624af9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8e545676e8f4be4"/><Relationship Type="http://schemas.openxmlformats.org/officeDocument/2006/relationships/hyperlink" Target="https://moneylion.com/membership" TargetMode="External" Id="R585685c8a02b47d8"/><Relationship Type="http://schemas.openxmlformats.org/officeDocument/2006/relationships/hyperlink" Target="https://help.chime.com/how-does-my-friends-chime-referral-link-work-5bb2ea50" TargetMode="External" Id="Rda0189e67dc24a24"/><Relationship Type="http://schemas.openxmlformats.org/officeDocument/2006/relationships/hyperlink" Target="https://rakuten.com/help" TargetMode="External" Id="R291ea92acec841e1"/><Relationship Type="http://schemas.openxmlformats.org/officeDocument/2006/relationships/hyperlink" Target="https://help.ibotta.com" TargetMode="External" Id="Rdf26b3c8b30040d1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50557be342048fc"/><Relationship Type="http://schemas.openxmlformats.org/officeDocument/2006/relationships/hyperlink" Target="https://aboutamazon.com/news/retail/prime-membership-shopping-benefits" TargetMode="External" Id="Rbb4f42b4e73d4b90"/><Relationship Type="http://schemas.openxmlformats.org/officeDocument/2006/relationships/hyperlink" Target="https://spotify.com/us/premium" TargetMode="External" Id="Rb1c25c39573943b7"/><Relationship Type="http://schemas.openxmlformats.org/officeDocument/2006/relationships/hyperlink" Target="https://costco.com/f/-/executive-rewards" TargetMode="External" Id="Re605712537824cd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a6e91a50e644aa3"/><Relationship Type="http://schemas.openxmlformats.org/officeDocument/2006/relationships/hyperlink" Target="https://help.dropbox.com/storage-space/earn-space-referring-friends" TargetMode="External" Id="R6aac9233a5ed49b4"/><Relationship Type="http://schemas.openxmlformats.org/officeDocument/2006/relationships/hyperlink" Target="https://help.chime.com" TargetMode="External" Id="Rcbfdb8e7bb304b16"/><Relationship Type="http://schemas.openxmlformats.org/officeDocument/2006/relationships/hyperlink" Target="https://rakuten.com/help/article/referafriend-program-faq-115009160427" TargetMode="External" Id="Ra481011b96334ee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fb201853944c0f"/><Relationship Type="http://schemas.openxmlformats.org/officeDocument/2006/relationships/hyperlink" Target="https://blueland.com/collections/refills" TargetMode="External" Id="Rcd48b67375a54734"/><Relationship Type="http://schemas.openxmlformats.org/officeDocument/2006/relationships/hyperlink" Target="https://dollarshaveclub.com" TargetMode="External" Id="Ra2440a409cb24bc1"/><Relationship Type="http://schemas.openxmlformats.org/officeDocument/2006/relationships/hyperlink" Target="https://bombas.com" TargetMode="External" Id="Rb70604040b0247e1"/><Relationship Type="http://schemas.openxmlformats.org/officeDocument/2006/relationships/hyperlink" Target="https://allbirds.com" TargetMode="External" Id="Rf2209f2655374c06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74762cf26884790"/><Relationship Type="http://schemas.openxmlformats.org/officeDocument/2006/relationships/hyperlink" Target="https://moneylion.com/membership" TargetMode="External" Id="R9966c561c2ab4424"/><Relationship Type="http://schemas.openxmlformats.org/officeDocument/2006/relationships/hyperlink" Target="https://moneylion.com/referrals-terms-and-conditions" TargetMode="External" Id="R61b505332fad4ef9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b9f60138b0b497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50762090b87479c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4b93b12ed0248dc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60edfcbc555479c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a717e1734d74dec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731680b9e0d4c3f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09ef79dd3a1431d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c7a31600f0c4427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a332c79902446ee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4e16208d6124aa1"/><Relationship Type="http://schemas.openxmlformats.org/officeDocument/2006/relationships/hyperlink" Target="https://docs.stripe.com/webhooks" TargetMode="External" Id="R26898ef77a534e16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1eac28932464681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01c8ea362894030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706895be5304b3f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251020b58054b07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5fdae8a20934ec6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eda05df842c449e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9d985da2c034aec"/><Relationship Type="http://schemas.openxmlformats.org/officeDocument/2006/relationships/hyperlink" Target="https://moneylion.com/referrals-terms-and-conditions" TargetMode="External" Id="R6f0c8eecded24758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82bf820b10b466f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941d4889f7a4ac2"/><Relationship Type="http://schemas.openxmlformats.org/officeDocument/2006/relationships/hyperlink" Target="https://plaid.com/docs/api/products/transactions" TargetMode="External" Id="R6b78f2863c194374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aee22b0f6d54ed9"/><Relationship Type="http://schemas.openxmlformats.org/officeDocument/2006/relationships/hyperlink" Target="https://plaid.com/docs/api/products/transactions" TargetMode="External" Id="Rf2579ce97795451f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6b9484b96bc4b3f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e19eba03596432c"/><Relationship Type="http://schemas.openxmlformats.org/officeDocument/2006/relationships/hyperlink" Target="https://docs.stripe.com/webhooks" TargetMode="External" Id="R1217076fec66451f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4c84aec4e9f4279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57b3016c02e4985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1479cac99244817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b75a9a0455e4aa5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6aa6553a34f421d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e860ba5acfd4e0a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4674ac9e3eb475a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6fefe797a543af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12e61c014d34f15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8529eb748454f23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203f19d3b464e09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1a383acd92a4f3b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45e4fc9831947d9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cb8bf3695fb4d0c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e477d72a1bc4562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ce066df2f844dbf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35b632d47b24083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9ea556537984b2d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4d810768d11489b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37fda5218a14fa9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d33b3a005514756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8149d844e3d4ac3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105d3b7926f4f56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ec1829b45fd4f23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96a8d2ba61d4cd9"/><Relationship Type="http://schemas.openxmlformats.org/officeDocument/2006/relationships/chart" Target="/ppt/slides/charts/chart1.xml" Id="R47a6ef9cff204a0d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54281b1092f4ca5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Launch cohort</c:v>
          </c:tx>
          <c:spPr>
            <a:ln xmlns:a="http://schemas.openxmlformats.org/drawingml/2006/main" w="38100">
              <a:solidFill>
                <a:srgbClr val="8393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3939B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</c:v>
                </c:pt>
                <c:pt idx="1">
                  <c:v>0.65</c:v>
                </c:pt>
                <c:pt idx="2">
                  <c:v>0.48</c:v>
                </c:pt>
                <c:pt idx="3">
                  <c:v>0.4</c:v>
                </c:pt>
              </c:numCache>
            </c:numRef>
          </c:val>
        </c:ser>
        <c:ser>
          <c:idx val="1"/>
          <c:order val="1"/>
          <c:tx>
            <c:v>Later cohort</c:v>
          </c:tx>
          <c:spPr>
            <a:ln xmlns:a="http://schemas.openxmlformats.org/drawingml/2006/main" w="38100">
              <a:solidFill>
                <a:srgbClr val="007B64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B64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1</c:v>
                </c:pt>
                <c:pt idx="1">
                  <c:v>0.82</c:v>
                </c:pt>
                <c:pt idx="2">
                  <c:v>0.74</c:v>
                </c:pt>
                <c:pt idx="3">
                  <c:v>0.7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DE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AFC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32B36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BBCA2-64A6-45E6-BFE4-A97AF3F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F933F-45FA-47A3-B63A-CBD1075C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A1472-5E3A-4D0B-9865-7BBF72B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01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CD410-92B9-471D-ADEC-BD1E7D8D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WOW membership worth renewing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6398-A01A-4EB6-A2AA-D17C51A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Product strategy and proposed experience, prepared by Priyam Sameer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BA501-6F96-4525-B4E5-B195C77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CBE92-1D8D-4688-83C7-B74797E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81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Make WOW worth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renewing every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FC76-14CB-4F8F-A4AB-1B56A5C9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BET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006A3-C3F5-4A75-914B-33751B62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Merchant-funded cashback on purchases members already planned.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072C5-5C41-4525-96EB-83A7DD6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661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BET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989F5-85CE-42BF-8374-3DD9F72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57900"/>
            <a:ext cx="661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cash-flow companion that makes savings relevant and shows the value received.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3899B-5D57-4AEA-988B-8AFF28D5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285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Priyam Sameer,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47986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EDEB6-0EA0-49E9-907D-659334A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9F72-D840-44F0-9C42-82560B4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60FBC-41A2-41C9-AD71-41D59F9D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29114-D4C3-4106-B517-F2F8FCD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executive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63E4A-F186-4EC0-B5A1-8FFAA69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fund a staged test of recurring member value at the case price of $9.99/month.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5627B-304E-4FE9-95D9-0028DC7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proposition fails if rewards need extra spending, recurring subsidies, or cancellation friction to retain members.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EAB60-2049-4CE2-8959-88E86B12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62625"/>
                <a:gridCol w="5591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required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priority bets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cashback creates measurable value. A companion improves relevance and exposes weak value before renewal.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retention and member net value improve versus current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selective first audience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members with planned purchases and usable offers reduce the need to buy traffic before proving fulfillment.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category coverage, payout reliability and voluntary renewal.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as a release gate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base model yields $7.15 monthly contribution, yet only $0.09 member advantage over a free 3% alternative.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 incremental member value without subsidizing every order.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Staged funding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release $160k first, with a six-month envelope of $980k subject to gates.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Finance, Partnerships, Risk and Engineering sign off before each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599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9C6C8-1F45-462C-9E37-F109C5A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79278-50CB-45A5-9968-E1E40D75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3700-8684-4B01-B0EA-44C2FB9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DAE04-0658-4D67-A345-0C07C10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assignment and the reading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7A278-DDC3-422D-8F8A-30FAFCE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MoneyLion’s mission is to empower Americans to make their best money decisions through highly personalized, data-driven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39D79-4B56-47BB-B47C-B6E8097B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Discussion checkpoints: slides 17, 24, 25, 44 and 60. Each decision includes its evidence, owner and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410B0-BB27-4758-834D-0EA6ABD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428750"/>
                <a:gridCol w="81153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Slides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Leadership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Executive summary and problem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1-5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recurring value can justify $9.99?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Market, competitors and audit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6-14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does the current proposition fall short?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Strategy, personas and flows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15-34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two bets deserve a controlled test?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and product design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35-54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the product work for all three participants?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GTM and evidence for scale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55-60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evidence releases the next investment?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223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DFC19-ABA6-4445-933D-0C8F6B4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5379C-C4D5-40E5-8496-A9D09ED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7FD16-E89B-4FC3-B583-A692C44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433A9-7734-4209-A386-9D8B2FA5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MoneyLion already has several revenue 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14E6B-E3DC-4BC1-BFCE-01703179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FY2024 revenue was approximately $546m, up 29% year over year. This case does not assume a distressed business.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2C9F8-E9FD-4460-94D3-20E0E82D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Internal data needed: WOW revenue, benefits cost, retained contribution and cannibalization by cohort. Public revenue cannot answer these.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42AA4-2E95-42CD-80CA-2F1BD9A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FY2024 results, 25 Feb 2025.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e129fc99a8c4ea9"/>
              </a:rPr>
              <a:t>sec.gov/Archives/edgar/data/1807846/000121390025016783/ea023197301ex99-1_money.htm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Product monetization categories are analytical framing.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286375"/>
                <a:gridCol w="6019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engine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can create revenue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WOW decision must account for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access fees fund benefits and service delivery.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collection after refunds and processing, plus retention at a constant price.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Marketplace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 pay for qualifying financial-product outcomes.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partner demand, acquisition costs and displaced existing commissions.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 movement and accounts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product fees and contracted card economics can support the ecosystem.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net revenue after partner shares, losses and servicing. No assumed interchange windfall.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Enterprise distribution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B2B capabilities can distribute offers beyond the consumer app.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Different economics and customers. Do not attribute enterprise revenue to WOW.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03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8487C-01E8-40D9-9334-123793B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907CD-2BEA-451A-B82F-407430F9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BB1BB-8F7F-4DC3-8E2C-692A533D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3BAFC-75FB-45BA-B8E7-705BF98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subscription needs an economic reason to exist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0013F-6512-4D91-B1FA-32FF50D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the proposed service costs $3.90 per member/month before displaced legacy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F99BF-79BB-411A-A61C-A776094F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Subscription is conditional on superior recurring value. A cheaper free experience remains a valid alternative if this condition fails.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FFEC7-AFB1-4A18-9234-A28AFB3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715000"/>
                <a:gridCol w="535305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counterfactual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Free, same service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orders × $3.50 order contribution − $3.90 service cost = −$0.75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assumed offer margin alone does not fund the full service.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at $9.99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collected fee $9.40 − $0.75 = $8.65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fees fund service availability between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displaced legacy margin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$8.65 − $1.50 = 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is an economic contribution measure before fixed costs and CAC.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counterfactual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$11.70 cashback − $9.99 fee = $1.71 cash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Against a free 3% reward alternative, the assumed advantage falls to $0.09.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885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F48E6-E0BD-4324-AB88-E88713A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9E8B2-7C79-439D-A0A3-D4ED72D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B2C5C-0B74-4B10-94D9-3ABEA28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B124-0B68-4DF6-A0CC-3CA06FD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 household resilience is mixed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BBFF1-4F56-4EED-B008-2A30EE7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2025 Federal Reserve SHED survey provides context, not a profile of MoneyLion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5CBE-493E-4713-B08A-96AB220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Macro conditions support testing useful savings. They do not prove that a paid cashback membership is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FEC10-39A4-48BA-BFC8-70A36B79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Federal Reserve, 2025 SHED, published 13 May 2026.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3392725bc8a47d6"/>
              </a:rPr>
              <a:t>federalreserve.gov/newsevents/pressreleases/other20260513a.htm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632A0-236D-4057-860F-F2D67B0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E0AF-6D64-4D30-935E-E984B38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Would cover a $400 emergency with cash or its equivalent.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64561-1B0F-4584-838E-C4F61CA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73%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489F9-BB3F-4CBC-AA9D-8EBC78E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Reported doing okay or living comfortably financially.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12456-6212-4E18-96A4-29A8A3A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Product implication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3198D-D26B-4DED-879A-3468453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recurring $9.99 charge must justify itself. A large reward that requires an unnecessary purchase can worsen the household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3EAB1-785A-4DB6-8453-A2AE6FD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624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Commercial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330BD-B140-4312-A82D-1FD930C5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merchants under acquisition pressure may welcome qualified demand, but weaker household purchasing power can also reduce conversion and partner budgets.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7EE8E-1B98-451B-A3A0-0C9882A4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00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Validation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C2FB7-9A79-4770-AA03-079A606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10275"/>
            <a:ext cx="7429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Recruit across income stability and spending needs. Do not infer MoneyLion defaults or a target market size from national survey averages.</a:t>
            </a:r>
          </a:p>
        </p:txBody>
      </p:sp>
    </p:spTree>
    <p:extLst>
      <p:ext uri="{BB962C8B-B14F-4D97-AF65-F5344CB8AC3E}">
        <p14:creationId xmlns:p14="http://schemas.microsoft.com/office/powerpoint/2010/main" val="700021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29C1B-94FA-44DB-89C9-50ACC1A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ACC4E-DD22-4770-A6AA-9A7347A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F1522-B7F8-446C-AE00-D024AB8B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A57A1-B56D-4D2E-8BF1-21E49983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current referral program rewards banking activation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43B9-BDAE-4D09-8C23-80B6D82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Published terms describe a targeted invitation program. It is separate from the proposed WOW referral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0DE6F-8C1A-408D-9BDA-E4B6690F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WOW referral test needs its own approved eligibility, stacking rules, funding and measurement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25D71-5BEA-465C-8D26-19FB2FFE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94b91a1a7624af9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67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191250"/>
                <a:gridCol w="5353050"/>
              </a:tblGrid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Published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requirement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 for the redesign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reward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 for each participant after the new user registers with a valid code and opens MoneyLion Spend.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 clear shared value, but measure downstream paid WOW retention separately.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Further reward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$50 each after payroll switch and two eligible deposits of at least $100 within 60 days.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Qualification can span pay cycles. Show completed and remaining steps.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timing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rewards generally arrive within 14 days after qualifying actions, subject to terms and delays.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qualification time from processing time in the dashboard.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audience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Code entry is required. Existing or former users are excluded. Personal, non-commercial relationships apply.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silently reuse these terms for influencers, public leaderboards or a new paid-membership incentive.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82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9565F-F4DB-4579-BF5D-E677C15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0080-3EA8-4261-A50C-B8FFE37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54B52-9EB7-46C0-A8A3-D040795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E63C0-0D31-4AD7-A207-56A9F38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Free alternatives set a high bar for paid cashback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5BFDA-FA85-4DDF-892D-CD3A71EC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Comparison of public mechanics. No internal conversion, margin or retention benchmark is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304E3-2F10-4B28-A8C8-072165C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Positioning hypothesis: WOW can win through relevant, repeatable savings plus financial context. More offers alone are insufficient.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CBBA8-F72C-4827-A062-7EC7AC8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85685c8a02b47d8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a0189e67dc24a24"/>
              </a:rPr>
              <a:t>help.chime.com/how-does-my-friends-chime-referral-link-work-5bb2ea50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91ea92acec841e1"/>
              </a:rPr>
              <a:t>rakuten.com/help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f26b3c8b30040d1"/>
              </a:rPr>
              <a:t>help.ibotta.com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62375"/>
                <a:gridCol w="4667250"/>
                <a:gridCol w="3638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member value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or payout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WOW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membership with selected rewards and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bank referral terms are separate from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incremental paid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Banking relationship and eligible financial features.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requires qualifying deposit and card activation under applicable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useful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cashback through participating merchants.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Qualifying purchase and confirmation underpin rewards. Standard payments are quarterly.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expectations matter.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Ibotta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on eligible shopping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Withdrawal generally requires at least $20 plus other conditions.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Thresholds and fulfillment shape trust.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76A4B-E89B-4849-BAD6-BEFF2F00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C5C76-C529-4CAC-A2B5-1146743E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[chime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B81BB-D354-4C11-B3ED-0F6A3E26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35B60-5F95-4DE2-AA2B-10D1835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[rakuten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E13F0-9FFA-4950-B04B-89FFB9D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426AA-0512-4AE8-82DF-E9917EE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[ibotta logo]</a:t>
            </a:r>
          </a:p>
        </p:txBody>
      </p:sp>
    </p:spTree>
    <p:extLst>
      <p:ext uri="{BB962C8B-B14F-4D97-AF65-F5344CB8AC3E}">
        <p14:creationId xmlns:p14="http://schemas.microsoft.com/office/powerpoint/2010/main" val="1169768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02ABF-7C89-4F8F-BE17-66E56BF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AE8D5-40E8-4F83-8FA2-C747BBF7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D1296-302A-470D-B580-8A10031E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82491-FC9E-42C1-B069-19797ED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memberships make the core benefit repeatable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C333D-4F8B-492B-9F6E-5BE25AA8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useful analogy is the frequency and reliability of value, not the breadth of the bundle.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A1249-F632-4CF6-8635-BAEA122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valuable weekly or monthly money decision can matter more than daily app opens.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B18F6-6B46-4BDD-AC30-6B38723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b4f42b4e73d4b90"/>
              </a:rPr>
              <a:t>aboutamazon.com/news/retail/prime-membership-shopping-benefits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1c25c39573943b7"/>
              </a:rPr>
              <a:t>spotify.com/us/premium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605712537824cdb"/>
              </a:rPr>
              <a:t>costco.com/f/-/executive-rewards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91000"/>
                <a:gridCol w="4476750"/>
                <a:gridCol w="3162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Observable membership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Adaptation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 of analogy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Amazon Prime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Fast, free delivery on eligible purchases and additional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recurring friction in an existing behavior. Make terms visible before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does not control merchant logistics.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Spotify Premium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Ad-free music and offline listening support repeated use.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the main experience consistently useful between occasional large rewards.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should not maximize daily consumption.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Costco Executive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Annual 2% reward on qualified purchases, with exclusions and a cap.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eligible value and a clear calculation. Evaluate spending needed to cover the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Basket size and shopping frequency differ.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90F9-6F89-41E8-8F58-9C34C319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52E3F-EA44-4572-8FDD-33A909C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[amazon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D4ECF-2454-48F4-9BCF-F82B00C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01694-C058-4912-B9A4-34BD6CA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[spotify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1CC3F-EDFA-4559-ABA8-034DCDC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C3F2C-08B0-44EE-A039-DFA52DCA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[costco logo]</a:t>
            </a:r>
          </a:p>
        </p:txBody>
      </p:sp>
    </p:spTree>
    <p:extLst>
      <p:ext uri="{BB962C8B-B14F-4D97-AF65-F5344CB8AC3E}">
        <p14:creationId xmlns:p14="http://schemas.microsoft.com/office/powerpoint/2010/main" val="43186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A1F99-8EBE-4A8A-892F-527422BF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43ADC-CDBC-4BAB-B0C9-5572FAB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B9850-1DA1-4F6A-81D7-47F80EE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46024-344F-45FB-8CC2-85473C10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rewards work best when they reinforce product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14C31-3143-40D4-ACD4-01288DBC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These public examples illustrate design choices. They do not establish a causal growth forecast for WOW.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E262-4E8D-4C93-8F5A-ABA4BBA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Immediate feedback is broadly feasible. Immediate withdrawable money needs a separately funded and controlled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D8DBF-4854-40C3-9A63-0AE1B8FC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aac9233a5ed49b4"/>
              </a:rPr>
              <a:t>help.dropbox.com/storage-space/earn-space-referring-friends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bfdb8e7bb304b16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481011b96334ee9"/>
              </a:rPr>
              <a:t>rakuten.com/help/article/referafriend-program-faq-115009160427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19750"/>
                <a:gridCol w="6067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Mechanic worth learning from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adaptation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Dropbox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storage rewards give value inside the product to the inviter and friend.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 benefit the intended member can use, with an understandable qualifying action.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qualification connects referral acquisition to actual banking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 for verified, incremental membership activation rather than an app install.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status distinguishes invitation, qualification and paid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Expose progress and exceptions so a delay does not look like a broken promise.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WOW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$10 to each side after first paid cycle and a confirmed eligible purchase, with refund checks.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progress feedback. Cash follows validation. Cap rewards and measure referral CAC after organic cannibalization.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7B920-D166-4018-8CEB-F8B8DC00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68CF6-4EA3-4625-9275-4943172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[dropbox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61C02-F99F-45D0-9A2A-B2E0076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36119-A76E-4E52-AD94-53B9906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[chime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08FE9-F25F-40B1-90C8-F11E26FB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69A1F-ABD9-47DC-AE50-C10CC8B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[rakuten logo]</a:t>
            </a:r>
          </a:p>
        </p:txBody>
      </p:sp>
    </p:spTree>
    <p:extLst>
      <p:ext uri="{BB962C8B-B14F-4D97-AF65-F5344CB8AC3E}">
        <p14:creationId xmlns:p14="http://schemas.microsoft.com/office/powerpoint/2010/main" val="1415085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4F626-CDD6-474D-A005-65FAA812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B81A5-ADE1-4660-8F73-F83B5F1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6208D-B2E1-405C-B846-5A85338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B6E98-4555-414C-832B-CD0D711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D2C shortlist must balance acquisition and repeat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4310F-FCC3-4C34-A5FA-A5F800F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Examples for commercial discovery only. No partnership, commission rate or offer availability is assumed.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CEAFF-C545-4182-9630-0C47B42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recruit 8-12 pilot merchants across at least three relevant categories before expanding the audience.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C7FDE-9290-4F4F-937A-874C2D4C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Brand category 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d48b67375a54734"/>
              </a:rPr>
              <a:t>blueland.com/collections/refills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2440a409cb24bc1"/>
              </a:rPr>
              <a:t>dollarshaveclub.com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70604040b0247e1"/>
              </a:rPr>
              <a:t>bombas.com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2209f2655374c06"/>
              </a:rPr>
              <a:t>allbirds.com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Commercial assessment is proposed.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4333875"/>
                <a:gridCol w="4876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Example brand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role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before contracting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Blueland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cleaning refills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replenishment category could support repeat utility.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repeat purchases fund an incremental reward after discounts and shipping?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Dollar Shave Club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Grooming and shaving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need with a possible first-order offer.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the offer create a new subscription obligation the member does not want?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Bombas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Socks and basics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planned replenishment or occasional basket.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contribution support a bounty without an inflated minimum order?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Allbirds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Footwear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Occasional purchase with visible reward potential.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 returns and low purchase frequency affect earned value?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06C0-0C52-40CA-B9C3-CEC27F0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D5A2D-90D6-46CD-849C-316249E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0BF63-CE6B-472F-A065-4E2CB68E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3A7F7-F4A1-46F0-BE0F-A12F8AF6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[allbirds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CBA2A-8265-43D7-A54F-BB4FAB34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96264-B645-4822-9F22-F108DB92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[bombas logo]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6A113-538E-4A00-81F2-01F2090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ADCBC-6195-41FF-B574-56144E97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[dollarshaveclub logo]</a:t>
            </a:r>
          </a:p>
        </p:txBody>
      </p:sp>
    </p:spTree>
    <p:extLst>
      <p:ext uri="{BB962C8B-B14F-4D97-AF65-F5344CB8AC3E}">
        <p14:creationId xmlns:p14="http://schemas.microsoft.com/office/powerpoint/2010/main" val="1773261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2CA02-2B61-4A01-B244-31C4D0A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F1E0-DDD5-4AF4-8529-E179ED01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C410D-DB21-4BC9-9FA3-D6DCBDF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FC23C-7E5F-4C9B-A35A-A3CEB34A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audit separates visible terms from unknown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83248-82F1-4E1E-A040-047DDD5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Public pages establish mechanics. Product analytics and customer research must establish the size of each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E67C5-D5EE-481A-BAEA-70874C0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prioritize fixes after a two-week baseline review. Avoid labeling hypotheses as confirmed MoneyLion defects.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D4E6A-1FB8-40A9-A286-99E3CB30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WOW membership,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966c561c2ab4424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Offer terms vary. 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1b505332fad4ef9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86250"/>
                <a:gridCol w="4238625"/>
                <a:gridCol w="33051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issue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status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fix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delay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cash timing appears in published terms. Actual delay distribution is unknown.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qualification date, expected payment and delay reason.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P50/P90 time and delay contacts.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Weak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existence is public. Member-level value is unknown.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settled value less fees each cycle.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with negative net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drop-off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actions and code dependency are public. Conversion is unknown.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attribution and display remaining steps.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Eligible-step completion by device.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Irrelevant supply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internal coverage audit supplied.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 planned categories and hide ineligible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offer coverage by segment.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603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7B1E4-6D1B-458B-B076-45068B57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12593-1248-485A-943B-A0ABB3E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90054-E312-49FE-B863-FCF48DF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310EA-7223-4413-814C-215AE031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funnel shows where volume can disappear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E871-6DD9-48BD-8EAF-B96340EA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diagnostic example for one acquisition cohort. These are not observed MoneyLion conversion rates.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AAB5A-D7B9-406F-B8E2-B92BC4B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Track D90 paid retention from the original 400, even for non-redeemers. Do not condition retention reporting on successful activation.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A4495-ADF0-4363-9148-B3B4E5C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1428750"/>
                <a:gridCol w="2809875"/>
                <a:gridCol w="535305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Rate from prior step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if weak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users reached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denominator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channel quality and offer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proposition viewed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placement or explain the benefit.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Checkout started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relevance, price and terms comprehension.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payment succeeded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Diagnose payment failure separately from rejection.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reward settled by D30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Investigate purchase intent, tracking and confirmation lag.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663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59FB-0622-448E-BD9B-3AD7C30A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4EF0C-324E-495D-A83E-63E87C03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CCA8-688E-4235-B1A8-A04E12EF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9691F-A09A-4174-B09E-33AC6B3D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Instant rewards require precise language and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DEA6E-F846-4B67-94FF-89099D7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experience should acknowledge progress immediately while stating when money becomes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17AE9-CEB7-4403-865A-172F30A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test early availability only for low-risk orders with a funded reserve. No universal instant-payout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BA0BC-6053-4242-8662-CA22FEC9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810250"/>
                <a:gridCol w="5924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member sees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permits the next 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purchase was reported. Estimated cashback: $13.”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partner event with order and offer IDs.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reward awaits merchant confirmation. Expected review: 15 Oct.”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fulfillment and return checks. Dates follow actual partner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Available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“$13 is ready to withdraw.”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liability with funded payout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or reversed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“Paid to your selected destination” or a specific reversal explanation.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Reconciled payout event, or a documented return/fraud adjustment.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716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B7AB1-0D1F-4C06-9FB4-FCC67DB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631C3-B75A-4A0A-AB9F-2CFBE4B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A50CD-5960-475F-AEDC-8C1B6AEA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EC702-DFAA-41FE-8B44-16E8DEA3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Five potential perks, with two clear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D79F8-16D4-4689-B247-115C92F4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keep the bundle focused. The value statement is shared infrastructure, not a sixth perk.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5812A-2DB5-437B-B665-37800F9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Decision logic: prioritize repeat member value, sustainable contribution and feasible delivery. Referrals support the core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FC33C-A644-4D5B-96EC-C8637FF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 All five entries are proposals.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333750"/>
                <a:gridCol w="4619625"/>
                <a:gridCol w="2638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job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or delivery constraint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Planned-purchase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the cost of an intended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funded, relevant and repeatable merchant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Cash-flow companion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useful savings and understand actual membership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cost, consent, freshness and recommendation quality.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Targeted fee relief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fee the member would otherwise pay.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Foregone revenue and adverse selection can erase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a capped add-on later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Guided credit help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Understand a credit issue and the next action.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access, evidence quality and regulated execution.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Defer automated actions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Referral savings circle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a useful offer and track earned referral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CAC, spam and multi-account abuse.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 controlled growth test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525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24E7-13DB-47F9-B9CE-9905ADE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8B0D-6F31-44DB-AD84-1C6D0DC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A4C59-9E71-49C8-8686-D597EEE2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4B359-3D04-4D97-AB2B-B973594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Validation progresses from need to paid renewal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EDF3A-6EB0-4287-A695-7D0CEC0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sample sizes and sequence. Research and Data finalize recruitment, power and analysis before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7DB1C-DF4B-466D-9081-F7FCA708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waitlist click measures interest. A conjoint survey informs trade-offs. Neither establishes willingness to keep paying.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9D998-EADA-4488-B19E-2667F66C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143625"/>
                <a:gridCol w="5210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design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proceed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 discovery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interviews: 8 retained members, 8 cancellers, 8 eligible non-buyers. Review actual intended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recurring need and credible willingness to pay, including reasons to reject WOW.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proof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8-12 merchant term sheets and a manually curated offer test.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supply, funded payouts and member-relevant categories.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pilot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consenting paying members over at least two billing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tracking, comprehensible terms and reliable fulfillment.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Causal retention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2×2 randomization: current WOW, cashback, companion, both. Analyze all assigned members.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contrast: combined versus current WOW, on D90 retention and contribution.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Power and scope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About 1,600 per arm for 50% versus 55% retention at 80% power and 5% two-sided alpha.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conservative sizing baseline. Recalculate for actual baseline, attrition, clustering and extra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180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260F8-AAD2-4FE1-AAFB-D7744D3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C08BD-72AE-40B3-889F-C47E9E3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4A3EF-83D2-4966-80AD-1014161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17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71A1B-B8CD-4008-B066-953B173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two bets address different causes of weak renewal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2F762-8048-4C15-AECD-78E8207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Hypothesis: cashback creates value, while the companion makes that value easier to find and judge.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3F082-FBA8-4270-8CAB-4E1B0ECF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test each bet separately and together. If the companion adds cost without incremental benefit, keep the simpler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C6F29-66D1-4E69-AE67-E1F5315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629275"/>
                <a:gridCol w="56292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choice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1: selected cashback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2: cash-flow companion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outcome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Receive a confirmed reward on a planned purchase.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relevant opportunity and know whether WOW is worth renewing.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release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Curated catalog, eligibility, tracked order, reward ledger and claims.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goals, next-bill visibility and a settled-value statement.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release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offers, faster funded payouts and merchant budget automation.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Optional bank link, explainable relevance rules and useful reminders.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Causal hypothesis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increases paid retention and member net value.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Companion improves those outcomes beyond cashback alone, after its costs.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Big uncertainty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acquisition bounties become recurring supply?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users value the help enough to justify extra data and service cost?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04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B3777-98EA-47D3-96A5-D4055B1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F3B25-09F5-4623-9503-DA73895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3F9A-51A3-4BF1-9CEA-A199333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66F97-03BE-46DC-85D0-17FB0B3B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high cashback offer has a specific funding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F68B0-ACAF-460C-B379-8B9BDDC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one illustrative $60 eligible order earns a $30 merchant bounty. This is not a negotiated MoneyLion offer.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E69D4-6623-4E2C-9E90-F30D679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50% reward on this order would pay $30 and leave a $2 loss. It requires at least a $35 bounty to preserve a $3 contribution.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BB6F5-91B8-4EF4-B7FF-057A9F2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900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2000250"/>
                <a:gridCol w="76866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exists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pays the merchant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merchant remains responsible for checkout, goods, shipping and returns.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pays MoneyLion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after the contracted acquisition action qualifies and survives validation.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$25.00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41.7% of the eligible order value. Excludes taxes, shipping or other excluded amounts.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Tracking, support and payout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cost attributable to this transaction.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unrecovered loss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 assumption for approved transactions. Normal returns reverse both bounty and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$30.00 − $25.00 − $1.50 − $0.50, before membership costs.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124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2C67D-DD65-4DCF-BA8C-395D7FB5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7868A-C33D-45A6-BCD6-83CB08D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960EF-89A0-4367-84C1-3991241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0E617-17A4-4BA5-8614-47B8A72F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must outperform simpler alternatives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9827-F5EA-4345-8894-9F245F48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compare options against the same member need and full economic cost, including free alternatives.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4756-A3D8-4B1A-A7EA-751A8D6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Fallback: offer direct discounts or free discovery when delayed cashback and paid access do not create enough additional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55A2-79E7-478E-9941-021150FA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619750"/>
                <a:gridCol w="5686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could be better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is not the initial core bet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coupon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price reduction avoids payout waiting and working capital.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may already offer it publicly. Test whether WOW provides incremental access.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Flat 3% cashback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Predictable and easy to explain across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Without sufficient funding, reward costs scale faster than platform revenue.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Card-linked offers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reduce click-out friction and improve in-store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processor/network integrations, merchant identity matching and different commercial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 acquisition bounty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 first reward can offset the fee quickly.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New-customer eligibility and purchase frequency limit recurrence. Use selectively.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Curated repeat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Fits the recurring membership if categories match planned spending.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Chosen hypothesis, contingent on repeat funding, member value and reliable attribution.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624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7C748-4BE3-4EC9-89B3-19EB7EF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A5EF2-F03A-4AF4-8F5C-E4AC5C4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CD067-C59B-4BC9-B501-600F0075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75D33-472D-4A5F-8F1B-59F86B7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profitability decides whether rewards can repeat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D81AB-6A9B-413A-9812-F0F6BF3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order, 55% gross margin, $5 fulfillment/service cost, $30 bounty and 70% incremental acquisition.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61952-D9F1-4B79-8B4E-2808D232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Commercial proof: randomized or matched merchant holdouts, qualified new-customer rate, returns and observed contribution payback.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E7B66-75EA-423D-98FC-2A0F66C0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4429125"/>
                <a:gridCol w="5257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meaning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First-order contribution before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× 55% − $5 = $28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$30 acquisition bounty already exceeds first-order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Incrementality-adjusted first order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 × $28 − $30 = −$10.40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Some rewarded orders would have happened anyway. Attribution is not incrementality.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90-day contribution before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per acquired customer, assumed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purchasing must create enough additional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Adjusted 90-day economics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70% × $60 − $30 = $12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Potentially viable before integration overhead and uncertainty.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Repeat-order contract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smaller bounty or funded percentage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apply a new-customer bounty to every later order in the forecast.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490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D83EA-1EDF-4BEE-9507-291CAB0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E8FE2-3E72-433A-837D-8D2586C0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FE25F-ADC5-46B1-92D0-B1E9D2DB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6E396-1C37-405C-B64A-296D4F18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Partnerships is a core operating function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D15F9-ABCB-4B61-858A-16D6513D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three dedicated partnership roles support the pilot and expansion, with Finance and Operations alongside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DCE2B-46E6-4296-B5A8-0D5F6FD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no merchant supplies more than 25% of expected reward value at scale. Concentration is visible before increasing exposure.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4BE03-CA57-47CD-93F5-4F6D8843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24500"/>
                <a:gridCol w="52101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Ownership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Weekly business review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lead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suitable merchants, negotiate bounty economics and build category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Qualified pipeline, live funded offers and concentration by merchant.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success lead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 repeat funding, refresh offers and resolve operational issues.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ROI, return rate, repeat supply and budget exhaustion.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Integration/commercial operations lead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Align tracking, order status, invoicing, payout terms and contract versions.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Unmatched orders, aged receivables, claim resolution and expired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+ Product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 caps and downside exposure. Rank supply by member value and contribution.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liability, forecast coverage, incrementality and member-value distribution.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0966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29D61-13EC-4D23-94C3-A69E2B4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8E95-F910-4D4E-B0C9-FBEAA2E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FF9B9-C23D-4BDC-9972-CB4F9474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A3A4-7247-48B4-8829-CE4CB56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Payments, attribution and reward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BEFFD-4AC0-47A6-B7EC-D6D79DF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reuse proven MoneyLion services where available. Do not assume a new payment gateway is necessary.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0D972-2CB2-4AC2-85ED-75829DE8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Control: version commercial terms, require approval for money changes and keep partner-level pause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65584-6D76-4ACB-81C5-898BEF6A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Stripe webhook documentation,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6898ef77a534e16"/>
              </a:rPr>
              <a:t>docs.stripe.com/webhooks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Architecture is proposed, not a MoneyLion system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E7626-526B-4DA1-A914-1772939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A6681-EB30-475D-87D5-4CA185E0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A21D6-D26B-4EE6-BA3A-0F8308F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Discovery, consent, activation and claim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35882-56BB-4829-8CF8-167A0DD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F6686-E3B1-4270-B226-9E12153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Attribution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FD996-F8C3-40F5-A0DA-17A807B4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UTM, referral token, activation ID and offer 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CC0E2-690C-4D51-A348-1766DAB6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DE9E1-0838-4EB4-864A-D72A843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Merchant checkout PG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C4C76-26AD-4CD3-9C81-F725F1F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processes the purchase and sends signed order events.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BA951-C158-4671-BB6B-DDE43AB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B9C7C-31B7-492A-9311-5081DE4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Subscription PG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BF6D6-4174-4D2D-8878-CEBF886D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recurring fee payment controls paid entitlement.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583E7-8055-4054-B3B5-9A0BA8F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96E91-CB8B-4984-9995-04358CD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Ledger and payout 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1FE47-26BC-4491-AE00-DE6C78F4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available, reversed and paid money with reconciliation.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2B1C2-DB7B-4954-8FB9-3C8C6EC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CADE4-9B4C-4858-A29A-F2D9996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Business console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6ADE8-39D7-42B1-A2CB-E7C16C27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Terms, budgets, caps, approvals and partner-level kill switches.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7572375" y="4143375"/>
            <a:ext cx="49149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4B8FB-8ACE-43B5-93E5-E32210D0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PG moves money. UTM identifies campaign origin. The merchant contract and validated order determine the reward.</a:t>
            </a:r>
          </a:p>
        </p:txBody>
      </p:sp>
    </p:spTree>
    <p:extLst>
      <p:ext uri="{BB962C8B-B14F-4D97-AF65-F5344CB8AC3E}">
        <p14:creationId xmlns:p14="http://schemas.microsoft.com/office/powerpoint/2010/main" val="3973847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B5EF9-54F0-4976-8BA5-E54A543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0E4A7-45CF-4E4B-A7BE-4354B0ED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40E16-996F-474F-B189-1515A8F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A9532-6520-4CA1-BC5F-1FC55558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Fraud controls should target suspicious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7DBAA-3D23-4A7E-B97D-FA7DE624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apply proportionate checks at reward and payout boundaries, with an appeal route for genuine users.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61FA8-CAF6-42EC-B875-BF2F41CB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pause a partner or flow for a material money-movement defect. Risk owns release criteria and customer remediation.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5ACB2-6F86-413D-A8B1-7429FCF1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905500"/>
                <a:gridCol w="54959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Threat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Detection and prevention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Friction and recovery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or duplicate accounts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verified identity where required, device signals, reused payout destinations and referral graphs.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shared household or device is a risk signal, not automatic fraud proof.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or refunded orders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merchant events, unique order IDs, fulfillment checks and return-state reconciliation.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pending status. Use reasoned reversals and manual claim review.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farms and spam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Velocity limits, self-referral rules, per-member caps and blocked commercial distribution.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address-book upload or automatic bulk messaging. Verify unusual clusters.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 takeover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Reauthenticate sensitive changes and delay high-risk new-destination payouts.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 browsing usable. Provide a supported recovery path.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False positives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a sample of blocked rewards and compare appeal outcomes across segments.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track blocks, overturned appeals, abandonment and fraud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32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A50AC-B009-4B8C-AA0D-2457ACFC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C437E-20F6-484C-ADC3-CA7C1DB3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A7D5-6599-437B-9A07-1304A89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646D0-0834-45E2-AD65-C36E1C99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north star joins retention with realized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8A19B-5FD5-492D-8BB1-6B132FD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north star: the share of an enrolled paid cohort still paid at D90 with positive core net cash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DA65-80B3-44B7-A60C-77E28829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D30 activation = members with ≥1 settled core reward by D30 ÷ all paid starts. Assumption: target ≥40%. Owner: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D1B09-EE0C-4602-B9A0-BEDE3996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953250"/>
                <a:gridCol w="46386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element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Exact 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matters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Numerator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continuously paid through D90 whose settled core rewards + verified fees avoided − membership fees paid &gt; $0.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Joining, clicking or pending rewards cannot satisfy the metric.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Denominator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day-0 enrolled paid member in a cohort that has reached D90.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Non-redeemers, churned members and refunded starts remain visible.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members: randomization date. New members: first successful membership payment.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Analyze separately, stratifying existing members by tenure.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initial pilot goal ≥35%, alongside a ≥5-point D90 retention lift versus control.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planning gate, not a universal product-market-fit benchmark.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320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6FF19-BB3C-4F9D-8E19-3C66706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1CE8-101E-40E6-A08C-B22FF89E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8DC59-B1D8-4354-B6CF-CEFB8D8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25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DEDE-F3D1-4BA0-B82E-3710F06C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Each bet has early signals and a failure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018C1-D7A4-48B3-B0B5-73A4EF5D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gates are provisional. Material consumer harm or money-movement defects trigger immediate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753D-FBF6-4517-851D-72C3502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approve the evidence gates now, including conditions under which we would stop our preferred idea.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24CBB-B442-469C-817C-1365CF0D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81625"/>
                <a:gridCol w="54959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we learn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 success signal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response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fits planned spending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find eligible offers for existing needs and settle a first reward.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relevance is weak, narrow the audience or add supply before promoting.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repeats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Later-cycle rewards and merchant renewals continue after acquisition bounties.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repeat funding fails, move to direct discounts or a free discovery model.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Companion adds value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Randomized companion exposure improves reward use or retention after its costs.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it does not, retain manual preferences and remove expensive data refreshes.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survive real behavior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Positive incremental D90 contribution and credible CAC recovery.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not, renegotiate rewards, remove loss-making offers or stop expansion.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Experience earns trust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 unresolved claims, clear consent and accurate value statements.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Pause affected flows, repay owed rewards and fix the underlying failure.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9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141BD-B9C8-4C76-AF92-DEB20B2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E6F5A-348E-4FBD-B32D-8328239D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11B0D-D470-4B95-AA20-F32C9D7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5BA24-D90F-47D6-93D2-BBC89E1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first audience has planned spending and usable supply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B911-FE88-4EB8-8B13-5F05308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fictional research personas. Demographics provide context, not eligibility rules or credit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776D1-A1A9-4050-937E-32AE4EE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Localized growth: relevant replenishment offers for household groups, clear first-order terms for renters, and optional reminders for variable-income workers.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63A55-EB9D-4D9A-B344-1F121C2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619750"/>
                <a:gridCol w="54483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and shopping context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 and likely objection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Maya, 35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parent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Regular income, household replenishment and limited time to compare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“Save me money on what I already buy. Do not add tasks or a second shopping subscription.”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Theo, 27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Early-career renter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Some online D2C shopping, a thin credit file and concern about unnecessary fees.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“Tell me what I will actually receive. Do not imply joining guarantees a better loan.”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Elena, 42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Variable-income worker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timing varies. Purchases depend on essential bills and available cash.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“Help me avoid a bad purchase decision. A reward next month does not solve a shortfall today.”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227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9D67-5422-4535-AD43-3FF71B63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F94FF-8D40-481B-B86D-B410CBDE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EBD1F-B7AA-4E52-BFBF-8E3262E8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20D6-5AD7-4BF4-BAB2-8FB84BA6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same reward can have different household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1EFD9-D8FA-4289-AE8B-73086C4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monthly budgets. These examples do not represent MoneyLion customer income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D930-9FD9-4B65-B7FA-C8E3212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Segment on needs and behavior. High spend alone does not mean high suitability or strong incremental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599C-27D4-40A6-B73A-001CCA59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3714750"/>
                <a:gridCol w="3733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context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Elena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eligible spend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$120 household items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occasional essentials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$40 only if cash remains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product behavior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Surface a repeat offer with a competitive total price.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first-order eligibility and the next-cycle value gap.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Let the member defer spending and mute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of poor design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minimum basket turns savings into extra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large first reward masks three later subscription charges.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delayed reward encourages use of expensive credit.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question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Would you buy this exact basket without the reward?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benefit would make month two worth paying for?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Would you still buy if the reward settled after your next bill?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9237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C2216-559B-427D-BF8F-F2E1F8C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16D55-D5D7-44F5-AE24-C281AA7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4BEED-9090-4C4B-A928-5885F6C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8AF1A-9B66-4ABC-B47E-821101F9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 journey and its recovery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CED75-D28D-4C78-91F0-D80F161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one persistent offer record connects the promise, purchase and final reward.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B976C-3B29-4458-BEBC-3EA9DA74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Success is a completed useful money decision. Every extra screen must serve eligibility, comprehension or reliable fulfillment.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D5C63-5C1A-4F50-B97E-75C14E6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8D551-338A-43C8-A9F3-BB1D55AF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EF353-16CA-46E9-9F78-2D31AF14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Discover and check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5EF98-BC6F-47D6-8395-B6ED19EA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See fee, relevant inventory and realistic eligibility.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FD244-0CEC-4491-AC45-787417D5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5C1A8-C715-4E47-9EA8-7E0B153E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Join and activate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DAC92-84DC-43B5-BCB4-5E0F6472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Confirm recurring payment. Save the selected offer 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FAF1-9BED-4900-8F92-E8FB9165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264F9-FDC3-4A03-8A92-EA9B4A6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Shop with the merchant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D6370-29DA-4CF8-9B8B-8147D86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Pass activation context. Merchant owns checkout and returns.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ED90-B455-4482-A0AE-073C68C6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62FA2-A425-4A05-ABCB-946F941E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Evaluate renewal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1D8EF-9C4B-4398-8447-68CE7956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settled value with fees and future planned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B8918-C1BA-4CC3-8505-924666BF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476DC-7E61-4FC1-9CF7-2254E1B0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Track and receive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2539D-E807-4328-B29D-BBD129CE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Reported order becomes available cash after approval and funding.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61B02-74C6-43E1-B87B-56DB186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19050">
            <a:solidFill>
              <a:srgbClr val="CF977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8B1F5-EE72-4547-84D3-609D8E4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Recover or 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79234-465B-4433-83D9-672AB17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fit: remain free. Missing order: claim. Poor value: manage or cancel.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2487275" y="4143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96202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7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7053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8A6C6-7635-4A5B-AB18-721BE02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Screens 45-49 show the member-facing controls at each purchase, reward and recovery step.</a:t>
            </a:r>
          </a:p>
        </p:txBody>
      </p:sp>
    </p:spTree>
    <p:extLst>
      <p:ext uri="{BB962C8B-B14F-4D97-AF65-F5344CB8AC3E}">
        <p14:creationId xmlns:p14="http://schemas.microsoft.com/office/powerpoint/2010/main" val="1110023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890AC-6B8F-4DDE-B518-B6A10269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1C047-5D1C-45F9-856E-F0C9A760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040D7-0E36-4B4D-9E8C-C09D88E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07A2-C936-4BC1-92FD-81BECD40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qualification and reward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2D8D4-425F-4ABF-BF61-CCEB2A5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experiment, separate from the currently published banking referral program.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9829E-BD52-4ED2-A943-5D6D40C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Prevent stacking with conflicting campaigns. A claimed referral is not automatically an incremental customer.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547D7-8D4C-4165-8ACF-11A97969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MoneyLion Referral Program,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f0c8eecded24758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 Proposed WOW amounts and qualification rules are assumptions.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DDBCC-8557-47F4-8AED-6C3D914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6A051-F8C7-41DD-8515-EBADAF3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Invite 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BE585-C087-4F92-9A93-DF73836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token and inviter context lock before registration.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9BF14-4559-43D7-8D6A-741F44A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3F874-A222-43FE-8C39-436D8AB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Membership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B1569-232A-451F-850F-7E19182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successful first payment creates the paid start.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82BBD-8C63-4FD9-A754-B852F40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44BA9-5DC3-4099-BFFC-337FAFF1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Purchase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B0593-94C1-499F-A2B2-EB45A71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Eligible order survives the contract’s refund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9F74D-306E-4065-9BCA-2948F77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04D5A-AB7B-4DA2-8C39-2E04BF4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Retained contribution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C3861-BE5D-43A2-AAD9-D9708E6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D90 value, retention and incremental referral CAC.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AD743-84D2-4ACD-82F0-9A66FAF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C6F8A-83C5-41E1-B106-E910D5F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Both rewards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F7046-3504-45C6-A30E-4E82247B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$10 each. Maximum 5 qualified friends per month.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4A4A7-657D-454F-82AA-0216A9C6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88211-285E-4A8A-B203-CC1E690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Risk and funding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B6216-BFDA-4B91-BA74-F94FF741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duplicate identity, self-referral, velocity and liability coverage.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688B6-892B-49AF-85F9-3FA0515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Exception: block or hold suspicious qualification with a reason and appeal. A shared household alone is not fraud proof.</a:t>
            </a:r>
          </a:p>
        </p:txBody>
      </p:sp>
    </p:spTree>
    <p:extLst>
      <p:ext uri="{BB962C8B-B14F-4D97-AF65-F5344CB8AC3E}">
        <p14:creationId xmlns:p14="http://schemas.microsoft.com/office/powerpoint/2010/main" val="21387307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6FE59D-ED7F-4732-92F2-D21B773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68B73-4C28-482E-BCAE-E0A344C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83181-C5ED-435D-BAFE-B7009C6A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BFC19-1DDC-4D8B-AD4A-52BEA506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growth loop depends on repeat member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D070-D4E5-493E-A828-E0A36F5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recurring value earns renewal and relevant personal referrals. Merchant incrementality sustains the next offer.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4D95F-1654-43AD-A83B-710D427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K = 0.25 × 3 × 0.40 × 0.20 × 0.80 = 0.048 in the planning example. Referrals alone do not make growth self-sustaining.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6CFC9-203D-41A8-9A5C-73B433D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7EEAE-B361-44E4-B4CB-0CF6994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ABD97-F25B-4A1C-8D5A-31244C2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1. Relevant funded offer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2BE0C-BC27-43BD-83DE-3675102A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planned purchase creates a credible reason to join.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477C6-74F5-436D-A4DE-187675A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407F9-D01E-49C0-B2BD-68FC0F0F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2. Settled member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BD567-224C-4E01-87C0-D83F9691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confirmed reward makes the fee easier to justify.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BB260-3283-4267-A34D-D1C2795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7800B-9E97-4A42-A7A4-6183570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3. Voluntary renewal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262D5-31E5-4FD8-86FA-FADCC206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Another relevant offer gives the next cycle a purpose.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D3584-095F-456C-8148-A0461B2E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74E0A-EBF4-4646-A09C-6FBA3A14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6. Better repeat 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324AB-11B6-4E34-A49F-CD92F07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ROI supports renewed budgets and category coverage.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53CAC-A509-4F5C-AA44-3F3D9F8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A879C-413E-4899-B9E8-FF23E38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5. Incremental customer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1D349-2F42-4A38-9329-23E97324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qualified friend activates and stays, after both reward costs.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87BEF-0680-4459-A579-8D5B07A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B080A-3F4B-43F5-9EB6-648DC5CB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4. Personal referral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0431B-C076-47EC-9190-5D5E532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satisfied member shares a useful offer with someone they know.</a:t>
            </a:r>
          </a:p>
        </p:txBody>
      </p: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6574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87C1D-62D8-493F-927B-B7D803B2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3417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Measured growth coefficient K = inviter share × invites × acceptance × paid conversion × qualification</a:t>
            </a:r>
          </a:p>
        </p:txBody>
      </p:sp>
    </p:spTree>
    <p:extLst>
      <p:ext uri="{BB962C8B-B14F-4D97-AF65-F5344CB8AC3E}">
        <p14:creationId xmlns:p14="http://schemas.microsoft.com/office/powerpoint/2010/main" val="5388886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83B6E4-29AF-4A74-A5F0-26A9A2BA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3A957-965E-4C2D-87AE-9DF5AE4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D6EF5-6FFE-4B67-AD5B-24D1D5F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58C98-723D-4309-B7F0-1DA0ADB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Data turns planned needs into explainable earning potential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79893-F893-47F8-945F-FC0BFE7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calculate a personalized estimate from eligible offers and stated plans, then keep it separate from settled money.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14B7B-7AE1-4E75-A7E1-003DEF7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Validation: randomized holdouts must show enough additional member value to cover data, model and operating costs.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A3D2-4434-4B5E-BB91-B6DD1C5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Plaid Transactions and Liabilities API documentation.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b78f2863c194374"/>
              </a:rPr>
              <a:t>plaid.com/docs/api/products/transactions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/liabilities. Accessed 23 Sep 2026. Forecast ranges and interface design are proposed.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2C7F9-ED1F-4D66-8522-C426A92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6C49B-8E25-4035-B831-F16570E3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Consented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91FA4-0F98-4BFF-A7C1-9CE0F8F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Manual plans first. Optional transaction categories and recurring income.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22B26-9B78-4FC7-9A66-4F5FDF63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0D773-3F4A-4349-A877-7F9535F6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Eligibility and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70522-DA29-48FF-9373-057E9226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Contract rules determine eligibility. Relevance rules rank useful offers.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C8DD2-EBFB-4E7A-A4DB-4216CC4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FE2C6-769C-4B49-B611-A2A5505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Explain the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6F69D-C6B0-4FB9-93ED-BDB28CD6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why, data freshness and a range. Exclude it from the wallet.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E7D71-4680-4328-8001-B044359E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4C511-9DBF-4B57-A98C-15863CA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Future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4827D-82D1-4E0E-B14F-71A95DA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Holdout tests for AI segments and bounded dynamic incentives.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3FA77-F1C0-4AB5-9C86-389AEDA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34452-658C-42FE-B7C9-85CD7F79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Observed member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4A1B3-4D9F-47C2-B259-57CC305E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Only settled core benefits minus paid fees enter the value statement.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F311A-04A4-4B51-893B-69B7C269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B9E9A-A1CC-4307-A883-3FE7E69E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chooses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CD11A-952F-4B7A-A786-8430AEF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Activate, change preferences, decline or disconnect data.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4575D-2C63-4898-8D52-6BF783E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Credit profiling requires separate consent, approved lender use and validation. No automated payment or score-gain promise.</a:t>
            </a:r>
          </a:p>
        </p:txBody>
      </p:sp>
    </p:spTree>
    <p:extLst>
      <p:ext uri="{BB962C8B-B14F-4D97-AF65-F5344CB8AC3E}">
        <p14:creationId xmlns:p14="http://schemas.microsoft.com/office/powerpoint/2010/main" val="18396424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0B7BB-52F8-4E91-98EF-E8D01A9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23D02-F46E-466B-9940-AF38F05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58638-9BB1-4E2E-BBDD-A9D0C1C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3C7A9-3140-4BB1-8134-07D3A63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companion starts with transparent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86632-694E-40E0-A9CE-FBCA27B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solve a useful decision before adding sophisticated models or automated financial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05E87-CAC5-4D72-8EAB-2CFB2C3E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My relevant execution pattern: separate deterministic eligibility from AI guidance, with an auditable human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49787-097C-4550-9DC0-D619849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Plaid Transactions and Liabilities API documentation.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2579ce97795451f"/>
              </a:rPr>
              <a:t>plaid.com/docs/api/products/transactions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/liabilities. Accessed 23 Sep 2026. Source: Priyam Sameer, candidate CV, September 2026, pp. 1-2. Candidate-reported experience.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191250"/>
                <a:gridCol w="4924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and fallback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V1: no bank link required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goals, offer filters, renewal date and settled-value statement.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comprehension and paid renewal. Keep this route available.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V2: optional context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consented recurring-income and category signals to rank relevant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freshness and reasons. Stale or absent data falls back to manual goals.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Future: credit comparisons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 consent, use cash-flow context to explain approved partner options at the member’s request.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data and fair-lending use with lenders and counsel. No promised rate or score gain.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Future: AI and incentives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segmentation and bounded reward variations within funded merchant terms. Explain relevant offers and route exceptions to people.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incremental value against a holdout. Deterministic rules decide eligibility and money.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0356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C14D8-DC71-40E4-8F67-B3F0C6F4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3693A-C456-4DB6-AA55-809B628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99E88-F2B7-4DD5-B9D9-96EAC85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2168D-0A6E-4357-B4D7-8AA16ED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Instrumentation connects experience to financial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91FA6-5BCB-4A63-8D70-FC5079C8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one event contract with stable IDs, experiment assignment and immutable commercial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EDF92-E8DE-4C4B-9392-B047C6C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Minimize personal data in analytics and URLs. Use access controls and retention rules by purpose, not unrestricted data reuse.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8980C-90C3-40FC-AD29-567EC472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048500"/>
                <a:gridCol w="4400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family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fields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member_id, cohort_id, billing_plan, payment_id, experiment_arm, timestamp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paid, renewed, failed payment or received a refund?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Discovery and attribution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offer_id, offer_version, activation_id, UTM fields, referral_token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eligible promise and campaign preceded the purchase?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and reward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merchant_id, order_id, eligible_amount, reward_id, status, reason_code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qualifies, what is owed, and what changed after a return?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Payout and reconciliation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ledger_entry_id, payout_id, destination_token, settlement_status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Did money arrive once, at the correct destination and amount?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and support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consent_version, purpose, data_freshness, claim_id, resolution_code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Was a recommendation authorized, understandable and recoverable?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6794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EFEED-FE0D-405B-8CF0-95998365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E998-7B48-4E3D-B875-3AFD19C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BB75-6BDC-4CF2-96D0-462D5A2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92045-53C1-4694-8A9A-1F71EB2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settlement and reconciliation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DB4EE-E03A-4E4C-8182-DAD47E53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initial service objectives. Measure against partner events received, with separate visibility for events never received.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2CC15-873F-440F-9319-8AC304C6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≥99% of received events matched within 24 hours. Also measure missing events, aged claims and payout delays.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92EB7-BF16-4692-BC4D-176B35BA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Stripe webhook documentation,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217076fec66451f"/>
              </a:rPr>
              <a:t>docs.stripe.com/webhooks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Architecture is proposed, not a MoneyLion system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883AD-32F4-44EA-B5BE-D4113B2A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9B8E8-206B-48BA-A9DD-545B356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Merchant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3404B-1F35-4C96-B363-9700DBD4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order payload with offer and order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4F5F0-8659-4CA6-A210-BF736CB3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AE5A2-E6E1-401A-B9B1-10A656A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Validate and deduplicate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D3FD2-0C2B-4AF8-B265-29BC7B23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Eligibility, order status and idempotency prevent duplicate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75864-049B-4E1B-BA41-9431CCC0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0AC58-5DEF-477E-AC6D-9CE79A6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 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849B7-EADC-4DB7-9990-9B7D25A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 review estimate and preserve the original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9E0DB-8236-4D1C-B060-CF1E86FE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ECD4E-5C6A-43B9-A2B9-7FA5CB1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Paid and reconciled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886A3-2649-4EB7-8F45-EF68D89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Confirm destination settlement once. Reconcile receipts and ledger.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6C1B2-0ABB-49C0-A84F-9EE4DC3A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08F4-2191-404B-881C-0AFEF1B9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E6B3E-7A4A-4F4D-AE8B-C6441BB8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Approved entitlement with funds to cover the payout.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8BA00-23E4-4143-B0AF-F79EEC5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948FF-9218-491D-A200-5210C04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Approval or reversal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5D158-0F24-46D5-81BF-9193ECF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Return: reverse both entries. Approved: check funding.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193972-94FA-4478-87DE-DE5DD61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Missing event: merchant statement reconciliation plus a member claim. Retry delivery without duplicating the reward.</a:t>
            </a:r>
          </a:p>
        </p:txBody>
      </p:sp>
    </p:spTree>
    <p:extLst>
      <p:ext uri="{BB962C8B-B14F-4D97-AF65-F5344CB8AC3E}">
        <p14:creationId xmlns:p14="http://schemas.microsoft.com/office/powerpoint/2010/main" val="13185774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465B1-28FC-41E5-890D-B68DFD6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98982-D4C9-4C90-81BF-0143467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60B77-D05F-4937-A44B-C139F78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75467-9111-47B7-8C8A-781C6012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financial model starts with explicit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1F48D-5F95-4FD1-80DF-E3570BF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all figures below are planning inputs in USD. Replace them with observed cohorts and signed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38FD2-5D92-4938-BA2C-D65BF05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Base monthly contribution = $9.40 + (0.90 × $3.50) − $3.90 − $1.50 = $7.15 before fixed costs and acquisition.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C081C-A8FB-41B0-96EC-F0C680FF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6572250"/>
                <a:gridCol w="46863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 or sensitivity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and collection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fee − $0.10 refunds − $0.49 processing = $9.40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billing. Excludes sales taxes collected for authorities. No annual-plan mixing.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economics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bounty − $13 reward − $1 variable ops − $0.50 loss = $3.50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approved order. Standard returned orders reverse bounty and reward.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frequency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approved orders per paid member/month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low at 0.25, 40% medium at 1.00, 20% high at 2.00.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service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$2.40 existing benefits + $0.90 data + $0.60 support = $3.90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from per-order operations and payment processing.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Other economic inputs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 displaced legacy margin, $30 CAC, 6% monthly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run cost $145k/month. Discount rate 1% monthly for illustrative LTV.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6151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C899C-95EE-4B13-9B6C-D3AAB5E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D8CCA-E6DE-4D65-A1AA-F34397F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E22FD-53A9-415C-8241-DCE3047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4E6C2-AC22-43DA-9D0C-0A574243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 approved order contributes $3.50 in the base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EFD7B-04A8-4BB9-87DA-AF2173C3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this blended order differs from the one-time high-bounty example on slide 18.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AC681-43EF-4E5F-8E75-6A292017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Bounty concentration, new-versus-repeat mix and returns can change the blend. Forecast each contract before aggregating.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3250C-45BB-4A80-A451-3BB5394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190750"/>
                <a:gridCol w="7162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approved order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Accounting treatment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Recognize after contractual qualification. A tracked click is not revenue.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payable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($13.00)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entitlement, funded from the bounty.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operations and payout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($1.00)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Order-specific tracking, handling and payout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Expected unrecovered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($0.50)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Fraud and adjustments that cannot be recovered after approval.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19.4% of bounty. Before shared membership service cost.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Break-even bounty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the same reward and variable costs. A lower bounty requires redesign.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5414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36EDB-502E-4FE7-AA80-8E0C7E1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7D4B2-1BE8-44DF-8068-9D7A14AD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16512-E1C5-46B5-9AF7-4D13C708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6BB72-F0DB-4579-B9F0-B13860BA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value must beat the best realistic alternative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0BD61-6077-41A7-B806-C4540FF3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basket, $13 WOW cashback, and a free alternative paying 3% on the same basket.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64C22-7BBA-47F3-9997-EABBDF1E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$4 price or shipping disadvantage on one order wipes out the assumed $1.21 advantage. Total purchase economics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06E27-98E4-450B-A94C-1FAB511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238750"/>
                <a:gridCol w="50673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Comparison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it tells us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approved order, cash view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$13.00 − $9.99 = $3.01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member receives more cash than the fee, before other purchase differences.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order versus free rewards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$13.00 − $1.80 − $9.99 = $1.21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the extra benefit over the free option justifies paid access.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monthly frequency: 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× $13.00 − $9.99 = $1.71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net cash value can hide many negative-value members.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versus free alternative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 × ($13.00 − $1.80) − $9.99 = $0.09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base proposition has almost no cushion against worse prices or shipping.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break-even frequency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÷ $11.20 = 0.892 orders/month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Requires relevant, planned purchases. Never encourage extra spending to meet this threshold.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9507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9A2CF-4D99-497E-9E13-1213F316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AD3A6-C8BB-4550-AEA5-2D6F1D2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92648-E4EC-4247-888C-10E402F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E2741-3EDC-488B-95A8-D4B831BC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Lower spending can mean negative member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CE3C6-D373-4230-914F-0A42DC5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spending tiers describe eligible order behavior, not income. Shared monthly costs are held constant for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2BBF0-089A-47B3-A4F3-DC1F36B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40% of this assumed mix receives negative cash value even while the platform earns contribution. Do not optimize retention by hiding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A1FA0-A782-41B1-92B3-39968AA1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 Contribution values use unrounded calculations.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2381250"/>
                <a:gridCol w="2381250"/>
                <a:gridCol w="2381250"/>
                <a:gridCol w="2638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Medium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 / 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0.25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/ 2.00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 / 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received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$3.25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$11.70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cash value after $9.99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−$6.74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$16.01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versus free 3%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−$7.19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$1.21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$12.41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$4.88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action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option may fit better.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 next-cycle supply.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price and actual need.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the full distribution.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6289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65AA6-D860-4F2B-BFAD-B61C9B6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33FB-28CE-45F8-8ECC-8B8BDF06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ABF42-0974-4F00-B924-CCD1212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12184-C9A0-4F77-91A3-312F04D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monthly contribution bridge is fully costed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13F3A-EC6B-4D3A-945C-E5C6B8A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10,000 paid members in one month, each at the base behavior mix. Amounts shown in USD thousands.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CD227-FCA6-4902-B162-E7CC7C7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This is a managerial gross-flow bridge. Finance must determine principal-versus-agent revenue presentation and statutory accounting.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69C1-5F1A-4DD1-8AD9-C3EB555B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190750"/>
                <a:gridCol w="64008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bridge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Explanation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billed, less refunds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$99.9 billed less $1.0 expected refunds.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merchant bounties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162.0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9,000 approved orders × $18.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Cashback, order ops and loss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(130.5)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$117.0 rewards + $9.0 order ops + $4.5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processing and recurring service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(43.9)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 processing + $39.0 benefit/data/support cost.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before displacement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86.5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inflows of $260.9k less $174.4k direct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Displaced legacy contribution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(15.0)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Opportunity cost, not a second cash payment.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contribution / fixed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$71.5 / ($145.0)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−$73.5k before acquisition. Positive units do not imply operating profitability.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1800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9EC9C-6AA6-487B-BFDC-B44167D7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C1D9C-E29D-43D3-A418-F5498E65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3C3C7-D2A7-41EC-8526-8813DD9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59955-603B-4745-9934-4CEBC226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Sensitivity reveals the fragility of the member proposition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BC589-F466-4C5C-A96B-38C40B2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scenarios change several inputs together. They are stress cases, not probability-weighted forecasts.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7EDC5-7336-4E3E-95DB-357DA35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$5 monthly advantage over free rewards needs 1.34 approved orders at base economics. Target existing purchase needs, never extra spending.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3B279-3AFE-42C5-B168-9CD9904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857500"/>
                <a:gridCol w="2857500"/>
                <a:gridCol w="2876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Upside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1.20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 per order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$15.30 / $13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/ $14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$0.80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/ displaced margin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$4.50 / $2.50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 / $1.50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/ 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$2.88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$9.80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 value after fee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−$2.19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$1.71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$6.81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or narrow before scaling.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Prove advantage over free.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repeatability.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1167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123EB-8C79-4D7A-9E1F-F8D0C099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3547B-16FC-4D83-9BC8-4E9F462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1CA6F-4E47-4A33-A543-7EE67A1E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BBC1B-7A44-45CB-A4DC-93F5E7B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CAC includes both referral sides and organic cannibalization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7DCCA-2CFA-4461-83A3-30D2C845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acquisition cohorts. Incrementality factors require randomized or credible holdout estimates.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41092-28FA-48E8-A1DF-C3132F47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K = 0.048 in the growth assumptions on slide 30. Referrals can lower CAC, but do not make growth self-sustaining.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CCFE4-415D-459D-9A5C-791861D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048375"/>
                <a:gridCol w="2238375"/>
                <a:gridCol w="2781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Channel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 per observed paid start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share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surfaces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 placement, operations and promotion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 referral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dual reward + $2 operations + $1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$28.75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media / creators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$48 media + $7 creative and operations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$64.71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mix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owned, 30% referral, 20% paid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Shares of incremental customers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$26.57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budget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Conservative CAC used in projections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input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8633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6C8BC-7F04-4409-94FA-F874A214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0B7CB-44C5-4C23-A5A9-A5F5F81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A7086-FABD-4CB8-8C13-9A5952F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9C4E-87C9-499A-99C2-9CBEBED7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LTV depends more on survival than on a single margin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59190-AA76-404E-8AEB-322BEDD6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$7.15 contribution per active month, 6% monthly churn, 1% monthly discount, no reactivation or margin drift.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11327-C838-4DC8-884D-954B8956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6% monthly churn implies 83.1% retention after three renewals. A 5-point experimental lift does not validate this LTV assumption.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46AA0-1F7A-4CFE-B558-B6F4B18F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6048375"/>
                <a:gridCol w="4543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 and limit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CAC payback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÷ $7.15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4.2 months, ignoring churn and settlement timing.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Survival-adjusted payback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Cumulative contribution: month 4 $26.13, month 5 $31.71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 5 before cash-collection lags. Use actual receipts for cash payback.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discounted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 for t=0..11: $7.15 × (0.94 / 1.01)^t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$59.59 per acquired member, before $30 CAC and fixed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LTV / CAC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$59.59 ÷ $30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1.99×. A capped contribution horizon, not a valuation multiple.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Churn sensitivity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12-month formula, with 15% or 20% monthly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$39.44 or $32.29 before CAC. LTV / CAC falls to 1.31× or 1.08×.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86965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BF03C-140F-4874-9F4D-67A612E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28EF2-0A1E-4461-8010-C45D0FAB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45A8D-D45E-4AD0-AC36-9A8C93E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80289-079D-4C37-866F-BCDD794B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six-month scale scenario still requires 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3D926-C2E8-4A73-8737-29260C3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expansion after validation, not the pilot roadmap. New starts receive a full billed month. 6% monthly churn.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F6667-B2CF-4BDA-A0F8-2D4318EB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Member-months = prior month × 94% + new starts. Inflows = $26.09/member. CAC totals $360k and fixed cost $870k.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1EACB-F6C8-4F75-A043-EE94D786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 Inflows follow the managerial bridge on slide 39, not a GAAP revenue forecast. Totals use unrounded values.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047875"/>
                <a:gridCol w="2476500"/>
                <a:gridCol w="2619375"/>
                <a:gridCol w="2333625"/>
                <a:gridCol w="27336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paid starts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member-months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Gross economic inflows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CAC + fixed cost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−149.6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−161.9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−174.9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4,777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124.6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34.2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−182.8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7,490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195.4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−181.4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11,041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288.1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−186.1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27,025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705.1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193.2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−1,036.8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78631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4F4DA-65C7-438C-AFAD-AB831AD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3A718-E8D3-48D4-BF0F-1704A1F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4133A-BE79-4FA8-86E8-CB77AD4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44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D1AF-F9E2-4FDA-967C-3122ACB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Working capital and fixed costs constrain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90A79-CAC1-4480-99FF-5616BE1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10,000 base-case paid members, immediate reward release and 45-day merchant collection lag for this stress calculation.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18D05-0FF7-4CBE-916E-1EE84A9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Discussion: prefer merchant prefunding or payout after confirmation. Separate the pilot budget, scale losses and any payout facility.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92918-AAE6-4B08-A612-6698279A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6191250"/>
                <a:gridCol w="4543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question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member rewards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 × 0.90 × $13 = $117,000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liability and cash requirement, even when order contribution is positive.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Early-payment exposure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$117,000 × 45/30 = $175,500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reward funding before merchant cash arrives.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buffer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× $175,500 = $35,100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$210,600 reward funding envelope. Other cash needs are additional.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Fixed-cost break-even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$7.15 ≈ 20,280 paid members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replacement acquisition and working capital.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Steady-state replacement CAC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 × $30 = $1.80/member/month</a:t>
                      </a:r>
                    </a:p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($7.15 − $1.80) ≈ 27,103 members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Simplified stable-mix threshold. Hold contribution and churn assumptions constant.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0021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F8E81B-14E7-4666-937A-AC217D6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7533F-96F0-415C-9A3A-0E09B100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0844E-1A79-4BFE-800E-EDF02B5A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87FEC-2466-47A8-AFC2-6987FD64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Home connects discovery to the renewal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803E-8A78-4FEC-B769-10A09C00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01. A member sees settled value, relevant offers and the next charge before choosing a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5779E-C989-48A6-849F-547A5581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Test: can members explain their value, pending balance and next charge without assistance?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59C3-113D-4D2E-B616-C7D201C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0BAB7-19FA-4048-A2A1-99BDDB1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Settled value this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805AD-C410-4928-96EC-A02A1CE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A0BD8-3EA6-47D4-98B8-21A45C5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6E96A-C7EB-48DC-A92D-E35F17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AD16E-E52E-4581-9E5E-BF6154B5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55CDC-E676-4A6D-BF0E-697400C9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20544-44F8-4A3A-9699-91F7007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ED011-EB08-4A67-886E-918B29D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Good morning, Maya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53B89-B687-4E1F-9E10-948895C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E4D02-DAD6-4A2A-9BEC-E707B49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September WOW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218D0-EB3E-4334-99A9-19996FE7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+$3.01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3686D-BC0B-4964-B727-97C68092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 settled rewards − $9.99 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74669-5EA5-4DDF-8D9C-A6F59EB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$13 pending, excluded from your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71910-C214-4E53-BCD3-BCF8AFF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7A6E5-5CFC-4F77-8C35-4417ACE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0BE0E-7BCC-4262-881C-00D162B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1E8EA-88D0-423C-BF0E-483710C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 back on eligible $60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08B4F2-B811-4114-81F5-20756D4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For a purchase you already planned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D91E3-6394-4733-8EF7-95FCF3E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C32D8-2E9F-477E-A459-0BA0FD4C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81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offer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E8F8D-8615-4E41-9EEF-C06CCCF5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246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Next charge: $9.99 on 1 Oct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B779A-3BAD-436B-8BDD-E30BDCBC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06DF9-0CBA-42DA-BA04-A9288F7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6249F-2FD7-453E-BAE8-F433072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BEDAD-6B00-4BCC-B88F-9CAF529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BD375F-8174-4225-905F-E6DF078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3CB9C-909E-4600-A33F-6C747D19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331CF-83BA-4B50-95FE-FEA17FE0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No settled value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C1F1C0-88B2-424F-A67F-0140643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71FADD-2BC0-4B70-B8FF-724165F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5B74D-9097-4028-90EF-5FDD4C80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871E5-5D5D-4D57-BCB6-049F632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0EE264-BEF0-48C2-B144-2718B5D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DC7B23-0621-4823-B154-1C80F8C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F20ABE-B8E5-4CCC-85DD-782FB81F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monthly value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00540D-1EE5-493E-BC2E-11D8C42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D45C57-E65B-4492-BF81-4040113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September value after your fee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86F298-9C65-4582-8BC9-F6145310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−$9.99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922F49-540B-4D26-9046-59BD14DD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core reward has settled this cycle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57B545-AAA3-4AEA-A89F-BFFFBD9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1A34E0-C214-4866-8D62-D3A2651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Only shop if you need 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EB9B11-11D5-40E4-94B2-2F54614C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67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pending reward does not cover your fee.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BF97E4-619D-4175-81C6-FBDB523C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4673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96F822-B687-4754-BC96-72BE992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upcoming offers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B60E95-949C-438F-B665-45EDE5F7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9055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D63843-8761-4762-8DB7-F9E14CB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2C8EAC-6D6C-4082-B2D1-39D8BBF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3436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earned rewards remain trackable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if you cancel.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0DC1F5-9052-46B3-A0A9-2A94B03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D81787-EE93-42C9-806C-D0A3A20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8AC06D-5B01-4F21-AD2F-B9D7C9E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03EA6D-0522-412D-AFFD-1D74CFF0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6ED566-662E-4888-A690-F5731947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A8E57E-1697-4445-A22F-00029A05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7EBC6B-B2AA-47F1-ABF3-B91CABE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Positive value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D569C4-4CFC-4286-A7C3-03495B92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home screen separates $13 settled from $13 pending. Only settled money contributes to the +$3.01 monthly value.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765D37-7198-477B-B08C-97A9D05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No value this cycle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C76262-A647-4AD3-B36D-0516B2D9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same layout shows the full −$9.99 when no core reward has settled. Manage membership stays visible.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ACD849-C6C2-4F26-B5B9-46D79C4F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Why this design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5106FC-D35B-4680-BA21-0BAFB1E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One primary action: view an eligible offer. Track offer discovery, paid activation and later settled value, with all paid starts in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129897600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CEA9CB-281F-4176-AC0A-43812AB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C1CDD-69AE-45CB-A8BE-61D4B733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99AA-A51F-4E75-AA7D-C1A19935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F885D-18EE-4108-B579-B2BFACB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Offer activation preserves the exact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F4F67-E765-4536-AA29-B27FD58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02. Eligibility, amount and timing remain attached to the offer version through merchant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DE9E5-6812-41DD-8565-E3134555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Measure: activated-to-approved orders, missing-order rate and time to the first settled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4435D-E005-4CBB-B217-ECA5D0D4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9D5B9-587C-43D7-93B4-284E1E1E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Offer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206E8-88E2-4E22-8743-E200FC6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53D46-9A70-46B9-88F4-155E19D9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C48C-C8CE-4183-8F37-3B1E6DB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43FC5-B8DE-418A-AA27-37ED0B00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95219-3372-406C-A3D6-AA027A4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ED49-AF65-43E9-A003-5965A262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3DDDA-AE08-44B1-948E-1F60823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Review this 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49ABC-2C64-43B4-89DC-2676B044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CF980-87EC-47B1-98C6-131D230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1B74A-7468-46E5-AFFC-C9D33BAE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BFAFD-EF35-4691-BF36-3C651BE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671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 cashback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A4CC6-49B4-46A4-A2EC-CC1F11B2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purchase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9F1CC-BC68-4205-869B-B950821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items only. Taxes and shipping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excluded. Returns reverse cashback.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C09F1-FBF1-4224-B03F-EB186B8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eligibility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EFF26-B578-455E-A25C-8E6EA19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View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3FFD9-C7A0-4A4C-B0B8-A9AA722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53018-DDB7-4D74-96DC-BC3673AF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9509A-2F44-4259-9649-CE29C86B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38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Up to 30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5A8139-981A-4EC8-8776-9940A57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77050-D3F2-45DB-A9AD-E4D7E4E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Compare the total price before buying.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EF967-52B8-4905-8577-1D2AC6E5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99983-7EE0-4340-9E63-CE4B41F0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7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Activate and visit merchant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CBB22-8B4D-46C9-9393-5362445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terms saved when you activate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8829D3-EE13-46B8-860E-4FF697F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2D50F-5405-4F2F-A66E-DB0DCF85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80FDA-9487-488A-9707-E353C7EB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14178D-A9E8-4C3D-8AB0-6CDB8AF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11B93-A6BD-4402-B643-DDDE99C2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151D0-3395-44DE-9119-01ADDF0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7154EA-B7FC-40F9-9AFD-AFE39A4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Returned from checkout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CAF0EB-5C7A-4102-B0E9-A7B171B5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4E5948-6CCE-45EC-BF25-7DFF61B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3A4EF-A971-4962-9D33-1D5D3B8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8C70E2-CABF-45F6-95F1-F1305B0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7E0995-44B6-4DA2-97EE-05B0AB5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FE8EFE-C0F9-4879-892A-97CC621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AB1E45-5127-4770-9FD3-D1539B2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tracked your order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144BD2-79B5-47FD-963E-486D31DB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D18D3-9359-4C4D-8337-28AF74C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Estimated cashback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C1685E-4A59-4790-B095-F796DD6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50DFE1-4693-434C-B078-E36D239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 merchant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D3E58-3150-435D-A930-A68FDFD9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B3112F-C0F8-4F2B-8A8D-B963C8F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696CA6-B193-4E09-A554-2DE3FED6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Order reported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F95D95-F368-481D-9CDA-AECB7B8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order ending 1842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A3A3AC-3499-4A5F-8315-2BB40B4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10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72D919-0BF7-4AA8-876C-6DA73F0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387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7C113F-BF90-4427-8034-E11BFD4F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911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BF3DB5-BEEF-4E6D-B823-90F3CF0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102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Expected decision: 24 Oct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9C2C1B-D50D-4038-89BC-B66CC82C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05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2835FD-6F3E-46EB-BED2-8EC4610D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340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AEB25F-465A-4E01-AF80-0209210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2B403-A832-413B-A8D7-59A71E0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055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funding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58F95B-8E4D-4BF6-BB1C-E3333D2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198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2FFFDC-0114-47EA-885C-1DBFC93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15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reward details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77A0B0-810F-4C61-BA53-4AD0E51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579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missing? Start a claim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2D5B3F-DFC0-47AB-BC5D-F1AEB21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B00853-6814-4C3A-9F8A-7996CC4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2B0550-A208-4BD8-829A-BF9BEB6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4A9492-6112-4696-BDB0-CF48187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D7ED44-C520-406E-9D31-9DAB4851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B36F4D-186C-4002-AC9A-CD4FA835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58242B-8155-4ABA-995E-2375983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Read and activate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B39B61-56F8-49F0-B08C-08E45BF2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selected $60 eligible basket earns an assumed $13. Exclusions, customer eligibility and an estimated review window precede activation.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D99255-166A-4377-AE1B-0903792C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Return from shopping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A54D07-AEBA-4FE0-A28F-E89B19DE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app shows a reported order and expected review date. It provides a missing-order route when the merchant sends no event.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06A6F6-2739-441A-9A45-9BE4B8F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criteria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4CC42B-C791-4E29-95C1-4D12BD3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Persist activation ID, offer version and merchant order ID. UTM explains campaign origin. A signed order event establishes reward evidence.</a:t>
            </a:r>
          </a:p>
        </p:txBody>
      </p:sp>
    </p:spTree>
    <p:extLst>
      <p:ext uri="{BB962C8B-B14F-4D97-AF65-F5344CB8AC3E}">
        <p14:creationId xmlns:p14="http://schemas.microsoft.com/office/powerpoint/2010/main" val="143956096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D03A9A-4929-41ED-9240-88D43E97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E1334-B3BB-4840-B48F-4539916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829B-B6B6-4610-839C-3085855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9DF36-0D6D-4F4E-99CC-58275C49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Wallet distinguishes pending, available and paid money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FC42F-7E96-42ED-8784-B544F48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03. A reward detail view explains why money is waiting and which event will release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C9F22-3017-4C20-AFA5-E7F71AE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Financial link: earlier availability creates working-capital exposure, shown separately from order contribution.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FD76F-BB80-4FE9-B500-4AC4847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B119-4BA2-40A1-BD8F-F8ED984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70188-120E-4F31-AEDF-56747B6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46BB8-66B2-4D48-97AC-9BB41CFB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F9711-1431-48F7-B098-A395F01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669AD-5E26-419A-95D7-4FF2BDB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A3D76-F68A-47D0-932D-7FE5CE9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51691-E444-480F-AB1B-E95F976B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8AB3D-F0E2-4C88-A681-338ADCA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cashback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3B318-E451-4D6A-8D08-1014761B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7A911-BE27-420C-8FC4-306D941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2E6F1-6C9A-4BDB-BEA2-CC5241A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9B2F0-FA6C-4E69-B96D-F105FF3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$13 pending, $26 paid previously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7B276-EE36-490E-9852-8FD1846C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819A4-7EEC-4C82-BE28-F2C8481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Withdraw available cash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3868D-97BC-47B6-9EB4-344FD12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5D2EE-F972-4E9E-8DE7-B2A0F813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24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E0667-1F7D-48F4-96EC-827ED651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3ABAD-599F-40DA-8E9E-F48A8AC2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00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Selected offer, 1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25FBB-CA58-49F1-B2F2-0B9F61F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80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AE725-13F7-48B7-80B6-B98C55F3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67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D132B-96AA-49A5-B1C4-195EA2E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56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Returned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D6735-6E9E-49F3-8644-B5BED41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35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Reversed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3F1AB-D4F5-4EF1-AD3C-2B36288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23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4FAEA-3A7E-42BF-9934-64F89C9F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Pending money is under merchant review.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View activity and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0DEE7-FF25-4C9E-8856-A6891DF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79B473-0DD3-4EED-9E64-D960FB8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2A8FB-8E34-46E3-9241-9973877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F6C18C-88EE-4BCB-97DD-010DB2EB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176CF-6C0D-4417-AE2E-63DC956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7AA577-C9CF-42D2-A912-3EAEEBBF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0D418-071A-4BE7-B75B-E94A813F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Pending detail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B905EF-8B42-45B0-8191-34FA143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68F84-B714-481B-A463-339CDB6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4D7F03-EA43-4005-9FC4-A27A95C6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F430EF-0C40-496E-88D4-D561879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6A3DE-E339-4653-A874-4300A547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BADDE2-30B2-40EB-87B1-08F3FD3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F3916A-CAE3-404E-B65E-14B8761B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Reward details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FFE7AB-833F-4244-9D9D-D4D74D1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D66F6A-0C3C-4A7B-80F3-58E51CA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Blueland, order ending 1842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A380AC-EAD1-46FF-A601-60749D05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3BEA35-486E-4F3B-B697-9D983E0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expected review: 24 Oct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373EF0-EF99-45DE-B71F-442A0C0D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3F7BAA-D4FF-494E-AD6B-693CB53D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339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334A64-120C-47A1-9F46-F11ED6A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reported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582ED8-958A-4623-98E1-333C9B2F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053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eligible amount $60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DE79F6-3109-4428-BA23-EDAED8F8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29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A07318-4AD2-48CC-86D5-E150DA3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578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E20088-604E-4187-90F4-446613BA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01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Checking the order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C04849-43EA-4443-A933-9FA5579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Delivery and return checks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D6ED6F-58AB-4C6C-BF4F-D61C3A6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53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54B76E-F6E0-4F18-A865-B767DD3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816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D8A445-502B-405E-9CB8-2857F12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340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 becomes available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348435-4E24-4515-8BD6-D5E9B38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531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notify you when approved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9D6281-9757-4B05-9753-4C4F6E9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960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8D95CF-714C-4C2A-BA00-D78AD0B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91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Report a problem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37F2E8-2AE6-40A7-B033-85F3B5B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341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Timing follows the merchant’s terms.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537F44-432F-4C17-BC0B-BEB8BC3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925A17-64FC-4607-B36F-ACBFCD89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395D02-D487-4086-91A4-249674D7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0C38C1-EE15-4C3E-996B-1AFFF0AF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753C73-EB31-4C8A-A411-FB938673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3D42B7-9397-48A1-A749-549E003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E5E28D-52C2-4CAF-AAB5-8595DCB9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285D34-9D1D-4DFA-A12B-C259FCB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cash has a withdrawal action. Pending cash has an expected review date. Returned orders remain visible with a reason.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F8FFEF-2A80-48C1-860F-354E2B1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Pending reward detail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083D2D-6BDD-40BD-9C01-F64FB0A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timeline distinguishes reporting, merchant review and payout. “Available” appears only after approval and funding coverage.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9DAEE1-B956-4479-AADB-78096181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 controls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A10D6C-486A-4166-B440-E540B4F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 immutable ledger records state changes. Deduplicate merchant events. Reconcile approvals and reversals daily. A date change triggers a clear update.</a:t>
            </a:r>
          </a:p>
        </p:txBody>
      </p:sp>
    </p:spTree>
    <p:extLst>
      <p:ext uri="{BB962C8B-B14F-4D97-AF65-F5344CB8AC3E}">
        <p14:creationId xmlns:p14="http://schemas.microsoft.com/office/powerpoint/2010/main" val="28355048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0C0730-08E7-4A6C-B9F4-9FA67D17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2334D-E829-4488-A78F-F5BDDFB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F6467-C127-48EB-B048-27818C19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4E91B-0008-4301-9E5B-D572947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Withdrawal gives a clear destination and recovery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DB91C-0BDD-4AE2-8132-87AEB67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04. Review and confirmation screens reduce duplicate withdrawals and uncertainty about arrival.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F2518-6869-4060-8C3D-EC970AFD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eligible linked-bank payout, $0 member fee and 1-3 business-day estimate, subject to actual provider terms.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A6351-8EF3-470F-94D6-3E08FAB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80A6A-C9B8-4E0F-BE8F-C21336C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C6C8B-C60E-4F85-B45F-A441223F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1AB14-13AC-4FB3-AA6B-70E25F0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0D0B8-861A-4B27-B2E5-E9EA4E5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C6D9F-3D70-4E47-8FBB-064EC05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9B054-0318-4240-A059-8CE50CA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7C050-1C36-4044-B29A-9380687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A88D6-C7F8-48DA-8E21-7A094745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 cashback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34FA0-C749-4FDD-91B5-BC0F623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1BBC5-6C25-4C93-B6D0-7D69BD2C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Amount to transfer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2ACB1-6036-432F-91F4-22E41C4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6A265-A35D-491A-A80D-B8AE327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balance: $13.00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F4E9D-8377-4CBC-B656-A7D540A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Destination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1CA03-A349-4083-ABF7-72D67CA0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Bank ••1842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19DEA-3138-478E-A295-806356B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A180F-599F-4CA0-9217-8DF5112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fee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AB784-2333-48D8-B859-07882399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306E7-C542-4657-9D3D-6FD4272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63DEB-6309-436F-AD6F-B5A876E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Expected arrival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DBE4A-1901-4540-B7C6-0A3722AE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1-3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E78EA-B126-4C0D-BB74-CE73647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96D2B-1B5F-4840-B751-43EE1E6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business-day estimate.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Confirm the bank details.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68F3B-8F65-4314-8714-CDA2E52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EBAAB-28DF-40E7-921C-D14B2EB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 withdrawal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58EFA-8089-4312-B837-6592C1D3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4A23E-E4D3-4CA4-8D16-CB09124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54C99-187A-4731-BF85-DF01BDE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1F6DC-A204-471D-B018-A4D45B1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6A621-5687-4490-98BE-9A33889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29154D-EFBC-4827-A1FC-EC9E16F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F271F-07C7-4502-940E-7AA72C1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Confirmation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327B83-25B1-4FCC-8948-47087C3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527F88-772F-4456-A99A-E63D0EB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6A1663-932E-4E8C-9F9F-F3BEA89D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4F3B2-F1D5-457E-A337-BD6ABB2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BBAC08-D38B-4862-96F8-A3C259D7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9C6C23-63C7-48D5-90D9-AA1D1A80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B3FFE2-923B-4303-9601-3F17704B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requested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AE739F-A1B1-45F6-A97C-F0044FD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510401-1984-470C-8C6B-22B38094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 its 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1DF24B-5DB0-434A-AEFA-3810051D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$13.00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B0F47D-D55F-4093-BB9E-C29BC96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Bank account ending 1842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58924C-41A1-4814-A101-99182F05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reference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1974A5-C579-4903-8D0A-B671B76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WOW-1048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12D671-947B-4C3C-BF87-90BFD38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7234B7-A811-4282-A988-CF95D84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status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29A6D-C749-4EE1-A2AF-F721E5D8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Processing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6382E0-B605-486B-B211-28EDAF4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42E6AA-A1FC-4245-A757-D49FBC0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DDB7C8-D0AC-4552-8B2C-FC7BE70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367457-5C3C-475B-B4B4-0EB05F1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4C765B-FC78-47D6-8D8A-389BB12A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when the payout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provider confirms settlement.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A78915-6756-4F6A-BBC3-37ABA04D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A34AC2-1BB5-4FB5-BE4A-C7FC9F56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transfer status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45EB50-E857-4B90-AEC6-8B01A03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960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Need help? Contact support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1DEDE0-90C9-4170-B2AB-11E9464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6A0DA3-E421-46B0-896D-7FA57593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7BD49B-7A23-4232-994F-3713A6CB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011BAA-A9CB-4618-8D34-34DDD27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BAC0AB-4848-4962-A3C4-8D13FF64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35B3A4-944A-45F0-86C0-946DD129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EACF55-682F-488A-BE48-7FF4E859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85D508-C7B6-48D2-876D-757AEBB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amount, masked destination, any fee and arrival estimate. Reauthenticate sensitive changes without blocking browsing.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017B8C-490E-488E-9FEF-74B9E123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Transfer accepted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43CFC4-57C4-4058-877A-FFABCBC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Reduce the available balance once. Show a reference, status and support route. Processing does not mean the receiving bank has posted it.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B2C793-DEFC-49EF-81E1-1CBC578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Failure behavior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0E21CB-362E-4E0E-8AEF-E2D06C4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failed transfer returns money to available only after reconciliation. Reuse the idempotency key on retries. Never ask the user to create another transfer to investigate.</a:t>
            </a:r>
          </a:p>
        </p:txBody>
      </p:sp>
    </p:spTree>
    <p:extLst>
      <p:ext uri="{BB962C8B-B14F-4D97-AF65-F5344CB8AC3E}">
        <p14:creationId xmlns:p14="http://schemas.microsoft.com/office/powerpoint/2010/main" val="182082056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149839-3352-4480-B957-2C386049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0FEF3-626C-45B6-81AD-8A71C05D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489E3-7F50-423B-9059-41B4820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3A07F-7282-4528-A68E-813E9DD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missing reward becomes a trackable service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6E6EB-C9AC-45C5-ACA3-D5D3B33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05. The product acknowledges tracking failures and gives both the member and Operations a recoverable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15A07-A8A0-4661-95D6-E6F521A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first response within 2 business days. Track aged claims, confirmed tracking loss and duplicate goodwill.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1F1CD-DF78-4A24-974E-AE75AE0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D6484-71B8-41FA-A714-99CF0DD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Claim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C310-D81F-4E24-9A25-97D51953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A4A13-7545-410E-8DEA-335EBC8D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A5C9C-2791-4692-B468-412668F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33D66-9084-49FE-A469-535BA13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4D5A7-404B-4061-9F61-259B6A8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07FAD-A58E-4CE4-8D96-4B643A8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DD11D-06E2-46A4-8478-673D5D6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Missing cashback?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CC12E-A20B-44DB-AE51-8F5EC95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Merchant and purchase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8EC56-4B2C-47E0-825B-E898B9C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48DD1-E7A5-45E2-9769-65CB300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162BE-945A-4B07-84D3-46B52A2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number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BF7FF-7A64-4BB3-B9DD-CE2EB126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8090C-DECC-43B3-8CCF-46A4F34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1842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6F159-9164-4873-AF02-2EC5A1D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purchase amount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02755-A10A-41AF-8E09-994B122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D690C-FE78-478E-A345-CF67EC4E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$60.00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26E95-2E18-4CE2-923C-122D6C9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Attach receipt. Hide payment-card details</a:t>
            </a:r>
          </a:p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and information we do not need.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ED184-908C-41F8-9348-67FF71B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2A076-52DC-4A3F-A504-74872C57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1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Submit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13B06-867F-4DD9-ADD5-BEE24E41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52AC3-F0ED-40F8-A338-4B4F44A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74E03-ABF3-4DA8-8EC4-87658BF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0E577-73C2-4CB6-966E-60ADE3B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86E36-141F-498C-A7A6-5EB4D32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6B6B16-A747-47CE-8440-4273C3AB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15307-3680-40D9-8B3C-FB5450E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Case 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FCE90-1C9E-4618-AD15-0BB4FD22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B62B98-DC22-469C-AA66-DF33CEAD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F8F229-BE36-4FB6-8D65-B06D9E50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467067-11B8-4108-B9AC-36089E9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CB95F-530D-42E5-B4AC-D5D3951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FC9BAC-A0A6-4D2D-9C60-CBB87E26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D0A61-77FF-4239-8534-6944E505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are investigating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048B42-379A-4175-98D7-2E2CCBD1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13949E-7755-4579-8A69-CB1488A5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WOW-2042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F72DF9-F3EF-4E9D-AE21-74AA6DE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AE0F2E-99B3-41AD-8A3D-F996509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Receipt received on 25 Sep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401E51-E3D6-432C-A8F8-42F9905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420CC0-FD7E-4CE4-9785-159675E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3CB7D1-7ECE-491D-81AF-3B408832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Evidence received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E96C9A-C269-409D-AF4F-3F32AB9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order and offer are linked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17D96B-9462-4A3C-A037-DADDEE0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38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933A8B-3BCB-4F1F-8399-E3DE9E8A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673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59199-0DFD-4213-B21B-C9FAA65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97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 investigation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1DAEB0-B6CF-4B59-B882-D263488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387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First response within 2 business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66315D-6B99-46D3-BBF9-8B329C8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6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777953-D2C7-4401-B8A6-714C3F80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912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CC3837-60F9-49BD-B508-7A3375C6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435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Decision and explanation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3B2941-90BF-4AEE-9053-CA67FFE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626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Reward or a specific reason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EB2AA7-CC48-4109-9AC9-5839F77B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3055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832DB0-2FF9-4EA0-8ADF-A430AE2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00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View case conversation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683607-49F9-4F6B-8DB3-518926A3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437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One case prevents duplicate handling.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188AA8-E438-450A-A097-FC3FD9A7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A7F7C9-8CF5-45F2-A015-06A63B62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9DF503-529A-4306-9A25-49904F3B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333B44-A139-4A6F-8EA0-346483F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12D3D8-0886-48E4-B635-89DDA2B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4AFEA7-DAFD-4BD9-ACDA-B057F64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7054B4-DCED-45FD-875D-291D04D8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Submit the minimum proof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353CA2-7E2F-4E6B-82AB-60C441F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Pre-fill merchant and click date. Ask for order ID, eligible amount and receipt only when needed. Warn users to hide card and sensitive details.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E5471C-2FF5-4701-BC95-18B4C6E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Track the investigation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51ABEF-8299-44B4-8460-607DF542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case reference, evidence received, next update and a single conversation. Preserve evidence and offer terms after cancellation.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C9BC13-5A18-440A-BE1A-31FFD49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Operations contract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2ED76B-F38F-4301-A00D-4E026EB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claim ID to activation and order IDs. Search for late events before issuing goodwill. Record disposition so Finance can avoid a duplicate reward.</a:t>
            </a:r>
          </a:p>
        </p:txBody>
      </p:sp>
    </p:spTree>
    <p:extLst>
      <p:ext uri="{BB962C8B-B14F-4D97-AF65-F5344CB8AC3E}">
        <p14:creationId xmlns:p14="http://schemas.microsoft.com/office/powerpoint/2010/main" val="11089972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0B9E8B-6FCB-4EAF-B552-564E9769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140AC-2B02-42E4-82E4-2B102EBA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EA467-279F-48AA-BBAC-6A15FFF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91139-C17D-4D7B-B4A0-7BB3954B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referral dashboard makes qualification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DA8FE-4E70-43AF-9AA8-47A8F55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06. Members can see progress and share a personal invitation with the full commercial terms.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06539-7799-4650-AB83-C48136A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$10 per side. Include both rewards, operational cost and fraud loss in incremental referral CAC.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ABE34-B5BE-45C9-B15A-7E4329DB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F1A30-1A10-4FDB-A9DA-7D418800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Referral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1BDE6-3B1B-4419-8205-84E624A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4B6D1-73DC-46F0-9389-165B15E4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61887-845B-4ACF-B7D1-AA120DD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23AD5-E66E-47AC-9FC0-7406321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0B171-526E-423A-80C8-CA2A3F44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50790-458E-4276-93D8-CE962014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D05B-3A29-4542-B498-CB4A814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77A43-07EF-45FA-949B-D8E850EE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2ED2D-142B-45D4-B164-A501B8F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Qualified referral rewards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64293-D86C-4E17-96D8-10D82491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$20.00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891CB-F5D7-4AD8-BFD6-11A1E17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qualified friends this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97623-456C-4658-8611-B9DDCA2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5 monthly rewards earned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D3DAB-B4A1-4C89-8640-D0FEAD1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137B-7EEA-41BA-B53D-BBF2CDA2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242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7C914-7000-47CF-A376-0F508CBB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approved qualifying activity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E5F8A-0681-4D00-A949-8DF492A5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Sam, joined WOW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17D4C-6188-485F-856F-3AE3696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721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0AB1C-042E-4E00-8ACD-D40A12F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B9FDF-9A14-4F83-83C6-4C8A8D9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2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Alex, qualified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E4742-D5F8-40CE-A426-8EEA510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692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96409-84AD-4CAF-8474-2270C97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9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C27AA-BAB1-4763-A2C7-7D3E82E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3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Jordan, qualified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CAF25-82F6-4AC6-A665-DEDF9EB6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013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5E45A-A428-40F1-A273-AD002B9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0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B79931-60C8-4EB2-84C7-9E3CE90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722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62CBE-E672-4ADB-9CDD-95427C60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D10496-235E-450D-9B9F-A4D4123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49EC5-71C0-4FB2-BB5D-0FC9AC79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08153-318D-49F0-B54A-2A7097A9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1A145-36EB-41CF-9A9B-58B2344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855E0A-A71E-48F3-A0F5-2BEC744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C1D8C2-F346-486D-A3FE-99727FFB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297347-37D7-4E51-9A28-6B2E95B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Share invitation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AC91D-4456-489A-9725-D4E1ACE8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AA255B-65D2-49A5-BDC8-F2FA9A1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13E74C-8E9C-4800-A440-23D3953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0DFC83-231C-48AE-8F15-5BFFC73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AE3CC-DD8E-4100-8D58-EE4AB686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D92499-39FF-480F-8DC6-AC256A0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939CF9-4068-4802-AF31-B72AE8FA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589F9E-1676-4952-9473-FFE4955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196075-0C0A-4951-9997-7B799038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get $10. They get $10.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0B89D7-1B55-4B66-AC2B-B1579ED0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paid membership and an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approved eligible purchase.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814B48-3BB9-40FC-82F7-4FC076F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0057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WOW costs $9.99/month until canceled.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rules and exclusions apply.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370E8C-3CF4-4201-B6E2-EAD06AA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95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personal referral link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4217E6-BA83-44E6-A864-C98C770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14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A2765F-D285-4FB6-8E60-6E2A020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00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moneylion.example/r/MAYA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B02995-F624-4D23-AEF2-28F474B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7626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9CF063-013E-4D17-BA24-D0C801E5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Choose how to share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182FF-5081-4096-8311-A68BA21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007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1B5E6D-5FB3-4FE5-9091-C7F57AC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96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Copy link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BE527D-6D80-4820-B926-99F62C9A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389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automatic messages or contact upload.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B740CA-A083-43F3-B794-BFC8BC13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40E166-952A-45BA-AD56-15FC2EE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6B9BCF-7FA8-4B31-B78B-F14DB588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BDC388-CCB1-4653-9E58-C597193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4F3B80-F837-45A0-B61A-73BA399C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3997EC-8D5A-4228-8847-5146E37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C4C0F6-32B5-4721-AB88-BEF0236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Network progress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4A1271-8104-456D-A811-A681F010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Separate invitations, paid joins and qualified rewards. Show $20 earned from two qualified friends, with one purchase still under review.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EAB475-85E3-465D-BE22-21EDDBF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Personal invitation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815B60-DE80-4976-8555-67B6478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share sheet states $10 each, $9.99 monthly price and the required approved purchase. Members choose recipients themselves.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6CF54C-6B8D-48F1-AD1A-2C7D18C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Growth controls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C8EF20-2C86-4C84-B142-E41BB76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contact scraping or automatic mass send. Cap rewards at five qualified friends per month in the pilot. Detect self-referrals and suspicious velocity with an appeal route.</a:t>
            </a:r>
          </a:p>
        </p:txBody>
      </p:sp>
    </p:spTree>
    <p:extLst>
      <p:ext uri="{BB962C8B-B14F-4D97-AF65-F5344CB8AC3E}">
        <p14:creationId xmlns:p14="http://schemas.microsoft.com/office/powerpoint/2010/main" val="87031609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592EC3-8DC5-4673-AD05-A0325E17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66F1-FF2B-4CC7-85C1-CE4BFA44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93BAC-E0BB-40E4-932C-16E9BDF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F4D3-2A86-43F6-8E48-25E327D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invited friend understands the cost before joining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6C9F7-ECB2-4F85-B418-32B6190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07. Referral attribution locks before registration, while the user retains a clear choice to stay free.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CEB55-E2A2-4CB2-8E23-1EE5EC4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Compare qualified retained members and incremental CAC by invitation context, not raw shares or clicks.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83AE9-EE54-4FCF-A901-26AF32DD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3D9BB-4119-4D3E-94A3-75BB6C7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Invitation landing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58141-D3EA-4325-8C08-AEB2F92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831EA-0B4D-4DF6-AC25-3A527CA6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88DB1-6D83-41C9-8E27-2ABB9A77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39365-30FB-4698-8552-15717667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058F0-CDAC-4A2D-8E34-25A5EBF2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C3CB7-3381-42A9-8304-750A710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93944-42EE-40E3-88C8-FA3F1447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Maya invited you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96C18-8BD9-44F5-AD8D-263CA51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EF0BB-B167-4BA0-92FF-E3FA8590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Referral benefit for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602C8-DF42-48C7-A946-1856E4F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D90EE-C80C-448E-8FC8-470EDC17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After you meet the offer conditions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A0F6F-DB71-4D8F-AF09-74D5135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07E97-8F73-4847-8248-66CAF4B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A228C-18EA-4769-8A3D-C0B8AD1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WOW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A817D-41B4-4D22-8235-BBEF2880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 $9.99/month until canceled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FB374-37B9-4064-9A52-6FBBFCDC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605D3-88CF-4210-8A72-CFC1EA1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25085-9426-4B45-9425-1C2A42A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816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Make an eligible purchase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BDBDB-7B51-4922-9A2E-82B0A70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006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Choose an offer you already need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E8DC2-C6D7-4EE9-8924-5DE084D5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F9DD4-41E2-4C61-98A9-741147A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0344F-1006-4A79-8D32-038997B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673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Receive the referral bonus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DC75A-D562-43A8-80AB-E506398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8864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refund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D4A703-1765-473C-A024-9E42E486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5D321-FF2B-46B6-BD21-1D3830D6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8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and join WOW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881B9-7FBC-4E20-AF55-04636FC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294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Continue with free MoneyLion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A7180B-DEDF-4355-9F35-387755A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883E3-1F5C-4385-B9A2-482CE2B8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01FB42-9645-45BB-9DF2-4B7B7F8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B77F3-A660-4984-AD9A-89F96903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0522AC-2905-4B10-9661-C258522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EA3C05-6616-4290-AF8C-458F6D23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374DA3-B12B-4225-95F3-320273B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Qualification tracker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0AFF5F-7931-465A-879D-6D2D471F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B686B7-A7B0-496E-9E0E-876DE881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5774FB-265F-40AD-B76E-47F59E4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0F340F-3200-46AD-AF9B-8E225CD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78DDF-107C-4256-A53C-7F2CB41E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9D92B5-328D-4074-BF9E-BF3EFFE2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CEFCC3-AE47-4D4B-B584-AAAC039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progress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79B357-80DC-4B65-A2C5-2333120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671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3 steps 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8C976D-6653-4088-9DFD-EFBBC9EA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4084A8-AE92-422B-8B72-AE49463E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208045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973EA5-B8CA-4B57-9EDA-03F0219D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148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referral bonus is still pending.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C4231A-0D76-4D38-8069-C8A37CD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19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E7699E-5ACF-48E7-BB89-31BBC45E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481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07C8E2-0EBF-4109-8797-0158818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005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Invitation accepted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28D041-7974-4289-8144-084DC7F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96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Maya is your referrer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9323A7-64FF-4B3E-A15B-C65813B3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03C30B-07CD-42C9-8257-BB6051B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815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203020-37BE-457F-9598-E464A26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339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WOW payment received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F51A4-4C7D-499C-B953-8E92704F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530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$9.99, 24 Sep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F40541-7ED6-4986-9403-61E46CBF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86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8D4599-8405-4992-8F8F-26D8515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149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E3E8BD-6330-4018-8EC0-CAB8C97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673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approval pending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D71738-456F-494D-9871-7553C89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after review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CE1D09-4529-4613-97BD-A8CBA44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038850"/>
            <a:ext cx="310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56FC01-0F32-44B3-8D51-72D88715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341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Both sides receive $10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D33C7B-7F44-4BF4-AFE6-7D99FF07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1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after all conditions are met.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281112-0178-40AE-BAB9-ADDC6F4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C30AB9-74FA-43FE-9FD9-CDF232F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02ADAA-B004-4535-A249-EFEC71E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892FB8-DCFA-499E-9CAF-489CC46D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3B51A7-7B52-417B-90E8-317D977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93D06C-3A3B-48D3-B595-184771B7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099F3B-C1F9-4B18-86C0-6F7700BC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Landing and enrollment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4279BD-0836-4AFE-87B6-ECFF12F7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who invited them, both benefits and qualifying actions. The monthly fee and automatic renewal sit next to the join action.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D33315-6A93-4C2C-875A-35143EED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Qualification status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7E2076-4619-405F-8EBB-10DEBBEA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subscription payment alone leaves the bonus pending. The first approved eligible purchase and refund checks release qualification.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A68386-E1DA-42D6-AD94-65B8ED44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Event requirements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7033B7-BC11-4D1D-A490-B1C0BCF8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signed_token accepted, referral accepted, payment succeeded, order approved and reward available. An ineligible or expired invite receives an explicit explanation.</a:t>
            </a:r>
          </a:p>
        </p:txBody>
      </p:sp>
    </p:spTree>
    <p:extLst>
      <p:ext uri="{BB962C8B-B14F-4D97-AF65-F5344CB8AC3E}">
        <p14:creationId xmlns:p14="http://schemas.microsoft.com/office/powerpoint/2010/main" val="9774171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F96958D-0EDC-4152-9D78-99E937E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A5F5D-F007-4177-A8FF-1F5E83A3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5FE6A-DFB8-4DD4-A85D-4CEE9E95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201A7-B3E6-4113-B579-7081565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private leaderboard rewards useful participation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B35AC-60CD-4731-9FD9-E074750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08. Members opt into a savings circle and see a capped campaign with a clear end 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6F5A1-C74A-4EA8-8C1F-458A58B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the sample leaderboard carries no extra cash prize. Any funded milestone enters the acquisition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5351A-3C0B-4B08-9639-C28D74B6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10F0D-FC6A-481D-A196-FEB8DF7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Private circle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7C84A-C589-40A0-BFE6-8224CFB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20CF8-9872-4F68-9451-B2BF4A5C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91FDC-366C-480B-987F-DE43A8AA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4F2C3-7EF4-45B4-A763-A3AB658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40E5-388D-4B36-9EAC-902527A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6D232-2BAA-4D15-A864-43FA451E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FE570-1B7B-4C2F-B9F8-28762B1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Neighborhood savers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50325-3D11-46B6-92E8-F0594A4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Private circle. Nicknames only.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Ranking uses qualified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DF55F-FC25-4351-8392-79C03EC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  Maya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92008-FACE-468F-BE0A-D8E5A859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243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19DCF-C1FD-40FE-85BF-2847311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E9938-7FD2-4428-BB9A-3DE4FAC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99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 Jordan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B0619-E27B-43DB-AD89-FCBD090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99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D4CA7-D7B7-4771-ACEF-E1E176B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66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FA822-C1E8-4B99-AB58-0753165C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55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3  You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9A659-ADBF-4081-A913-1BDFFF58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3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FFCCD-1E70-4430-B566-63DF3C3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22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4EED2-F7D1-4E4B-B4DE-F22B401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progress: 1 of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B7003-DA2D-40B3-866B-A4AD27F6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5FB40-EC02-4EFA-9240-15E86B7C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102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34231-40F5-40DC-9257-43E45A52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extra cash prize in this example.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EC9E2-346D-4FE7-8991-47E9FC26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4D4EB-B50A-45FD-B718-A661766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2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qualifying actions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98164-A328-4FC1-8F08-69C6D627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722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Hide ranking    Leave circle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7A89AC-02D9-4BEB-8535-D062DAC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F09EEC-2CE4-4F80-BC4B-81FE5649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9EB5C-9798-4998-AF01-705629F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5A78E-5ECA-4373-875E-906F328A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CF75A-A136-48F0-9F0E-906B467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D2B89E-950A-40B7-B32D-6AA6621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EFDF64-6399-40EC-BDF3-92D70F8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Milestone details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03E48-3543-41B1-90EE-32A23DC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F1BB24-D197-4654-B50A-75A57C0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D366A-E0B5-463C-A4A6-3FD85FAB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964499-279D-4822-B5AA-F598289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38AAF4-9B95-45D3-AE0A-8D41E79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FB6BA9-97F0-4509-B9F7-39159BAB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A13FB2-2ED5-4892-93E2-2B20671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Useful actions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914B73-5826-4FBE-9F55-144B47AD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624EF4-1689-402A-9B60-8D2BC47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Understand your cashback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3AE9B8-9321-4DE0-8391-8723C5F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 offer conditions and complete a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short comprehension check.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43A3D5-1FBC-4382-BC75-1264A9CE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48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F6504C-A088-4FAA-8CD9-39F238A1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767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782A77-F1DE-48CB-A2F1-D559D98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the offer rules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615DD8-1AB3-4561-A6AD-8158865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482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Know what earns a reward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2D5B2E-A44F-4A09-86FF-7C34A37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53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187876-7659-42FB-BA19-E516392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816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AA14E5-73E0-4541-BBD8-C4293A17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339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your understanding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D615D-E2A9-4235-B9EF-A805910B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530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purchase required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D60E7C-CB9E-4AA5-B0A7-3294259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7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78E7CE-9682-4D32-99CB-F3DE260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864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383DB2-0EA3-4EC9-A64D-2D8E19E6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Progress updates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39E1FD-9605-4545-AE9D-4EC26CD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578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Fixed rules through 31 Oct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CDE44C-53C0-49B8-951D-B32CB2FF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817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A7F19F-FF8F-44B1-97EF-79710397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769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the offer rules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371611-ECD5-4928-A4FE-C9B2092C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198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Participation is optional.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11D56D-AFDC-4ABA-AD39-AF95CB50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483481-791E-4DDB-9F6E-7505DB0F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1A1E00-1E87-4F2E-B9CB-B8E85630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CA6CE1-DE3E-492A-BF54-40B3B45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60633A-EA58-465A-BBFF-54AEF73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7C7614-D4E0-4D3D-80B7-046570F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B164D2-84F6-48E9-9B49-4ED7B82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Circle progress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F4DBE4-CDE2-4E2A-9BBB-C8C1239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 chosen nicknames and qualified helpful actions. Hide balances, credit scores, income and purchase totals. Provide Leave circle on the same screen.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B5C98D-7CF7-46E4-AA82-6E54A51C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Milestone explanation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741090-5D2A-4A1B-B12C-3FAD4AB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qualifying action, fixed reward pool and remaining funding. Closing a full campaign stops new entries without changing earned obligations.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474DBA-1CCA-4F90-A0DF-63810276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Measurement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254EB7-3DA8-4452-A0E0-76A95E3C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Run separately from the retention experiment. Compare qualified retained use and cost per incremental member. Monitor spam reports and opt-outs.</a:t>
            </a:r>
          </a:p>
        </p:txBody>
      </p:sp>
    </p:spTree>
    <p:extLst>
      <p:ext uri="{BB962C8B-B14F-4D97-AF65-F5344CB8AC3E}">
        <p14:creationId xmlns:p14="http://schemas.microsoft.com/office/powerpoint/2010/main" val="6021378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64C4C9-F551-4470-80A6-D0F0B17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EBAA1-F38C-4BF8-976D-C055483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0CA85-8BB2-4ED4-BF88-91999942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5939B-6054-4497-BA8B-DECB3944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companion explains relevance and asks permission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05466-A1F2-4C31-B0AA-502C36A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09. Manual planning works first. Optional account data can improve relevance when the member chooses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2BC89-A271-4758-94D6-2481C849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Experience pattern from my work: deterministic rules for eligibility, explainable AI assistance and an auditable human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5C7B8-8CB6-409E-A94C-7DE732B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A229A-5CB5-448C-9387-7ADA9C26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Manual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486DE-04D0-443B-82F3-BE8FE31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9F422-B916-445E-8997-B4AC32B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7C663-22C3-4407-852D-81882B6B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F8C79-7A0F-4581-BE61-B49DD71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F2441-FA68-4A0E-8CE4-364530F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75D25-B309-41CD-8732-17A355DE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75449-758F-4563-9B89-B383A79C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Plan your next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F4318-5490-4029-9693-0802D39A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Categories you plan to buy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5579-ACBD-4AF0-8577-63414EDC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0CFA6-1206-4335-ACEB-C4CBE1E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Household refills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294F6-DE51-4C76-BF65-978F72B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planned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7C916-9BB4-4C8E-9BF8-D188DC03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0E3D2-7258-4E83-ADC5-8E63685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$60 this 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C44B2-743C-4F47-A629-084B2620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2E465-16DF-47B7-A22F-155CCB4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Possible cashback: $0-$13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96252-225D-4A37-A409-0C27234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Estimate only. Subject to eligibility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and merchant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DE4C8-7AF8-4079-BC71-3A4D2183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5597D-3513-45FC-9BB8-4291219B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2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Find matching offers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54429-D0D3-4047-9BBA-977A781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7222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Optional: connect an account for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more relevant suggestions.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4BC1A-6EE8-4802-A5F7-051A2AD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EA188-BE97-43F2-B636-86028F8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4149F-1445-4E6E-A821-7368E401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218C6-8DD4-4F8C-9A56-600EF90C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38319-0081-45AC-990F-B7AA6EFF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195A2-D14F-42E5-AB2C-DB74E31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8353A1-0E0B-44CB-988D-043F3A69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Optional connection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2F2FB-6265-41B6-B5CD-BB7450E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5270FE-CA9C-4F4B-8FDD-EEFB715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BB9883-AEA0-46D5-A1D9-37389B1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D55CAF-6B46-4A6E-A884-966E59D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0BD63-C92C-4BCF-A518-8F8AD5A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1536AC-4628-4FA6-BEA9-5C6EF0FB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08DB9F-5464-4925-849C-6D4140A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Choose what to share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F1C8A0-8D0C-46C3-B291-6B41014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6712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Use transaction categories and income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to find relevant offers.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281DBC-4AC3-4AB4-8E5E-1BDB21D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7195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5249B8-937C-47D2-AF80-ACA9633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stay in control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878E65-36FF-4BB5-9614-47D6F7C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Read-only data. No payment access.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Disconnect at any time.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490A48-09FE-499F-AB30-88FE243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0540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Data may update with a delay.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show freshness and fallback to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manual plan when data is missing.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3B930A-948A-4FA1-81AA-2E55FD5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7531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A64398-5B0D-42D7-8068-3C001D2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4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connection consent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DB94F1-13A1-4580-88D2-D673BD8F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91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5520E0-2DD0-446C-9301-CEBE89C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8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Continue manually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B391E7-CB28-43D0-AAD0-26167FF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77DEBF-0DB0-4EB0-A2A9-44A8EBB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ED9AC2-D906-4DCD-82AE-4E2A382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3B6EE5-C747-4B6D-8271-3E0D6B4B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E763FA-F343-487C-8A51-6E343F66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727259-DFF1-4EE6-8426-6F06E320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4AD466-D53F-440E-B87C-4B63E2AA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Useful without a bank link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AB7931-140A-41A5-BD4E-8FB91FC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Members state categories, timing and budget. An estimate remains a range and never appears in the available cash balance.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E7B875-82D2-4211-AFE5-BCC67BE4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Specific data consent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C5DA37-2164-421D-B14E-6275342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State data categories, purpose, refresh expectations and revocation. A stale feed falls back to manual plans. Linking creates no payment authority.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22A69A-E5AD-445C-ADF6-D9C87D5A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Incremental value test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F607F9-8271-4D83-9DE6-546DB84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Randomize companion access with and without cashback. Retain the data integration only if retention or member value improves enough to cover its cost.</a:t>
            </a:r>
          </a:p>
        </p:txBody>
      </p:sp>
    </p:spTree>
    <p:extLst>
      <p:ext uri="{BB962C8B-B14F-4D97-AF65-F5344CB8AC3E}">
        <p14:creationId xmlns:p14="http://schemas.microsoft.com/office/powerpoint/2010/main" val="105381172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DF8A7-587F-4F8D-833C-CB366A0A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525ED-09D4-4D09-8205-D741CC9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63E16-6949-4249-8058-A692201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3597A-5026-4987-80F1-F985FC6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merchant console makes commercial risk actionable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D9851-A6C6-478A-955C-C7D94A0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10. Partnerships, Finance and Operations share one view of funding, attribution, claims and offer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A06CF-A355-4696-8F9F-3504A06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Program ROI = (incremental contribution − program cost) ÷ program cost. State the time window and avoid counting reward costs twice.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A2B4-7C04-45CF-9F33-93DC89B3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experience. All offer amounts, people, dates and balances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ABD4A-466B-49B8-BB76-ABF32D6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9EBCB-2E8F-4FD7-8D26-8844B60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3D575-BB2D-45AA-98F5-2BD6F5B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logo]   Partner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14746-C361-4CA5-9815-0C6F39AA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Finance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920A0-C942-4ABE-8A3A-151550CB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824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sample operations dashboard, 24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B95D9-D8DE-45D5-A012-E1ACBD39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726D9-4F03-41E7-8FF5-A4D491F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Funded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3EDFD-6055-4A07-B577-1776C513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$42,000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00869-81A9-4812-8721-E665130F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DFB11-6199-4808-9ACF-7B07333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Payable rewards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E13F1-A5FB-4CC1-B327-12B53EC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$18,200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824FF-F600-49E8-87BB-6A7293E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3EF90-10C2-4167-B68B-C5E2963F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Tracking matched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13F94-518A-46CE-A7DD-A7263D7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98.7%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95D5F-678B-436E-84AB-2DA7533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A25A5-D71B-4409-AC05-BA29E763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Open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B0760-143D-44AB-B6EF-24F0A494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838200" y="4791075"/>
          <a:ext xmlns:a="http://schemas.openxmlformats.org/drawingml/2006/main" cx="8572500" cy="158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143125"/>
                <a:gridCol w="1714500"/>
                <a:gridCol w="2190750"/>
              </a:tblGrid>
              <a:tr h="352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supply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Margin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[Blueland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terms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[Allbirds logo]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$2.10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 supply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[Bombas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low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$3.20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Pause new offers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7E30A-92B1-495D-8927-674837B8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81775"/>
            <a:ext cx="8467725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16802-44E3-46B1-8FF9-DBDF884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05600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Alert: unmatched approvals exceed 1%. Owner: Finance Ops. Reconcile before payout.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73A43-DD91-41AF-B599-3D889FDB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Business monitoring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BF70F-E7A9-4AAB-BD0E-3F1DAD4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Every alert has an owner and a reversible action. Budget exhaustion closes new activation while approved obligations remain payable.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219C3-CEA8-46B8-A5A6-7EF9FA0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2900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Partnership accountability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A0873-B075-4DE4-9300-E92B325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33900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repeat supply, merchant ROI, concentration and contract renewal. A high click count cannot compensate for missing approvals or weak merchant economics.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75ADA-ACFC-46A5-AED3-62BDCC24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4357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Access and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F42A1-2339-4EDA-A576-DDD00C02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2457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Role-based permissions, dual approval for financial terms, offer version history and an audit log. Pause a merchant independently of the rest of WOW.</a:t>
            </a:r>
          </a:p>
        </p:txBody>
      </p:sp>
    </p:spTree>
    <p:extLst>
      <p:ext uri="{BB962C8B-B14F-4D97-AF65-F5344CB8AC3E}">
        <p14:creationId xmlns:p14="http://schemas.microsoft.com/office/powerpoint/2010/main" val="25799229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E338C-5470-456C-8D83-6F9C82D1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EECCE-A5C4-4CF0-9CEE-5B8AE9F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811E8-1737-49D0-A5BC-D1D3AC2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70150-B1CF-4571-A3D9-DDD09485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 readiness requires evidence from both sides of the 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7C903-11D6-436F-8985-5D3F636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owned-channel pilot first. Broader marketing waits for usable supply and mature member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B1B17-8E41-4E72-8FF5-3FCD019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Positioning: relevant savings you can verify. Avoid “free money,” universal fee recovery or guaranteed credit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8A031-7681-4970-B71A-6A89F5C8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6238875"/>
                <a:gridCol w="45910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Readiness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method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 / hold 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users understand the proposition?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fee, eligibility, pending reward and cancellation comprehension with the three persona groups.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 misleading copy even if it converts well.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the reward fit local needs?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relevant category coverage and total prices across supported regions.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only where supply can fulfill the promise.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merchants renew funding?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repeat order contribution, incremental acquisition and reporting with pilot partners.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 scale if economics depend on unrepeatable first-order bounties.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a referral feel credible?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plain invitations, disclosure of incentives and non-participation reasons.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personal referrals from paid creators and public campaigns.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operations keep the promise?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 test purchases, refunds, missed orders, payouts and account recovery.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expansion with material billing or reward correctness defects.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7523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6F53E-FAB4-4CAE-84CC-492A029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2952E-3949-4DAE-BA0D-CE41C731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0ED6E-9C1B-4943-8036-971C927E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C8C41-4D31-48A8-9EA0-99C8AE0B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six-month roadmap leaves time for D90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5644-9F66-48F8-AD29-ECFE97B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contracts and platform reuse permit this schedule. Delayed prerequisites move the dependent milestone.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4C677-F8A9-4BEE-8EA2-6FE28A15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Influencer marketing follows demonstrated value. A six-month roadmap is not a promise of nationwide expansion by month six.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3D756-C0F1-49BF-A2E8-495D66EC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524750"/>
                <a:gridCol w="49720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Deliverable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gate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cohorts, research, merchant terms, event contracts and the value statement prototype.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economics, consent design and fulfillment plan.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catalog, reward ledger, claims and a 200-member operational pilot around day 45.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payouts and enough contracted repeat supply.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companion rules and start the retention test around day 75.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readiness before experiment enrollment.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Small, separate referral and gamification tests.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 the primary retention test.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 repeat use. Prepare creator and acquisition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Wait for mature retention evidence.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results mature around day 165 for day-75 enrollment. Review regional/category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only if value, retention, contribution and trust gates pass.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45146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A2D16-26F6-4C44-B155-6DC8E4D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4A914-F49B-4E4E-8E51-B93BFA1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93A99-B928-4E64-A2DB-D0207080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32050-82FF-43AD-AE7C-80E3E594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Funding follows capability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ECED4-27E2-4172-9222-B235DC10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12 core roles plus shared Risk/Finance support. Fully allocated steady run cost is $145k/month.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1022F-0E4E-4809-9E30-52BA3C04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Scale acquisition and a payout working-capital facility are separate approvals. Pilot allocations must not quietly fund open-ended growth.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7C2A1-15C0-476B-9687-B0341F9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477000"/>
                <a:gridCol w="4495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or capacity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delivery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PM, 1 designer, 4 engineers and 1 data specialist.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journeys, ledger integrations, measurement and releases.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execution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partnership specialists and 2 operations specialists.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Acquire supply, manage merchant success, reconcile rewards and resolve claims.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control functions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Risk, Security, Legal and Finance have named decision owners.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Included in the planning cost envelope. Validate actual availability.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 1: month 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$160k for baseline, discovery and commercial validation.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first. Stop if relevant funded supply is not credible.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Tranches 2 and 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$320k for months 2-3, then $500k for months 4-6.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$980k: $870k run cost + $110k pilot/tooling contingency.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10134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938F70-414B-4705-B9ED-EC55FADD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CFCB-D587-4B93-A3EC-6BBD301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514AF-F3AD-4B70-9785-ACE8AD8A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CF7BC-7D68-48F1-AF5D-A866312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Retargeting follows value and reward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032F8-75AD-4E2A-9717-75AA5D1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trigger messages on useful events and suppress irrelevant promotions. Marketing and bank-data consent remain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DCA3B-4F31-4A64-AD42-076A185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 incremental paid activation and D90 retained value. Suppress messages after opt-out, weak fit or a support complaint.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89058-D2A2-4371-864F-17EDB52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93E07-A0A4-4A28-AA7E-8597F759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656C9-8358-47E1-B431-DD39E8A9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656D0-4110-4BEC-A950-04281E9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800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payment, reward and consent events before each send.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C1BD3-DDED-40B9-8165-8F5C2CD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6F343-E590-4234-A0EE-C1F4126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No paid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45847-D00B-4534-A7ED-8044F3B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One consented email with relevant inventory, the fee and offer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21B74-AFD5-4217-8C0C-E0FC128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30F86-C395-4D83-BD6E-A5B53FB9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Paid, no activation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8F9E1-3ADB-4EEF-861B-F8F2C55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guidance to a planned offer. Keep manual preference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402F4-63A1-461F-A5E3-E42193AE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52371-127C-4168-A504-6FD8146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 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EB8A5-27DE-4EAF-A757-5BDEFB4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status, optional push for delays. Suppress purchase promotions.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29738-B015-4A0E-A3CB-7AC63AC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BA7BD-58EF-45AC-94F1-8B87321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Before renewal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D5A71-DD85-40D4-9C91-BDF3BC89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statement and renewal notice: value, next fee and manage/cancel access.</a:t>
            </a:r>
          </a:p>
        </p:txBody>
      </p: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752850" y="3314700"/>
            <a:ext cx="12001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752850" y="4333875"/>
            <a:ext cx="1200150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752850" y="3314700"/>
            <a:ext cx="6296025" cy="10191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52850" y="4333875"/>
            <a:ext cx="6296025" cy="9429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CD380-9341-4360-A5AD-25F0F29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Route to the applicable message for the member’s current state. Re-check consent before sending.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1C7A6-F024-44A4-8B9F-3F03349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13868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F6D41-B0C4-4C3B-9597-50D4F9D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829425"/>
            <a:ext cx="1354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Global suppression: opt-out, complaint or weak fit. Assumption: at most two promotional contacts weekly.</a:t>
            </a:r>
          </a:p>
        </p:txBody>
      </p:sp>
    </p:spTree>
    <p:extLst>
      <p:ext uri="{BB962C8B-B14F-4D97-AF65-F5344CB8AC3E}">
        <p14:creationId xmlns:p14="http://schemas.microsoft.com/office/powerpoint/2010/main" val="211735032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46981-61BB-4D5C-B977-645F101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DC76B-91AF-4FEB-93D1-4F87CF85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D4D50-D91A-40A8-A61C-5BD7CBE4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2E37E-46E0-427A-BA12-1C5D37C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5,000-signup spike needs a cohort 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A429-7199-4F47-B78E-58AD845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fact: 5,000 signups in launch week, followed by volatile weeks. Assumption: all retention values below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C1A8A-EABE-4374-B20F-E6D6CA5F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Keep signups in the dashboard, but allocate capital using mature paid cohorts, recurring value and economics.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21309-D72A-42EF-ADA7-5B8FAB47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 Chart values and cohort comparison are assumptions.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a6ef9cff204a0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79CF5-0868-443B-9AE6-E6C8248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Equal-tenure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3195E-25EF-42AF-8CDB-561AE7F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If all 5,000 launch signups became paid starts, 40% D90 retention leaves 2,000. A later 3,000-start cohort at 70% leaves 2,100. First verify trial-to-paid conversion.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4BB0E-7520-4E8F-896A-0381F210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What to investigate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2EA5F-A393-43A1-A6D3-A705E79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Decompose eligible reach, channel spend, promotional price and paid conversion. Then compare retention, net value and contribution at the same tenure.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1678F-5656-438C-9AEE-D3632D2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What we can conclude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551CB-A498-493F-A9F7-A86630CB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Signups measure acquisition demand and channel output. They do not establish recurring willingness to pay. These example cohorts are descriptive, not causal evidence.</a:t>
            </a:r>
          </a:p>
        </p:txBody>
      </p:sp>
    </p:spTree>
    <p:extLst>
      <p:ext uri="{BB962C8B-B14F-4D97-AF65-F5344CB8AC3E}">
        <p14:creationId xmlns:p14="http://schemas.microsoft.com/office/powerpoint/2010/main" val="65572870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56FEE-3325-4197-8A68-A93376E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C106-F1F7-4466-8311-001A1E1A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8DBD8-C3B6-431E-A10A-4777E56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60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C2028-DDB3-4946-874B-814D3BB5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Product-market fit determines the next 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83FBC-F4F9-4503-BDBE-5F7F9CA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proposed scale criteria. No single threshold or short flattening curve proves permanent retention.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07632-7FC8-4739-9A44-6DC8026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Leadership decision: release the assumed $160k first tranche, secure repeat supply and approve the primary test. Return at D90 with a scale, repair or stop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56B90-1FA7-4D45-9B9E-A9F10C66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286500"/>
                <a:gridCol w="482917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decision rule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retention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uplift ≥5 percentage points versus current WOW, with confidence interval and no material trust harm.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 experimental assignment, tenure and payment-failure churn separately.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Realized member value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≥60% of matured enrolled members have positive core net cash value by D90.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Also inspect monthly value, bottom quartile and advantage over free alternatives.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Combined north star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≥35% continuously paid at D90 and positive cumulative core net cash value.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every enrolled paid member, not only redeemers.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durability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Positive incremental D90 contribution and credible observed CAC recovery.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Continue beyond D90 to see whether repeat supply and contribution decay.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 matrix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+ economics pass: expand. Value passes only: repair funding. Economics passes only: repair fit.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Neither passes: stop or replace. Demand alone is insufficient.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43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2026-09-24T03:34:38.8000000Z</dcterms:created>
  <dcterms:modified xsi:type="dcterms:W3CDTF">2026-09-24T03:34:38.8000000Z</dcterms:modified>
</coreProperties>
</file>