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charts/chart1.xml" ContentType="application/vnd.openxmlformats-officedocument.drawingml.chart+xml"/>
  <Override PartName="/ppt/slides/slide60.xml" ContentType="application/vnd.openxmlformats-officedocument.presentationml.slide+xml"/>
  <Default Extension="xlsx" ContentType="application/vnd.openxmlformats-officedocument.spreadsheetml.sheet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38f62999cd73478d"/><Relationship Type="http://schemas.openxmlformats.org/officeDocument/2006/relationships/extended-properties" Target="/docProps/app.xml" Id="R4103ea29248641f4"/><Relationship Type="http://schemas.openxmlformats.org/officeDocument/2006/relationships/officeDocument" Target="/ppt/presentation.xml" Id="Rd717419b65874d92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291a35b69e4d20"/>
  </p:sldMasterIdLst>
  <p:sldIdLst>
    <p:sldId xmlns:r="http://schemas.openxmlformats.org/officeDocument/2006/relationships" id="256" r:id="Rd63b2e8c5d4c4d71"/>
    <p:sldId xmlns:r="http://schemas.openxmlformats.org/officeDocument/2006/relationships" id="257" r:id="Rab0b52d906bd40a8"/>
    <p:sldId xmlns:r="http://schemas.openxmlformats.org/officeDocument/2006/relationships" id="258" r:id="R23c2c789afd64ef0"/>
    <p:sldId xmlns:r="http://schemas.openxmlformats.org/officeDocument/2006/relationships" id="259" r:id="Refe69e236444414d"/>
    <p:sldId xmlns:r="http://schemas.openxmlformats.org/officeDocument/2006/relationships" id="260" r:id="R00aa27ccc5f94e09"/>
    <p:sldId xmlns:r="http://schemas.openxmlformats.org/officeDocument/2006/relationships" id="261" r:id="R2222bfe2000c4709"/>
    <p:sldId xmlns:r="http://schemas.openxmlformats.org/officeDocument/2006/relationships" id="262" r:id="R68869a6885d9445a"/>
    <p:sldId xmlns:r="http://schemas.openxmlformats.org/officeDocument/2006/relationships" id="263" r:id="Rf2f8dff8c0a54c2d"/>
    <p:sldId xmlns:r="http://schemas.openxmlformats.org/officeDocument/2006/relationships" id="264" r:id="R5675186c45814f3b"/>
    <p:sldId xmlns:r="http://schemas.openxmlformats.org/officeDocument/2006/relationships" id="265" r:id="Re29b6cf86aef49fc"/>
    <p:sldId xmlns:r="http://schemas.openxmlformats.org/officeDocument/2006/relationships" id="266" r:id="R5380bcfa16b3466e"/>
    <p:sldId xmlns:r="http://schemas.openxmlformats.org/officeDocument/2006/relationships" id="267" r:id="Rf9976bb125814f54"/>
    <p:sldId xmlns:r="http://schemas.openxmlformats.org/officeDocument/2006/relationships" id="268" r:id="Rf9f624aa0fc84dd4"/>
    <p:sldId xmlns:r="http://schemas.openxmlformats.org/officeDocument/2006/relationships" id="269" r:id="Rfc1eac2e9aca4948"/>
    <p:sldId xmlns:r="http://schemas.openxmlformats.org/officeDocument/2006/relationships" id="270" r:id="R94ef623f170b4818"/>
    <p:sldId xmlns:r="http://schemas.openxmlformats.org/officeDocument/2006/relationships" id="271" r:id="Rab66ef81ab334000"/>
    <p:sldId xmlns:r="http://schemas.openxmlformats.org/officeDocument/2006/relationships" id="272" r:id="R211649d4f15d4c64"/>
    <p:sldId xmlns:r="http://schemas.openxmlformats.org/officeDocument/2006/relationships" id="273" r:id="Re07f7140b24347fe"/>
    <p:sldId xmlns:r="http://schemas.openxmlformats.org/officeDocument/2006/relationships" id="274" r:id="R7ec2df75f4304e84"/>
    <p:sldId xmlns:r="http://schemas.openxmlformats.org/officeDocument/2006/relationships" id="275" r:id="Rbd35eaea8ea2460a"/>
    <p:sldId xmlns:r="http://schemas.openxmlformats.org/officeDocument/2006/relationships" id="276" r:id="R3527eb63cc314fb2"/>
    <p:sldId xmlns:r="http://schemas.openxmlformats.org/officeDocument/2006/relationships" id="277" r:id="Re0bf03885ede4c5f"/>
    <p:sldId xmlns:r="http://schemas.openxmlformats.org/officeDocument/2006/relationships" id="278" r:id="Rfa4c6323e71147c5"/>
    <p:sldId xmlns:r="http://schemas.openxmlformats.org/officeDocument/2006/relationships" id="279" r:id="R7d6b24920d8f4a15"/>
    <p:sldId xmlns:r="http://schemas.openxmlformats.org/officeDocument/2006/relationships" id="280" r:id="R93008ed689cc4d3a"/>
    <p:sldId xmlns:r="http://schemas.openxmlformats.org/officeDocument/2006/relationships" id="281" r:id="R5ba1363ea70641df"/>
    <p:sldId xmlns:r="http://schemas.openxmlformats.org/officeDocument/2006/relationships" id="282" r:id="R2cce123974974531"/>
    <p:sldId xmlns:r="http://schemas.openxmlformats.org/officeDocument/2006/relationships" id="283" r:id="R1db325252e004f04"/>
    <p:sldId xmlns:r="http://schemas.openxmlformats.org/officeDocument/2006/relationships" id="284" r:id="R02750424a57246ff"/>
    <p:sldId xmlns:r="http://schemas.openxmlformats.org/officeDocument/2006/relationships" id="285" r:id="Rbf0255022dfb4bdc"/>
    <p:sldId xmlns:r="http://schemas.openxmlformats.org/officeDocument/2006/relationships" id="286" r:id="R420ca86fa70d4fc0"/>
    <p:sldId xmlns:r="http://schemas.openxmlformats.org/officeDocument/2006/relationships" id="287" r:id="R1baedd7e91174a1b"/>
    <p:sldId xmlns:r="http://schemas.openxmlformats.org/officeDocument/2006/relationships" id="288" r:id="R5ba8c37879614a6c"/>
    <p:sldId xmlns:r="http://schemas.openxmlformats.org/officeDocument/2006/relationships" id="289" r:id="R55bfffe9c65a42ef"/>
    <p:sldId xmlns:r="http://schemas.openxmlformats.org/officeDocument/2006/relationships" id="290" r:id="Ref57fe4227a14457"/>
    <p:sldId xmlns:r="http://schemas.openxmlformats.org/officeDocument/2006/relationships" id="291" r:id="Ra8c211c87ca94743"/>
    <p:sldId xmlns:r="http://schemas.openxmlformats.org/officeDocument/2006/relationships" id="292" r:id="Re2d058918d00438c"/>
    <p:sldId xmlns:r="http://schemas.openxmlformats.org/officeDocument/2006/relationships" id="293" r:id="R7372002f008c43bd"/>
    <p:sldId xmlns:r="http://schemas.openxmlformats.org/officeDocument/2006/relationships" id="294" r:id="R37571be1fc8a4613"/>
    <p:sldId xmlns:r="http://schemas.openxmlformats.org/officeDocument/2006/relationships" id="295" r:id="R034d70f319f04da9"/>
    <p:sldId xmlns:r="http://schemas.openxmlformats.org/officeDocument/2006/relationships" id="296" r:id="Rd1bdf8a8245d4fd5"/>
    <p:sldId xmlns:r="http://schemas.openxmlformats.org/officeDocument/2006/relationships" id="297" r:id="R45dc8a25510a4da6"/>
    <p:sldId xmlns:r="http://schemas.openxmlformats.org/officeDocument/2006/relationships" id="298" r:id="Re06fa433e5e64142"/>
    <p:sldId xmlns:r="http://schemas.openxmlformats.org/officeDocument/2006/relationships" id="299" r:id="Rc20161063b5b4d8b"/>
    <p:sldId xmlns:r="http://schemas.openxmlformats.org/officeDocument/2006/relationships" id="300" r:id="R9e89880e028142ac"/>
    <p:sldId xmlns:r="http://schemas.openxmlformats.org/officeDocument/2006/relationships" id="301" r:id="Ra6a07fce4a264164"/>
    <p:sldId xmlns:r="http://schemas.openxmlformats.org/officeDocument/2006/relationships" id="302" r:id="R0d606f6a6c2647fc"/>
    <p:sldId xmlns:r="http://schemas.openxmlformats.org/officeDocument/2006/relationships" id="303" r:id="R27f069468e3445ef"/>
    <p:sldId xmlns:r="http://schemas.openxmlformats.org/officeDocument/2006/relationships" id="304" r:id="Rcdd2194432a94b74"/>
    <p:sldId xmlns:r="http://schemas.openxmlformats.org/officeDocument/2006/relationships" id="305" r:id="R0a136e30aaaa48ce"/>
    <p:sldId xmlns:r="http://schemas.openxmlformats.org/officeDocument/2006/relationships" id="306" r:id="Rfc4a3f8df4ca4bf5"/>
    <p:sldId xmlns:r="http://schemas.openxmlformats.org/officeDocument/2006/relationships" id="307" r:id="R8a177bc9d88e4609"/>
    <p:sldId xmlns:r="http://schemas.openxmlformats.org/officeDocument/2006/relationships" id="308" r:id="R7dd907aa23f146fa"/>
    <p:sldId xmlns:r="http://schemas.openxmlformats.org/officeDocument/2006/relationships" id="309" r:id="R82d5920eb98f4c75"/>
    <p:sldId xmlns:r="http://schemas.openxmlformats.org/officeDocument/2006/relationships" id="310" r:id="Rac6badcf6c1d4956"/>
    <p:sldId xmlns:r="http://schemas.openxmlformats.org/officeDocument/2006/relationships" id="311" r:id="R3bf53350e2dc4ad5"/>
    <p:sldId xmlns:r="http://schemas.openxmlformats.org/officeDocument/2006/relationships" id="312" r:id="R37c1a17d3b7041fe"/>
    <p:sldId xmlns:r="http://schemas.openxmlformats.org/officeDocument/2006/relationships" id="313" r:id="Rb47689e0c70f4392"/>
    <p:sldId xmlns:r="http://schemas.openxmlformats.org/officeDocument/2006/relationships" id="314" r:id="R8efa0d506c9e4126"/>
    <p:sldId xmlns:r="http://schemas.openxmlformats.org/officeDocument/2006/relationships" id="315" r:id="R85e42520f56b48ce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fe0cf038fbf04412"/><Relationship Type="http://schemas.openxmlformats.org/officeDocument/2006/relationships/slideMaster" Target="/ppt/slideMasters/slideMaster1.xml" Id="Rd1291a35b69e4d20"/><Relationship Type="http://schemas.openxmlformats.org/officeDocument/2006/relationships/presProps" Target="/ppt/presProps.xml" Id="R7c8f7ea68df9467f"/><Relationship Type="http://schemas.openxmlformats.org/officeDocument/2006/relationships/tableStyles" Target="/ppt/tableStyles.xml" Id="R93ff5020a2e94c5c"/><Relationship Type="http://schemas.openxmlformats.org/officeDocument/2006/relationships/slide" Target="/ppt/slides/slide1.xml" Id="Rd63b2e8c5d4c4d71"/><Relationship Type="http://schemas.openxmlformats.org/officeDocument/2006/relationships/slide" Target="/ppt/slides/slide2.xml" Id="Rab0b52d906bd40a8"/><Relationship Type="http://schemas.openxmlformats.org/officeDocument/2006/relationships/slide" Target="/ppt/slides/slide3.xml" Id="R23c2c789afd64ef0"/><Relationship Type="http://schemas.openxmlformats.org/officeDocument/2006/relationships/slide" Target="/ppt/slides/slide4.xml" Id="Refe69e236444414d"/><Relationship Type="http://schemas.openxmlformats.org/officeDocument/2006/relationships/slide" Target="/ppt/slides/slide5.xml" Id="R00aa27ccc5f94e09"/><Relationship Type="http://schemas.openxmlformats.org/officeDocument/2006/relationships/slide" Target="/ppt/slides/slide6.xml" Id="R2222bfe2000c4709"/><Relationship Type="http://schemas.openxmlformats.org/officeDocument/2006/relationships/slide" Target="/ppt/slides/slide7.xml" Id="R68869a6885d9445a"/><Relationship Type="http://schemas.openxmlformats.org/officeDocument/2006/relationships/slide" Target="/ppt/slides/slide8.xml" Id="Rf2f8dff8c0a54c2d"/><Relationship Type="http://schemas.openxmlformats.org/officeDocument/2006/relationships/slide" Target="/ppt/slides/slide9.xml" Id="R5675186c45814f3b"/><Relationship Type="http://schemas.openxmlformats.org/officeDocument/2006/relationships/slide" Target="/ppt/slides/slide10.xml" Id="Re29b6cf86aef49fc"/><Relationship Type="http://schemas.openxmlformats.org/officeDocument/2006/relationships/slide" Target="/ppt/slides/slide11.xml" Id="R5380bcfa16b3466e"/><Relationship Type="http://schemas.openxmlformats.org/officeDocument/2006/relationships/slide" Target="/ppt/slides/slide12.xml" Id="Rf9976bb125814f54"/><Relationship Type="http://schemas.openxmlformats.org/officeDocument/2006/relationships/slide" Target="/ppt/slides/slide13.xml" Id="Rf9f624aa0fc84dd4"/><Relationship Type="http://schemas.openxmlformats.org/officeDocument/2006/relationships/slide" Target="/ppt/slides/slide14.xml" Id="Rfc1eac2e9aca4948"/><Relationship Type="http://schemas.openxmlformats.org/officeDocument/2006/relationships/slide" Target="/ppt/slides/slide15.xml" Id="R94ef623f170b4818"/><Relationship Type="http://schemas.openxmlformats.org/officeDocument/2006/relationships/slide" Target="/ppt/slides/slide16.xml" Id="Rab66ef81ab334000"/><Relationship Type="http://schemas.openxmlformats.org/officeDocument/2006/relationships/slide" Target="/ppt/slides/slide17.xml" Id="R211649d4f15d4c64"/><Relationship Type="http://schemas.openxmlformats.org/officeDocument/2006/relationships/slide" Target="/ppt/slides/slide18.xml" Id="Re07f7140b24347fe"/><Relationship Type="http://schemas.openxmlformats.org/officeDocument/2006/relationships/slide" Target="/ppt/slides/slide19.xml" Id="R7ec2df75f4304e84"/><Relationship Type="http://schemas.openxmlformats.org/officeDocument/2006/relationships/slide" Target="/ppt/slides/slide20.xml" Id="Rbd35eaea8ea2460a"/><Relationship Type="http://schemas.openxmlformats.org/officeDocument/2006/relationships/slide" Target="/ppt/slides/slide21.xml" Id="R3527eb63cc314fb2"/><Relationship Type="http://schemas.openxmlformats.org/officeDocument/2006/relationships/slide" Target="/ppt/slides/slide22.xml" Id="Re0bf03885ede4c5f"/><Relationship Type="http://schemas.openxmlformats.org/officeDocument/2006/relationships/slide" Target="/ppt/slides/slide23.xml" Id="Rfa4c6323e71147c5"/><Relationship Type="http://schemas.openxmlformats.org/officeDocument/2006/relationships/slide" Target="/ppt/slides/slide24.xml" Id="R7d6b24920d8f4a15"/><Relationship Type="http://schemas.openxmlformats.org/officeDocument/2006/relationships/slide" Target="/ppt/slides/slide25.xml" Id="R93008ed689cc4d3a"/><Relationship Type="http://schemas.openxmlformats.org/officeDocument/2006/relationships/slide" Target="/ppt/slides/slide26.xml" Id="R5ba1363ea70641df"/><Relationship Type="http://schemas.openxmlformats.org/officeDocument/2006/relationships/slide" Target="/ppt/slides/slide27.xml" Id="R2cce123974974531"/><Relationship Type="http://schemas.openxmlformats.org/officeDocument/2006/relationships/slide" Target="/ppt/slides/slide28.xml" Id="R1db325252e004f04"/><Relationship Type="http://schemas.openxmlformats.org/officeDocument/2006/relationships/slide" Target="/ppt/slides/slide29.xml" Id="R02750424a57246ff"/><Relationship Type="http://schemas.openxmlformats.org/officeDocument/2006/relationships/slide" Target="/ppt/slides/slide30.xml" Id="Rbf0255022dfb4bdc"/><Relationship Type="http://schemas.openxmlformats.org/officeDocument/2006/relationships/slide" Target="/ppt/slides/slide31.xml" Id="R420ca86fa70d4fc0"/><Relationship Type="http://schemas.openxmlformats.org/officeDocument/2006/relationships/slide" Target="/ppt/slides/slide32.xml" Id="R1baedd7e91174a1b"/><Relationship Type="http://schemas.openxmlformats.org/officeDocument/2006/relationships/slide" Target="/ppt/slides/slide33.xml" Id="R5ba8c37879614a6c"/><Relationship Type="http://schemas.openxmlformats.org/officeDocument/2006/relationships/slide" Target="/ppt/slides/slide34.xml" Id="R55bfffe9c65a42ef"/><Relationship Type="http://schemas.openxmlformats.org/officeDocument/2006/relationships/slide" Target="/ppt/slides/slide35.xml" Id="Ref57fe4227a14457"/><Relationship Type="http://schemas.openxmlformats.org/officeDocument/2006/relationships/slide" Target="/ppt/slides/slide36.xml" Id="Ra8c211c87ca94743"/><Relationship Type="http://schemas.openxmlformats.org/officeDocument/2006/relationships/slide" Target="/ppt/slides/slide37.xml" Id="Re2d058918d00438c"/><Relationship Type="http://schemas.openxmlformats.org/officeDocument/2006/relationships/slide" Target="/ppt/slides/slide38.xml" Id="R7372002f008c43bd"/><Relationship Type="http://schemas.openxmlformats.org/officeDocument/2006/relationships/slide" Target="/ppt/slides/slide39.xml" Id="R37571be1fc8a4613"/><Relationship Type="http://schemas.openxmlformats.org/officeDocument/2006/relationships/slide" Target="/ppt/slides/slide40.xml" Id="R034d70f319f04da9"/><Relationship Type="http://schemas.openxmlformats.org/officeDocument/2006/relationships/slide" Target="/ppt/slides/slide41.xml" Id="Rd1bdf8a8245d4fd5"/><Relationship Type="http://schemas.openxmlformats.org/officeDocument/2006/relationships/slide" Target="/ppt/slides/slide42.xml" Id="R45dc8a25510a4da6"/><Relationship Type="http://schemas.openxmlformats.org/officeDocument/2006/relationships/slide" Target="/ppt/slides/slide43.xml" Id="Re06fa433e5e64142"/><Relationship Type="http://schemas.openxmlformats.org/officeDocument/2006/relationships/slide" Target="/ppt/slides/slide44.xml" Id="Rc20161063b5b4d8b"/><Relationship Type="http://schemas.openxmlformats.org/officeDocument/2006/relationships/slide" Target="/ppt/slides/slide45.xml" Id="R9e89880e028142ac"/><Relationship Type="http://schemas.openxmlformats.org/officeDocument/2006/relationships/slide" Target="/ppt/slides/slide46.xml" Id="Ra6a07fce4a264164"/><Relationship Type="http://schemas.openxmlformats.org/officeDocument/2006/relationships/slide" Target="/ppt/slides/slide47.xml" Id="R0d606f6a6c2647fc"/><Relationship Type="http://schemas.openxmlformats.org/officeDocument/2006/relationships/slide" Target="/ppt/slides/slide48.xml" Id="R27f069468e3445ef"/><Relationship Type="http://schemas.openxmlformats.org/officeDocument/2006/relationships/slide" Target="/ppt/slides/slide49.xml" Id="Rcdd2194432a94b74"/><Relationship Type="http://schemas.openxmlformats.org/officeDocument/2006/relationships/slide" Target="/ppt/slides/slide50.xml" Id="R0a136e30aaaa48ce"/><Relationship Type="http://schemas.openxmlformats.org/officeDocument/2006/relationships/slide" Target="/ppt/slides/slide51.xml" Id="Rfc4a3f8df4ca4bf5"/><Relationship Type="http://schemas.openxmlformats.org/officeDocument/2006/relationships/slide" Target="/ppt/slides/slide52.xml" Id="R8a177bc9d88e4609"/><Relationship Type="http://schemas.openxmlformats.org/officeDocument/2006/relationships/slide" Target="/ppt/slides/slide53.xml" Id="R7dd907aa23f146fa"/><Relationship Type="http://schemas.openxmlformats.org/officeDocument/2006/relationships/slide" Target="/ppt/slides/slide54.xml" Id="R82d5920eb98f4c75"/><Relationship Type="http://schemas.openxmlformats.org/officeDocument/2006/relationships/slide" Target="/ppt/slides/slide55.xml" Id="Rac6badcf6c1d4956"/><Relationship Type="http://schemas.openxmlformats.org/officeDocument/2006/relationships/slide" Target="/ppt/slides/slide56.xml" Id="R3bf53350e2dc4ad5"/><Relationship Type="http://schemas.openxmlformats.org/officeDocument/2006/relationships/slide" Target="/ppt/slides/slide57.xml" Id="R37c1a17d3b7041fe"/><Relationship Type="http://schemas.openxmlformats.org/officeDocument/2006/relationships/slide" Target="/ppt/slides/slide58.xml" Id="Rb47689e0c70f4392"/><Relationship Type="http://schemas.openxmlformats.org/officeDocument/2006/relationships/slide" Target="/ppt/slides/slide59.xml" Id="R8efa0d506c9e4126"/><Relationship Type="http://schemas.openxmlformats.org/officeDocument/2006/relationships/slide" Target="/ppt/slides/slide60.xml" Id="R85e42520f56b48ce"/></Relationship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14e28665aeb94ab5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b57f4c93eb2c4be8"/><Relationship Type="http://schemas.openxmlformats.org/officeDocument/2006/relationships/slideLayout" Target="/ppt/slideLayouts/slideLayout1.xml" Id="R04249fb0a99742fe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249fb0a99742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00fa9b6f97ca404a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11d9e0564a5847dc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17f2d7c8a7674632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cc0925504ad7420c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9a35286c0bda4c28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bde8001f6a6a4b41"/><Relationship Type="http://schemas.openxmlformats.org/officeDocument/2006/relationships/hyperlink" Target="https://newsroom.transunion.com/k-shaped-q1-2026-ciir/" TargetMode="External" Id="R63344caaf31549cd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a3c179c22bf848f5"/><Relationship Type="http://schemas.openxmlformats.org/officeDocument/2006/relationships/hyperlink" Target="https://moneylion.com/referrals-terms-and-conditions" TargetMode="External" Id="R8d7e978a785e4f8f"/><Relationship Type="http://schemas.openxmlformats.org/officeDocument/2006/relationships/hyperlink" Target="https://help.chime.com" TargetMode="External" Id="Rd6493fd7baa2478f"/><Relationship Type="http://schemas.openxmlformats.org/officeDocument/2006/relationships/hyperlink" Target="https://rakuten.com/help" TargetMode="External" Id="R8535461565cc4001"/><Relationship Type="http://schemas.openxmlformats.org/officeDocument/2006/relationships/hyperlink" Target="https://help.ibotta.com" TargetMode="External" Id="R53d88ec9e7b64bb0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13dbb237efb349b4"/><Relationship Type="http://schemas.openxmlformats.org/officeDocument/2006/relationships/hyperlink" Target="https://moneylion.com/cash-advance/instacash" TargetMode="External" Id="R747127fd275e4a61"/><Relationship Type="http://schemas.openxmlformats.org/officeDocument/2006/relationships/hyperlink" Target="https://moneylion.com/membership" TargetMode="External" Id="Rb39acc79b96d4a31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29dd8e7df6f443da"/><Relationship Type="http://schemas.openxmlformats.org/officeDocument/2006/relationships/hyperlink" Target="https://aboutamazon.com/news/retail/prime-membership-shopping-benefits" TargetMode="External" Id="R67365ddfe8454529"/><Relationship Type="http://schemas.openxmlformats.org/officeDocument/2006/relationships/hyperlink" Target="https://spotify.com/us/premium" TargetMode="External" Id="Ra67f2bf86ace4a0f"/><Relationship Type="http://schemas.openxmlformats.org/officeDocument/2006/relationships/hyperlink" Target="https://costco.com/f/-/executive-rewards" TargetMode="External" Id="R1f59181ed420484c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63b14ae32e9f4658"/><Relationship Type="http://schemas.openxmlformats.org/officeDocument/2006/relationships/hyperlink" Target="https://help.dropbox.com/storage-space/earn-space-referring-friends" TargetMode="External" Id="R6e06033d1cbb4e0d"/><Relationship Type="http://schemas.openxmlformats.org/officeDocument/2006/relationships/hyperlink" Target="https://help.chime.com" TargetMode="External" Id="R9bd6f5003bcf4fca"/><Relationship Type="http://schemas.openxmlformats.org/officeDocument/2006/relationships/hyperlink" Target="https://rakuten.com/help/article/referafriend-program-faq-115009160427" TargetMode="External" Id="R040c274a505a4116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d45e1e63dd6d4961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3762ab5d6a4047c7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066eb80102014af3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faa1d476e5094289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fd6c1ae40f8048ed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2bfa8a4faf0946d6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79c418665b7c418a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c9a822ec9319424b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76d3140bc9f4449a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a07df9e68a8f4878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43e27a684e044ab5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ac8ff6a44930424f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308b56aa29334539"/><Relationship Type="http://schemas.openxmlformats.org/officeDocument/2006/relationships/hyperlink" Target="https://consumerfinance.gov/rules-policy/regulations/1002/9" TargetMode="External" Id="R7ea77d20cefb4a97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3d78193d87ac412f"/></Relationships>
</file>

<file path=ppt/slides/_rels/slide2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1121799cb13d4599"/></Relationships>
</file>

<file path=ppt/slides/_rels/slide2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e67e771054c446e0"/></Relationships>
</file>

<file path=ppt/slides/_rels/slide2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faafa45681fa49d3"/></Relationships>
</file>

<file path=ppt/slides/_rels/slide2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6e3414d9c4c74ef9"/></Relationships>
</file>

<file path=ppt/slides/_rels/slide2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c178765e2309464d"/></Relationships>
</file>

<file path=ppt/slides/_rels/slide3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a89f2536ab8349f6"/></Relationships>
</file>

<file path=ppt/slides/_rels/slide3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fba3fd917e994bda"/><Relationship Type="http://schemas.openxmlformats.org/officeDocument/2006/relationships/hyperlink" Target="https://plaid.com/docs/underwriting/" TargetMode="External" Id="R2965274fc7fc42b6"/><Relationship Type="http://schemas.openxmlformats.org/officeDocument/2006/relationships/hyperlink" Target="https://plaid.com/docs/transactions/" TargetMode="External" Id="R1da7b7548d174a9f"/></Relationships>
</file>

<file path=ppt/slides/_rels/slide3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42ca94d5ad2b4bc6"/><Relationship Type="http://schemas.openxmlformats.org/officeDocument/2006/relationships/hyperlink" Target="https://plaid.com/docs/underwriting/" TargetMode="External" Id="R2bac7047ddc94e9f"/><Relationship Type="http://schemas.openxmlformats.org/officeDocument/2006/relationships/hyperlink" Target="https://plaid.com/docs/transactions/" TargetMode="External" Id="R2b1472f4621e40fd"/></Relationships>
</file>

<file path=ppt/slides/_rels/slide3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e60369bc2c884503"/></Relationships>
</file>

<file path=ppt/slides/_rels/slide3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a2c7fb3337254742"/></Relationships>
</file>

<file path=ppt/slides/_rels/slide3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4bd0050cc72e4eca"/></Relationships>
</file>

<file path=ppt/slides/_rels/slide3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320c39b7f5904f25"/></Relationships>
</file>

<file path=ppt/slides/_rels/slide3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2aefa8a37d8748f5"/></Relationships>
</file>

<file path=ppt/slides/_rels/slide3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7ba9369a98b244ab"/></Relationships>
</file>

<file path=ppt/slides/_rels/slide3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ec33ce1b606d47eb"/></Relationships>
</file>

<file path=ppt/slides/_rels/slide4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0722ece18d92490c"/></Relationships>
</file>

<file path=ppt/slides/_rels/slide4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e3ef3e2daa7a4866"/></Relationships>
</file>

<file path=ppt/slides/_rels/slide4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c3df4ed4f134433c"/></Relationships>
</file>

<file path=ppt/slides/_rels/slide4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8b78d0f7d6f34303"/></Relationships>
</file>

<file path=ppt/slides/_rels/slide4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7f87ef4eb26d4916"/></Relationships>
</file>

<file path=ppt/slides/_rels/slide4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54d214df748d4152"/></Relationships>
</file>

<file path=ppt/slides/_rels/slide4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11e848ddc36947f7"/></Relationships>
</file>

<file path=ppt/slides/_rels/slide4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1645bba80b38493c"/></Relationships>
</file>

<file path=ppt/slides/_rels/slide4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0fd20fcef63b427d"/></Relationships>
</file>

<file path=ppt/slides/_rels/slide4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5b897fbde6a1401a"/></Relationships>
</file>

<file path=ppt/slides/_rels/slide5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a5bc1742ede74c98"/></Relationships>
</file>

<file path=ppt/slides/_rels/slide5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aee8337d6ff24189"/></Relationships>
</file>

<file path=ppt/slides/_rels/slide5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7b71eb8907984f65"/></Relationships>
</file>

<file path=ppt/slides/_rels/slide5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b33cee883c07499e"/></Relationships>
</file>

<file path=ppt/slides/_rels/slide5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fc15b8d4260a4e2b"/></Relationships>
</file>

<file path=ppt/slides/_rels/slide5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6a41f5deed7f4a7f"/></Relationships>
</file>

<file path=ppt/slides/_rels/slide5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9236de2e32504834"/></Relationships>
</file>

<file path=ppt/slides/_rels/slide5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74643e73f3bf41b4"/></Relationships>
</file>

<file path=ppt/slides/_rels/slide5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9b143134007840a7"/></Relationships>
</file>

<file path=ppt/slides/_rels/slide5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6711c40379944bab"/><Relationship Type="http://schemas.openxmlformats.org/officeDocument/2006/relationships/chart" Target="/ppt/slides/charts/chart1.xml" Id="R65343e0a3eab438e"/></Relationships>
</file>

<file path=ppt/slides/_rels/slide6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0d294eb448794491"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Launch cohort</c:v>
          </c:tx>
          <c:spPr>
            <a:ln xmlns:a="http://schemas.openxmlformats.org/drawingml/2006/main" w="38100">
              <a:solidFill>
                <a:srgbClr val="83939B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83939B"/>
              </a:solidFill>
            </c:spPr>
          </c:marker>
          <c:cat>
            <c:strRef>
              <c:f>'Chart Data'!$A$2:$A$5</c:f>
              <c:strCache>
                <c:ptCount val="4"/>
                <c:pt idx="0">
                  <c:v>Paid start</c:v>
                </c:pt>
                <c:pt idx="1">
                  <c:v>D30</c:v>
                </c:pt>
                <c:pt idx="2">
                  <c:v>D60</c:v>
                </c:pt>
                <c:pt idx="3">
                  <c:v>D90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</c:v>
                </c:pt>
                <c:pt idx="1">
                  <c:v>0.08</c:v>
                </c:pt>
                <c:pt idx="2">
                  <c:v>0.18</c:v>
                </c:pt>
                <c:pt idx="3">
                  <c:v>0.25</c:v>
                </c:pt>
              </c:numCache>
            </c:numRef>
          </c:val>
        </c:ser>
        <c:ser>
          <c:idx val="1"/>
          <c:order val="1"/>
          <c:tx>
            <c:v>Later cohort</c:v>
          </c:tx>
          <c:spPr>
            <a:ln xmlns:a="http://schemas.openxmlformats.org/drawingml/2006/main" w="38100">
              <a:solidFill>
                <a:srgbClr val="007B64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007B64"/>
              </a:solidFill>
            </c:spPr>
          </c:marker>
          <c:cat>
            <c:strRef>
              <c:f>'Chart Data'!$C$2:$C$5</c:f>
              <c:strCache>
                <c:ptCount val="4"/>
                <c:pt idx="0">
                  <c:v>Paid start</c:v>
                </c:pt>
                <c:pt idx="1">
                  <c:v>D30</c:v>
                </c:pt>
                <c:pt idx="2">
                  <c:v>D60</c:v>
                </c:pt>
                <c:pt idx="3">
                  <c:v>D90</c:v>
                </c:pt>
              </c:strCache>
            </c:strRef>
          </c:cat>
          <c:val>
            <c:numRef>
              <c:f>'Chart Data'!$D$2:$D$5</c:f>
              <c:numCache>
                <c:formatCode>0%</c:formatCode>
                <c:ptCount val="4"/>
                <c:pt idx="0">
                  <c:v>0</c:v>
                </c:pt>
                <c:pt idx="1">
                  <c:v>0.15</c:v>
                </c:pt>
                <c:pt idx="2">
                  <c:v>0.38</c:v>
                </c:pt>
                <c:pt idx="3">
                  <c:v>0.6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4DE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AFCFB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32B36"/>
              </a:solidFill>
              <a:latin typeface="DejaVu Sans"/>
              <a:ea typeface="DejaVu Sans"/>
              <a:cs typeface="DejaVu Sans"/>
            </a:defRPr>
          </a:pPr>
        </a:p>
      </c:txPr>
    </c:legend>
    <c:plotVisOnly val="1"/>
  </c:chart>
  <c:spPr>
    <a:solidFill xmlns:a="http://schemas.openxmlformats.org/drawingml/2006/main">
      <a:srgbClr val="FAFCFB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D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0AB9A8-8C69-4552-9128-E8857AFF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7"/>
          </a:solidFill>
          <a:ln xmlns:a="http://schemas.openxmlformats.org/drawingml/2006/main" w="9525">
            <a:solidFill>
              <a:srgbClr val="4C746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7076F-C57A-4BE4-8FE2-2092B79F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3D7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C3D7D0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E57537-FB94-4190-870E-FB9FB869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C0B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C0BA"/>
                </a:solidFill>
                <a:latin typeface="DejaVu Sans"/>
                <a:ea typeface="DejaVu Sans"/>
                <a:cs typeface="DejaVu Sans"/>
              </a:rPr>
              <a:t>01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D11A2-07E6-4821-A1A0-4D6FA90C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MoneyLion WOW: macro arbitrage and risk mitigation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3D47C-6005-4BFA-B3A8-BF15E287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3D7D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C3D7D0"/>
                </a:solidFill>
                <a:latin typeface="DejaVu Sans"/>
                <a:ea typeface="DejaVu Sans"/>
                <a:cs typeface="DejaVu Sans"/>
              </a:rPr>
              <a:t>Flagship membership strategy prepared by Priyam Sameer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35781F-071F-4666-AF17-9B88FBD6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8C0B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8C0BA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F2F5C-81C4-47D0-AE5F-7B23DE73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13811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Merchant-funded value.</a:t>
            </a:r>
          </a:p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Personalized credit access.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13B5A1-7BAE-4F5F-B936-15A13FC5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E59E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E59E"/>
                </a:solidFill>
                <a:latin typeface="DejaVu Sans"/>
                <a:ea typeface="DejaVu Sans"/>
                <a:cs typeface="DejaVu Sans"/>
              </a:rPr>
              <a:t>The offensive bet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35DA3-70A6-4460-A59F-82E5E3B0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647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Pass D2C acquisition budgets through to members as up to 50% cashback.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4ACB94-58A3-41D8-829E-8BDF0A0F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24500"/>
            <a:ext cx="661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E59E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E59E"/>
                </a:solidFill>
                <a:latin typeface="DejaVu Sans"/>
                <a:ea typeface="DejaVu Sans"/>
                <a:cs typeface="DejaVu Sans"/>
              </a:rPr>
              <a:t>The defensive bet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17DC39-6B8A-42CB-9B18-45E8B384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057900"/>
            <a:ext cx="66103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Use cash-flow intelligence to route members to suitable lender-priced products.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856041-2F72-484E-A8A9-CEBA4D22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39050"/>
            <a:ext cx="1285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3D7D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C3D7D0"/>
                </a:solidFill>
                <a:latin typeface="DejaVu Sans"/>
                <a:ea typeface="DejaVu Sans"/>
                <a:cs typeface="DejaVu Sans"/>
              </a:rPr>
              <a:t>Priyam Sameer,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9604941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32049F-3954-4AFC-869F-763BE26E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F5B7E0-C594-49B8-8097-C40D24F8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3797C-1EBA-4227-B108-408D8902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02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65E143-D8E5-4FAD-92AE-E4B06F32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executive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C46D4A-BC9D-4FE0-BBB9-F9A0D02B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WOW earns its $9.99 fee by converting merchant acquisition spend and permissioned cash-flow data into member value.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789EBF-96E4-4440-AD25-75DBFDCC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Discussion: can Commercial fund the offers, Lending support the routing, and Finance support the fee waiver?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F727D2-6F58-4008-B5AF-86C0CFCE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07289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429250"/>
                <a:gridCol w="5305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Product commitment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Why it deserves investment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Core bet 1: utility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Cash-Flow Underwriting and Profile-Based Loan Routing launch first.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Recent inflows, obligations and spending velocity improve the information available for matching.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Core bet 2: monetization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D2C CPA pass-through funds up to 50% cashback on selected eligible purchases.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Merchants buy approved acquisition. Members receive the bounty after transaction costs.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Tier foundation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Zero-fee Instacash utility and a WOW ROI Dashboard support both bets.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Immediate utility and visible fee coverage give the member concrete reasons to renew.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Funding decision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Release an assumed $160k first tranche. Test Bounty Utilization Rate before expansion.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Measure two settled D2C transactions within 90 days, alongside economics and credit outcomes.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31124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5B5A77-9981-4DA1-B4E5-5D343F65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48F928-DBD7-4850-90D0-3A11607B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4CCFF2-43F1-4C4B-AFBB-5028B90E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03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5715DE-E101-4115-9535-3E48B384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assignment and the reading route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31946D-F2BA-42E9-8F84-67ABC47F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MoneyLion’s mission is to empower Americans to make their best money decisions through highly personalized, data-driven technology.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C1A45-9BDC-403C-9B5A-EEB34A13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Discussion checkpoints: slides 17, 24, 25, 44 and 60. Each decision includes its evidence, owner and next action.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188F1F-5D23-4A58-AC65-2AE46DBB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supplied MoneyLion case brief. Price held at $9.99/month. Strategy proposal by Priyam Sameer.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08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1428750"/>
                <a:gridCol w="8115300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Section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Slides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Leadership question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Executive summary and problem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1-5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What recurring value can justify $9.99?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Market, competitors and audit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6-14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Where does the current proposition fall short?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Strategy, personas and flows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15-34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How do credit utility and CPA pass-through reinforce one another?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Economics and product design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35-54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 membership fees sustain the pass-through promise?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GTM and evidence for scale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55-60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What evidence releases the next investment?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47480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5A4009-A304-4797-B4E2-F2FDD7C7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341C6F-7A2F-48E9-9288-6EE184CF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F72368-0DF4-4FFF-815B-96A48F1A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04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8B22B-6021-4B32-8639-894F0D2A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WOW converts episodic transactions into recurring revenue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C57DF2-BCE6-420C-BD49-753BAE8C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Strategic proposal: transaction economics support acquisition and utility. The monthly membership becomes the core profit pool.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6599A-229A-4427-ABCC-6D403A80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The model relies on repeat subscription demand. Raw checkout volume cannot rescue weak membership economics.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74B450-D875-47E0-B6A8-79E0963B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357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429250"/>
                <a:gridCol w="5305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Revenue engine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Role in the new proposition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Economic consequence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Subscription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Charge $9.99 each month for exclusive CPA offers, credit intelligence and fee relief.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Contribution comes from retained fees after processing, service costs and displaced income.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Merchant CPA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Collect only for contract-approved actions. Pass the bounty through after operating costs.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Base transaction contribution is $0. Merchant cash cannot also count as subscription revenue.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Credit marketplace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 cash-flow profiles to match and route to participating lenders.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Lender referral revenue is upside, excluded from the base model to avoid depending on borrowing.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Instacash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Make eligible WOW use fee-free, including Turbo delivery.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Fund incremental delivery cost and foregone fees explicitly. Advance eligibility remains risk based.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88202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72C15B-FEBC-417E-9147-CF70D69C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1927C-960E-4564-9C11-6FE91FD7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458FC-188D-4055-AABF-A9C77F0C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05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FC01B-2EE6-45D1-922B-54CCE0E6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subscription funds personalization and fee-free utility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EDD7F-2A8A-4D5A-AEEA-9564C6F2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The pass-through commitment gives membership a clear job: finance ongoing service while transferring acquisition value to members.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5AC161-C2BD-4DC2-BB12-EF71D186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Assumption: fee-free utility and data costs fit the membership budget. The base case tests this directly on slides 35-44.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726F-353C-4ECA-AC34-6801FCB1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357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429250"/>
                <a:gridCol w="5305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Participant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What changes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Reason to participate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Pays $9.99 for exclusive funded rewards and personalized credit utility.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Assumption: a $30 reward on a needed purchase covers 3.00 monthly fees before other benefits.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D2C brand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Pays a contracted CPA after an approved eligible order.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Knows the action cost in advance and can compare incremental contribution with other channels.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MoneyLion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Keeps membership contribution and recovers transaction costs.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Retained members fund data, support and Instacash utility without needing a large order margin.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Durability requirement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New relevant offers and useful credit insights continue after the first purchase.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finite set of welcome bounties needs fresh merchants, repeat contracts and measured renewal.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15555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56B0AD-C3AA-4593-B5A0-2A246364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B7B6B-1C39-4662-AA25-45B43B1F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D0C4E-951C-46E3-9734-FE74CFE7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06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80A1FA-1466-4C48-A2E3-BFE8943B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Household cash-flow pressure creates the opening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FF2EC-20EC-4509-88C3-E765248E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Dated evidence supports a need for better affordability matching. It does not establish a universal default rate or uniform behavior by 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38759B-5769-4DE4-B1D1-93B9252C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Thesis: combine a better picture of affordability with a transfer of merchant acquisition spend to members.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AC2B9-E4DE-493F-B736-25FF86DE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Source: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63344caaf31549cd"/>
              </a:rPr>
              <a:t>newsroom.transunion.com/k-shaped-q1-2026-ciir/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 (30 April 2026). Market and user hypotheses beyond these figures are labelled assumptions.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357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429250"/>
                <a:gridCol w="5305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Macro signal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Evidence or assumption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Product implication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Personal-loan risk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TransUnion Q1 2026: 3.98% borrower delinquency at 60+ days past due.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 current capacity and obligations in matching. Delinquency is distinct from default or loss.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Market scale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TransUnion: $277bn in outstanding unsecured personal loans in Q1 2026.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large market supports the opportunity. The supplied $4.5bn alternative-lending figure remains unverified.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Target reality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Assumption: some Gen Z and Millennial users prefer app-based help with uneven cash flow.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Validate needs by income cadence and obligations. Age alone does not establish debt preference.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Advertising inefficiency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Assumption: selected D2C partners can shift acquisition budget into a fixed approved-order bounty.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Validate merchant CAC and incrementality individually. High ad spend alone cannot fund a 50% reward.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18806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F3D6FB-E2C1-4ED9-8F3C-82741146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4BFB6-AE48-48DC-9046-C8210BAD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7C5447-8E4C-403F-B244-72387D7C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07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1453E2-8502-4315-B583-B792D72C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Competitors set the bar for free value and reward fulfillment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506FF0-B8BE-4847-964B-848234A9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Comparison of public mechanics. No internal conversion, margin or retention benchmark is available.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DF4BC-6EB2-466B-9F9B-CD03625B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Current MoneyLion banking-referral rewards generally arrive within 14 days after qualification. A WOW referral launch needs separate terms.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0E0C51-F5DC-4056-BDDA-916C84D8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Sources: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8d7e978a785e4f8f"/>
              </a:rPr>
              <a:t>moneylion.com/referrals-terms-and-conditions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;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d6493fd7baa2478f"/>
              </a:rPr>
              <a:t>help.chime.com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;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8535461565cc4001"/>
              </a:rPr>
              <a:t>rakuten.com/help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;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53d88ec9e7b64bb0"/>
              </a:rPr>
              <a:t>help.ibotta.com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. Public mechanics reviewed 23 Sep 2026.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07289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3762375"/>
                <a:gridCol w="4667250"/>
                <a:gridCol w="363855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Platform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Core member value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Referral or payout mechanic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Lesson for WOW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12325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MoneyLion WOW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Financial membership with selected rewards and benefits.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$5 each after eligible signup/account opening, then $50 each after qualifying payroll deposits under current banking terms.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Show incremental paid value.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Chime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Banking relationship and eligible financial features.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Referral requires qualifying deposit and card activation under applicable terms.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Reward useful activation.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Rakuten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Shopping cashback through participating merchants.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Qualifying purchase and confirmation underpin rewards. Standard payments are quarterly.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Attribution and expectations matter.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Ibotta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Cashback on eligible shopping offers.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Withdrawal generally requires at least $20 plus other conditions.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Thresholds and fulfillment shape trust.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CA0CE4-ECCD-4972-B298-4279F8D7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5750"/>
            <a:ext cx="2133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B9C9C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6CB53F-5F4D-4160-A517-238D219A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242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[chime logo]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517FCB-08D8-40A4-B8EB-8CAC22C8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85750"/>
            <a:ext cx="2133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B9C9C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BF3CE6-E123-4BBB-9C39-7B25A2EB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242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[rakuten logo]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73E71C-3655-4621-A100-198867A6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5750"/>
            <a:ext cx="2133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B9C9C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497E72-92C7-49DF-8467-8118B106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5242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[ibotta logo]</a:t>
            </a:r>
          </a:p>
        </p:txBody>
      </p:sp>
    </p:spTree>
    <p:extLst>
      <p:ext uri="{BB962C8B-B14F-4D97-AF65-F5344CB8AC3E}">
        <p14:creationId xmlns:p14="http://schemas.microsoft.com/office/powerpoint/2010/main" val="4429467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AEBDC-8FF3-4541-96A3-45CDA44F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3E0F03-45FB-47FA-94D1-C55AF0CF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27F76A-0F34-4A51-BB02-DA411996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08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91911-C402-41A0-B28B-7D866DBE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Free and WOW serve different economic needs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D21D04-9B78-4AF3-9A45-4409FCC5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Proposed tier design. The 1%-3% cashback range and cash-flow priority are product assumptions, not descriptions of current MoneyLion terms.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3650D0-241C-4C4C-AB9A-169ACA55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Zero-fee Turbo is an upgrade from current selective rebates. Risk-based advance eligibility and limits still apply.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D73842-6E89-4656-9B72-B481729F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Sources: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747127fd275e4a61"/>
              </a:rPr>
              <a:t>moneylion.com/cash-advance/instacash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 and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b39acc79b96d4a31"/>
              </a:rPr>
              <a:t>moneylion.com/membership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. Current WOW describes rebates up to $5 on the first and every tenth Turbo fee.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429250"/>
                <a:gridCol w="5305425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Capability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Free tier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WOW at $9.99/month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Shopping rewards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Standard 1%-3% affiliate cashback on eligible offers.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Exclusive CPA pass-through marketplace with up to 50% on selected offers.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Credit matching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Standard routing using available lender and bureau criteria.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Priority cash-flow-first routing with Plaid-driven habit matching and lender-priced offers.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Instacash utility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Standard delivery is already free. Optional Turbo may carry a fee.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Proposed zero-fee eligible Instacash, including Turbo, funded by membership.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Personalization and proof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Basic discovery and account controls.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Cash-flow profile, tailored offers and a ROI Dashboard separating realized and estimated value.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86473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FE02AE-1AA7-4953-BA6E-52FD3EA1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B58FB-22FC-46EA-B700-2F23718D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804B6-AA48-434A-B323-036F84CB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09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F7F207-46FD-4970-A06D-FFFD8F65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Successful memberships make the core benefit repeatable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F186C2-5664-4443-BCFF-4898C5E6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The useful analogy is the frequency and reliability of value, not the breadth of the bundle.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790B87-9E03-4556-9F4D-F3217C29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 valuable weekly or monthly money decision can matter more than daily app opens.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F069FA-81E2-4045-ADB7-96ECF77F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Sources: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67365ddfe8454529"/>
              </a:rPr>
              <a:t>aboutamazon.com/news/retail/prime-membership-shopping-benefits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;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a67f2bf86ace4a0f"/>
              </a:rPr>
              <a:t>spotify.com/us/premium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;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1f59181ed420484c"/>
              </a:rPr>
              <a:t>costco.com/f/-/executive-rewards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. Accessed 23 Sep 2026.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867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191000"/>
                <a:gridCol w="4476750"/>
                <a:gridCol w="3162300"/>
              </a:tblGrid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Reference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Observable membership mechanic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Adaptation for WOW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Limit of analogy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Amazon Prime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Fast, free delivery on eligible purchases and additional benefits.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Reduce a recurring friction in an existing behavior. Make terms visible before purchase.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WOW does not control merchant logistics.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Spotify Premium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Ad-free music and offline listening support repeated use.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Make the main experience consistently useful between occasional large rewards.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Finance should not maximize daily consumption.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Costco Executive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Annual 2% reward on qualified purchases, with exclusions and a cap.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Show eligible value and a clear calculation. Evaluate spending needed to cover the fee.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Basket size and shopping frequency differ.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F4E1F6-736F-4251-8FB2-515E5237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5750"/>
            <a:ext cx="2133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B9C9C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C8387A-5DF7-4E0B-9E83-EF556BF6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242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[amazon logo]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D13EA7-7281-41AA-A975-9B896B1F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85750"/>
            <a:ext cx="2133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B9C9C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AA55BE-4DF4-4E0F-A709-A791E83A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242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[spotify logo]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42361E-A35D-48A4-87AF-E7461B37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5750"/>
            <a:ext cx="2133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B9C9C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46172A-4A91-4274-A779-94195880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5242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[costco logo]</a:t>
            </a:r>
          </a:p>
        </p:txBody>
      </p:sp>
    </p:spTree>
    <p:extLst>
      <p:ext uri="{BB962C8B-B14F-4D97-AF65-F5344CB8AC3E}">
        <p14:creationId xmlns:p14="http://schemas.microsoft.com/office/powerpoint/2010/main" val="11797345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3B1623-DE70-4A5D-8729-34D66DD1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8FA10-4AB7-4F7A-BC4B-80C2BB67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8DAB1-225F-424D-A261-E241DC10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10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A87D36-8522-441D-982F-12B64FA5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Referral rewards work best when they reinforce product 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2B84F0-2E5B-43E5-9123-512AB26E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These public examples illustrate design choices. They do not establish a causal growth forecast for WOW.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1CB077-98B9-4ED2-BB46-55663C9C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Immediate feedback is broadly feasible. Immediate withdrawable money needs a separately funded and controlled policy.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F3E2C0-171C-4195-833F-853910B4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Sources: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6e06033d1cbb4e0d"/>
              </a:rPr>
              <a:t>help.dropbox.com/storage-space/earn-space-referring-friends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;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9bd6f5003bcf4fca"/>
              </a:rPr>
              <a:t>help.chime.com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;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040c274a505a4116"/>
              </a:rPr>
              <a:t>rakuten.com/help/article/referafriend-program-faq-115009160427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. Accessed 23 Sep 2026.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5619750"/>
                <a:gridCol w="6067425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Reference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Mechanic worth learning from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WOW adaptation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Dropbox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Referral storage rewards give value inside the product to the inviter and friend.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Offer a benefit the intended member can use, with an understandable qualifying action.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Chime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Reward qualification connects referral acquisition to actual banking activation.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Pay for verified, incremental membership activation rather than an app install.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Rakuten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Referral status distinguishes invitation, qualification and paid reward.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Expose progress and exceptions so a delay does not look like a broken promise.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Proposed WOW test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Assumption: $10 to each side after first paid cycle and a confirmed eligible purchase, with refund checks.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Instant progress feedback. Cash follows validation. Cap rewards and measure referral CAC after organic cannibalization.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6E97E5-4FBD-4CC5-9A32-58CDEDEF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5750"/>
            <a:ext cx="2133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B9C9C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262AC6-72B3-4B8D-8A5A-1C470E3E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242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[dropbox logo]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FFB74C-D573-4222-BBC0-AD44E3C8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85750"/>
            <a:ext cx="2133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B9C9C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E9E365-899E-43FB-B0B2-86089EBD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242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[chime logo]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72603A-4C5D-4291-8AFF-7243F428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5750"/>
            <a:ext cx="2133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B9C9C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DFA56C-34CF-4E7A-B45A-46138671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5242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[rakuten logo]</a:t>
            </a:r>
          </a:p>
        </p:txBody>
      </p:sp>
    </p:spTree>
    <p:extLst>
      <p:ext uri="{BB962C8B-B14F-4D97-AF65-F5344CB8AC3E}">
        <p14:creationId xmlns:p14="http://schemas.microsoft.com/office/powerpoint/2010/main" val="11016152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7464D2-71B5-469D-8A66-1C02EF51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A07351-DA19-42BE-8FBA-C2A72EDE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9B7FC-B332-4F05-BE47-CCA34A91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11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F7981-57DE-4358-886C-8ECB315D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Fifty D2C brands form the first supply portfolio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9E876-78B5-47BB-B699-490A9B4C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target 50 contracted, integrated brands by month 4. Begin with 10 design partners and add supply only when member needs and merchant returns fit.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2E10B4-47CF-4979-9E53-FE616100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These are prospect examples, not signed partners. No brand-specific CPA or reward rate is asserted.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82350-1CE7-4DED-B98A-8737BCFD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1986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429250"/>
                <a:gridCol w="5305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Illustrative prospect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Category hypothesis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Contract question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10039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Blueland / Dollar Shave Club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Household refills and replenishment can create repeat relevance.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 approved customer acquisition support $31 CPA on a $60 basket, or another funded rate?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039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Bombas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Apparel can support occasional acquisition campaigns.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Is the reward capped by basket, new-customer eligibility and return behavior?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Allbirds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Higher-ticket purchases may support a larger absolute reward.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Will the customer buy anyway, and does incremental contribution cover the bounty?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039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Portfolio design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Assumption: 10 pilot brands, 25 by month 3, 50 by month 4.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Measure live offers per member, budget coverage, concentration and new-to-brand headroom.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C29C33-35D6-4F1A-8C5F-71C194F4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5750"/>
            <a:ext cx="2133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B9C9C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A3D99-1969-4B49-90AA-931963BD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242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[blueland logo]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C57C33-FB8D-407C-AFB3-CD794544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85750"/>
            <a:ext cx="2133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B9C9C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0D3D77-F39B-4B6A-83EE-23B8CBD4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242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[allbirds logo]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9E4A27-B68D-4D2C-AF7C-E551EF82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5750"/>
            <a:ext cx="2133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B9C9C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D8DE44-3AE3-4BB4-8305-6DF45812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5242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[bombas logo]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6229F7-2063-46BC-BB98-18069642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85750"/>
            <a:ext cx="2133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B9C9C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D0E6F4-414D-4C52-9596-0F22CDA0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5242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[dollarshaveclub logo]</a:t>
            </a:r>
          </a:p>
        </p:txBody>
      </p:sp>
    </p:spTree>
    <p:extLst>
      <p:ext uri="{BB962C8B-B14F-4D97-AF65-F5344CB8AC3E}">
        <p14:creationId xmlns:p14="http://schemas.microsoft.com/office/powerpoint/2010/main" val="18427309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410A0C-8FD9-430B-8F60-01A4D984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0C1DE7-B1C2-485A-94FB-723F28C1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CF438-26E5-4677-B43A-44BB70E0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12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D235D9-1319-433B-90AC-40731607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audit identifies revenue and experience leaks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5E73B-CC14-4F32-917C-3D27DDC8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Public terms reveal mechanics. Internal conversion, costs and customer outcomes must come from MoneyLion data.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123484-5DE7-46C2-BACF-AE033442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Quick fixes establish a measurable baseline while the two core bets are built.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DE9CA-9F49-4FC1-B220-FEBA0942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429250"/>
                <a:gridCol w="5305425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Potential leak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Immediate fix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Evidence to retrieve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Weak paid differentiation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Make CPA exclusivity, credit utility and zero-fee Turbo legible in one comparison.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Free-to-paid conversion, cancellation reasons and current benefit usage.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Delayed or unclear rewards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Show reported, approved and available states with expected dates and recovery.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Approval lag, missing-order claims, funding lag and support cost.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One-time credit or deal use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Refresh relevant offers and show the cash-flow reason for each recommendation.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Repeat matches, second D2C transaction and benefit use across cycles.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Subscription value is invisible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Show settled cashback against fees in a persistent ROI Dashboard.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Value comprehension, realized coverage distribution and renewal by utilization.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09029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13EABC-C376-4C50-8011-78C75306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73385A-87F2-45FB-B955-B27C5C69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10F615-8AB5-4F49-BEB7-F560BA93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13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A2960-F855-4AB1-BB11-E78D70A8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activation funnel has two paths to membership 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CED31-0CF9-40A8-9855-F39D4B8C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utility can bring a member back between infrequent credit decisions and D2C purchases.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4D2201-2FCD-4D3F-BD80-8AE10603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Owner: Product Analytics joins utility, commerce and billing events at member level without hiding non-users.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4E4043-D683-40F0-B76C-385F1DE2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7959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429250"/>
                <a:gridCol w="5305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Stage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Event and definition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First intervention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Discovery to paid start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Successful first subscription payment, separated from account signup.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Explain fee, exclusive offers, eligibility and cancellation before payment.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Credit utility activation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Consented account connected, usable profile built and matched offer viewed.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Explain the data purpose and show a freshness timestamp or repair path.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First bounty utilization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First eligible D2C order settles, with reward credited within D30.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Surface a needed, available offer and explain tracking and return rules.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039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Repeat utilization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Second qualifying D2C order is bought and settles within D90.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Match another planned need using consented context and remaining merchant eligibility.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Renewal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Next payment succeeds after a visible ROI statement.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Show fee coverage, expected supply and easy membership controls.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60461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B787A3-A7BE-4BE5-BFF1-EC1114B1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E16FA-617B-40A7-94DB-58231BAE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AF521-E2CD-4773-A8B2-0D924DBF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14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854682-042B-4EB2-9250-95CB3DA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Instant rewards require precise language and funding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A74B9-3181-4CDE-9C6C-31C820DB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The experience should acknowledge progress immediately while stating when money becomes available.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60AB6-FE79-4F7E-8C7A-75395107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Instant confirmation can follow tracking. Available cash requires approval and funding, unless MoneyLion explicitly finances the release.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1A6421-F2EA-44AC-9A8A-0DDA6827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Basis: proposed product design and pilot gates. Internal baselines, commercial terms and capacity require validation.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5810250"/>
                <a:gridCol w="5924550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State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What the member sees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What permits the next state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Tracked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“Your purchase was reported. Estimated cashback: $30.”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Signed partner event with order and offer IDs.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Pending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“Your reward awaits merchant confirmation. Expected review: 15 Oct.”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Eligibility, fulfillment and return checks. Dates follow actual partner terms.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Available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“$30 is ready to withdraw.”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Approved liability with funded payout coverage.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Paid or reversed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“Paid to your selected destination” or a specific reversal explanation.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Reconciled payout event, or a documented return/fraud adjustment.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29319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DB89BE-90D5-4AC6-9E97-3C750799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71CCD-32CD-4BC8-95F3-F9C97D7B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E8F76F-4849-4D2B-95F2-2269C642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15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2B667-5406-4EDD-87DA-74EB1727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Five perks, with credit utility and CPA pass-through as the core bets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220F5F-414E-495E-A713-7FC9CAA8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The two biggest bets drive personalization and subscription value. The remaining perks make that value useful and visible.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5DFAD-2FC2-4095-8EB6-F8F28618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Discussion: align lending partners, commercial supply and fee-waiver funding before committing the paid-tier promise.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5BC4B6-F4A4-4092-AA1E-1813D3F3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7959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429250"/>
                <a:gridCol w="5305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Perk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 promise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Priority and decision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1. D2C Mega-Cashback Engine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Up to 50% cashback on selected funded purchases.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Core bet 2. Pass the full CPA bounty through after operating costs.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2. WOW ROI Dashboard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Settled rewards and verified fee savings compared with actual membership fees.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Phase 3 retention layer. Keep estimated credit savings separate.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3. Zero-fee Instacash utility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Eligible advances and Turbo delivery carry no member fee.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Hard WOW differentiator. Budget delivery cost and foregone fee contribution.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039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4. Cash-Flow Underwriting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Plaid-driven habit matching and Profile-Based Loan Routing.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Core bet 1. Prioritize cash-flow-first matching and lender-priced offers in Phase 1.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5. Referral and savings circles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Dual-sided qualified referrals and optional useful milestones.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Growth support after core utility and bounty settlement work.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212904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A976CC-EDAD-459B-BEB2-4D94B24A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229E4-E135-4452-9BCD-1DA58868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85AEB2-81B1-4AEC-8509-601B4FC9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16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67AE25-BE53-4534-8290-DCA5F472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Validation separates demand from causal product 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4ED15-B82F-44E4-B171-B4B63094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commerce experiments compare personalized and generic ranking with the same funded CPA catalog. Credit routing has its own lender-approved control.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0812D9-E515-4A26-81CC-F4868469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Assumption: size experiments again using observed baselines. Record assignment before exposure and include every paid start.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627EE-63BF-43C2-8FD0-A04CE854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105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5715000"/>
                <a:gridCol w="56388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Stage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Test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Decision evidence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Research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Assumption: 24 persona interviews and 15 task-based prototype tests.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 users explain the data purpose, fee and reward conditions unaided?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Commercial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Sign 10 pilot merchant contracts and lender data/quote agreements.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Validate CPA, merchant incrementality, funding and suitable quote coverage.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Credit utility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Compare cash-flow routing with current routing within approved policies.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Measure suitable matches, approval at comparable risk, pricing and loan vintages.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Commerce test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Assumption: BUR90 rises from 50% to 60%. Randomize ranking across paid-start cohorts.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About 400 per arm for 80% power and two-sided 5% significance before attrition.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Expansion test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Follow mature cohorts and repeat merchant funding across a second cycle.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BUR lift must coexist with renewal, affordable credit and positive contribution.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2444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01D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DFDD03-F63D-4C0D-B906-AE03DDB9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7"/>
          </a:solidFill>
          <a:ln xmlns:a="http://schemas.openxmlformats.org/drawingml/2006/main" w="9525">
            <a:solidFill>
              <a:srgbClr val="4C746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E85E7A-08DB-418F-A7C2-72F00415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3D7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C3D7D0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69AB5-92C4-4441-89F4-C09126E4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C0B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C0BA"/>
                </a:solidFill>
                <a:latin typeface="DejaVu Sans"/>
                <a:ea typeface="DejaVu Sans"/>
                <a:cs typeface="DejaVu Sans"/>
              </a:rPr>
              <a:t>17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67316-848D-4CD1-BC90-5DAEE549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The two bets create one economic and personalization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E9C8F7-343B-4F10-8048-B904BA1A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3D7D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C3D7D0"/>
                </a:solidFill>
                <a:latin typeface="DejaVu Sans"/>
                <a:ea typeface="DejaVu Sans"/>
                <a:cs typeface="DejaVu Sans"/>
              </a:rPr>
              <a:t>Cash-flow intelligence supplies relevant utility. Merchant acquisition budgets supply tangible subscription value.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51F183-6085-459B-B54F-15A139EB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E59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E59E"/>
                </a:solidFill>
                <a:latin typeface="DejaVu Sans"/>
                <a:ea typeface="DejaVu Sans"/>
                <a:cs typeface="DejaVu Sans"/>
              </a:rPr>
              <a:t>One story: useful context improves matching, realized rewards reinforce trust, and permissioned outcomes improve the next match.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2F2398-936E-45A5-BCF6-5C0F6E28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8C0B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8C0BA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12813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429250"/>
                <a:gridCol w="5305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Decision</a:t>
                      </a:r>
                    </a:p>
                  </a:txBody>
                  <a:tcPr marL="142875" marR="142875" marT="66675" marB="66675" anchor="ctr">
                    <a:solidFill>
                      <a:srgbClr val="17453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Bet 1: cash-flow utility</a:t>
                      </a:r>
                    </a:p>
                  </a:txBody>
                  <a:tcPr marL="142875" marR="142875" marT="66675" marB="66675" anchor="ctr">
                    <a:solidFill>
                      <a:srgbClr val="17453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Bet 2: CPA pass-through</a:t>
                      </a:r>
                    </a:p>
                  </a:txBody>
                  <a:tcPr marL="142875" marR="142875" marT="66675" marB="66675" anchor="ctr">
                    <a:solidFill>
                      <a:srgbClr val="174539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 job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Find a suitable credit option using present capacity and actual habits.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Recover membership fees through purchases already planned.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9353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Mechanism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Plaid profile, affordability features, lender-specific eligibility and dynamic quote requests.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Contracted approved-order CPA funds cashback after a $1 illustrative operating allowance.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Why prioritize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Creates useful first-party context and a reason to return between purchases.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Makes the fee legible in cash and shifts funding toward merchants.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Defensibility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Consented longitudinal data, partner decision feedback and tested ranking improvements.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Exclusive supply, funded terms, conversion evidence and reliable settlement.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Key dependence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Participating lenders accept the data and return suitable, explainable offers.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Brands can fund high rewards for incremental customers and continue renewing budgets.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89922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A17EF1-F7F7-4850-A247-E0415E27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F7582D-6898-453E-BD47-DE617409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6DDD9D-F525-4451-8FD3-CAC1195C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18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D03394-79E2-48A8-9884-8FB4CE7F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50% Mega-Cashback Engine passes acquisition value to members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1042A-6360-4F8E-B639-62B7AD04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the merchant pays for an approved eligible action after agreed refund checks. Transaction contribution targets break-even.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6A62CD-D955-41D4-824D-ACBBD9F1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Full pass-through means bounty minus disclosed operating cost. A quarterly fee-coverage claim requires at least $29.97 settled cashback.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38A630-47F2-4FF2-996B-3B9F4DEB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guidance. Transactions break even after their operating allowance. Lending revenue excluded.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429250"/>
                <a:gridCol w="5305425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Illustrative contract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Bounty allocation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 value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50% hero offer on $60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Brand CPA $31 = member reward $30 + operating allowance $1.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Cashback is 50% of eligible spend. $30 ÷ $9.99 = 3.00 months of fees.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Requested $18 bounty example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Brand CPA $18 = member reward $17 + operating allowance $1.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On a $60 basket this is 28.3% cashback, covering 1.70 monthly fees.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second 50% configuration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Brand CPA $18, reward $17, eligible basket $34.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The rate depends on bounty and basket. “Up to 50%” applies only where terms fund it.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Economic purpose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The transaction acquires and activates membership at $0 contribution after its cost allowance.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Recurring membership fees finance ongoing utility and profit.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464649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6C76D8-1EE6-40F5-8CE3-7C9CAB38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3E03C3-3459-4090-ADCD-694B2F55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A5CAC0-55E6-4564-8EEF-AA0FD444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19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0A3C13-6303-4B57-8A6A-0B0F5B1E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CPA pass-through wins when acquisition value exceeds affiliate yield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F00FB-889D-4133-9B31-A96AB3BD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Cashback is the lead commerce mechanism because a fixed acquisition bounty can fund a larger visible benefit than a small percentage commission.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5AEC1A-F4E1-426C-92F2-15C95C20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Failure response: reduce the funded rate, renegotiate the CPA or replace the offer. Honor activated terms and earned obligations.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D6E044-8D31-416A-913B-1562C72A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7959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429250"/>
                <a:gridCol w="5305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Alternative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Trade-off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Ordinary affiliate cashback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Simple to operate, but similar free offers weaken the $9.99 proposition.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Keep it in Free. WOW needs a material incremental benefit.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039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MoneyLion-funded 50% reward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Strong headline but creates an unfunded cost per purchase.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 only as a separately capped experiment, never the recurring funding engine.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Discounts or points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May help price or engagement, but redemption friction can hide value.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 where members prefer them. Do not count face value as settled cashback.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Flat welcome bonus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Accelerates signup but can attract churn after the first reward.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Reserve for controlled acquisition tests and account for it in CAC.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Merchant-funded CPA pass-through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Large funded rewards with eligibility, returns and merchant-budget constraints.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Prioritize with member-fit ranking and a repeat supply plan.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913779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70D529-E04D-47E7-B064-5788C4A6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D5D281-A004-43E9-94E8-A83680E6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775137-31FE-443A-B9EC-C648B059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20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88D729-6D59-4950-B518-DCAD276E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Merchant economics fund the reward ceiling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FE2C2-D6A8-44D5-9E2F-9288B1CD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$60 eligible order with 65% product gross margin. Values below are a design-partner negotiation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C89E2A-906B-409D-99C8-5D145A20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CPA makes the payable action predictable. It does not guarantee incremental customers or merchant profit.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98C22-775A-48AE-9DCC-16A0B941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guidance. Transactions break even after their operating allowance. Lending revenue excluded.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12813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429250"/>
                <a:gridCol w="5305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Merchant economics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Calculation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Interpretation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Gross profit before fulfillment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$60 × 65% = $39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High gross margin creates room, but is not a committed marketing budget.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After fulfillment, returns and support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$39 − $8 = $31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This amount is available before acquisition cost in the simplified example.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9353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WOW CPA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$31 acquisition bounty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Merchant breaks even on the first fully incremental order. Repeat margin provides upside.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Only 80% incremental customers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Effective CPA = $31 ÷ 0.80 = $38.75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Exceeds $31 first-order contribution by $7.75. Repeat economics must cover the difference.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Commercial decision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Maximum CPA follows incremental customer contribution and payback tolerance.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 holdouts, new-to-brand rules and repeat purchase evidence to set rate and budget.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782434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6CEE9-39D3-4A91-91BD-12B582F9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F2CC72-45AB-4803-8CA3-1C69D05B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FC13E6-1215-42C7-87C6-A0853B4A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21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B140D-59BB-4771-9433-1FC42E98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 strong partnerships team owns supply and repeat funding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19FABA-400D-4B73-B0A2-BAC40298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The first 50 brands require commercial ownership, technical onboarding and ongoing performance management.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6ADB53-D78B-479C-A22D-8B275BA0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Business console: daily funding and claim alerts, weekly economics reviews, monthly partner renewals and a named owner for every issue.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9E9780-8E4D-40F5-ADB6-6F60E3ED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7959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5715000"/>
                <a:gridCol w="56388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Workstream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Partner deliverable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Accountability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Acquisition economics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CPA, eligible basket, new-customer rules, attribution window and returns terms.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Commercial signs offers with funded rewards and credible incremental merchant returns.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Integration and funding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Signed order events, reconciliation files, prefunding or a funded settlement agreement.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Partner Engineering and Finance certify approval, reversal and payout coverage.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Coverage and merchandising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Offers spanning relevant categories and member eligibility over multiple cycles.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Category owners track eligible offers per member and next-cycle coverage.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10039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Merchant success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Weekly report of approved actions, incremental CAC, repeat contribution and complaints.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Assumption: 3 partnerships and 2 operations roles, with shared technical support.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Renewal and concentration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Budget renewal, contract expiry, top-partner share and fallback supply.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Assumption: no merchant exceeds 20% of funded reward capacity at scale.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28227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A7F9E4-EC43-40C2-BA68-8B16631B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B38A3-D216-4010-B3D9-8AE6D375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5F22F-D3C5-458B-B209-7EF9CC8B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22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893DA-A533-440E-AF54-2C27A9BA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Payments, attribution and reward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5E4DC-A37B-439B-AADA-E4CD90DB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Proposed architecture: subscription PG collects the fee. Merchant PG processes shopping. Attribution and the reward ledger connect the two.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D4C9E9-C8CA-4718-AF81-D214859D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Control: version CPA terms and cost allowances. Pause new activations when funding fails while preserving earned rewards.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EDB49F-6CC4-4AF7-8D45-AE1F6BD0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DBC108-E579-4E2C-BCD9-CED4C26E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672DEB-77D1-47AE-A6BE-16F6C28D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Member app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6A39E0-6352-47EC-B5DD-95E7D36B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Discovery, consent, activation and claim status.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FF1738-32E6-498D-A5B2-929FF69E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264113-42E3-486A-B790-FA4C4070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Attribution service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26D1E3-3FF1-48A6-A60B-FAE8C823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Join UTM, referral token, activation ID and offer version.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0CA53E-38E3-457E-9D3B-3DC5D919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351E2F-4998-4FB6-8997-4530C14B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Merchant checkout PG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4BCA32-8ACC-4A08-97A3-7A45AA87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Merchant processes the purchase and sends signed order events.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2C5DFE-C7D1-4926-847E-5579BEE9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7AB2A8-05E1-4EDE-A4D7-28702FBE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Subscription PG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C8FD7D-B363-4803-8B60-B119C13D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Successful recurring fee payment controls paid entitlement.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DAEB35-DCB2-42EB-9FF4-13528578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1911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5F0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416A0C-2F10-4511-8FAE-42F477CC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3340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Ledger and payout rail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EDEB37-FFB1-493A-8E6D-91A9F652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7150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Pending, available, reversed and paid money with reconciliation.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78A41E-1C85-477B-9A90-C44FAEED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1911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E847EA-BFA2-44F2-9649-E0B11652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3340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Business console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335EC6-7452-4AEA-B6BF-F1CA379D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7150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Terms, budgets, caps, approvals and partner-level kill switches.</a:t>
            </a:r>
          </a:p>
        </p:txBody>
      </p:sp>
      <p:cxnSp>
        <p:nvCxnSpPr>
          <p:cNvPr id="57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705350" y="34290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58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620250" y="34290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59" name=""/>
          <p:cNvCxnSpPr>
            <a:stCxn xmlns:a="http://schemas.openxmlformats.org/drawingml/2006/main" id="14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7572375" y="4143375"/>
            <a:ext cx="4914900" cy="1047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60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4705350" y="59055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61" name=""/>
          <p:cNvCxnSpPr>
            <a:stCxn xmlns:a="http://schemas.openxmlformats.org/drawingml/2006/main" id="23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9620250" y="59055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BA57BB-43CA-414D-9128-E42C33FB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532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 PG moves money. UTM identifies campaign origin. The merchant contract and validated order determine the reward.</a:t>
            </a:r>
          </a:p>
        </p:txBody>
      </p:sp>
    </p:spTree>
    <p:extLst>
      <p:ext uri="{BB962C8B-B14F-4D97-AF65-F5344CB8AC3E}">
        <p14:creationId xmlns:p14="http://schemas.microsoft.com/office/powerpoint/2010/main" val="169297783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5AE89C-AF5A-4470-8C0D-4E1218A3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F8DE8D-12AD-476B-833B-556C9C73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FAC8D-F3CE-445F-96AE-3E0EB7DF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23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1CD0AD-56F9-4F94-9108-EE767724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Risk controls protect lending data and reward liabilities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80897-C8E5-4613-A5C8-538B6C72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Security follows the action. Browsing remains easy while money movement and credit-data access receive stronger checks.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2DC881-7472-4ABE-B656-94BD95EA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Credit model owners also test calibration, subgroup outcomes and reason codes before automated routing reaches scale.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EC8EC0-0F6D-4E3F-A2E4-18E5BB8A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Source: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7ea77d20cefb4a97"/>
              </a:rPr>
              <a:t>consumerfinance.gov/rules-policy/regulations/1002/9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. Proposed underwriting controls, model validation and lender responsibilities.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25386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429250"/>
                <a:gridCol w="5305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Risk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Targeted control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 recovery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Fake accounts and self-referrals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Identity, device and payout-account signals, velocity limits and linked-account review.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Step up suspicious cases. Shared household or network alone does not prove fraud.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Fabricated or recycled orders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Signed merchant events, order IDs, duplicate protection and receipt reconciliation.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Show a pending reason and one support case. Reverse returned orders consistently.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Mass referral spam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Member-initiated sharing, reward caps, opt-outs and abuse reports.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 contact scraping. Explain a held bonus and offer appeal.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Cash-flow manipulation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Detect round-trip transfers, exclude internal transfers, validate recurring income and history.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Request corrected evidence or another permitted data route when coverage is insufficient.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Account takeover or data misuse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Scoped tokens, encryption, access logs, consent records and step-up payout changes.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Disconnect data, revoke access and route account recovery to a trained human.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556883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9912D8-579B-416C-842F-ED5954A8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E198D-18FA-4491-AE61-4E570352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5B3DF0-9DC1-4D63-AA94-104E4E6B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24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85C94B-1B66-4773-A0C0-69BCFE92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North star: Bounty Utilization Rate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C4D42-C133-4BD0-B397-634C0CB1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BUR90 measures repeat execution of the CPA pass-through value proposition within a fixed paid-start cohort.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64B64-853B-4B84-A08B-35586EC6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Bounty Utilization Rate is the primary value-realization metric. Reward dollars and fee coverage explain whether two transactions deliver enough value.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C9509B-F3C3-403A-ABF1-ECEDC6C9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12813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5715000"/>
                <a:gridCol w="56388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Metric element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Definition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Measurement rule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Numerator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Members with ≥2 distinct qualifying D2C Mega-Cashback transactions in their first 90 days.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Purchase and settlement occur by D90. Exclude referrals, reversals and split-order duplicates.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Denominator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Every first-time paid WOW start in a cohort that has reached D90.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Include canceled, refunded and inactive starts. Report fraud exclusions separately.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Clock and event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Clock starts at first successful membership payment. reward_settled increments the count.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Record member, order, offer version, settlement time and reversal status.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Leading indicators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D7 profile activation, D30 first settled bounty and D60 second-order progression.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Pending orders remain separate. BUR90 requires 90-day cohort maturity.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9353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Initial target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Assumption: ≥60% BUR90 and ≥10 percentage-point lift versus generic ranking of the same catalog.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Renewal, fee coverage, credit quality and contribution are supporting scale guardrails.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328219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01D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9F228B-03B2-4D14-8087-5E001FA2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7"/>
          </a:solidFill>
          <a:ln xmlns:a="http://schemas.openxmlformats.org/drawingml/2006/main" w="9525">
            <a:solidFill>
              <a:srgbClr val="4C746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CCC6E6-9F5D-49EC-B115-564C2F32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3D7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C3D7D0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E87AF-4227-4EFA-B1C8-210DD2E9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C0B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C0BA"/>
                </a:solidFill>
                <a:latin typeface="DejaVu Sans"/>
                <a:ea typeface="DejaVu Sans"/>
                <a:cs typeface="DejaVu Sans"/>
              </a:rPr>
              <a:t>25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1976D0-6FC6-469F-8D0B-331777FB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Early signals determine whether to scale, repair or stop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F69C0-2510-487F-97A4-1509C6C2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3D7D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C3D7D0"/>
                </a:solidFill>
                <a:latin typeface="DejaVu Sans"/>
                <a:ea typeface="DejaVu Sans"/>
                <a:cs typeface="DejaVu Sans"/>
              </a:rPr>
              <a:t>Assumption: thresholds below are initial pilot gates. Owners review both the economic mechanism and the member outcome.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E7D162-54BF-4C9E-B433-52801615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E59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E59E"/>
                </a:solidFill>
                <a:latin typeface="DejaVu Sans"/>
                <a:ea typeface="DejaVu Sans"/>
                <a:cs typeface="DejaVu Sans"/>
              </a:rPr>
              <a:t>No failure response changes rewards already earned. Leadership reviews the same member and merchant economics every week.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DC3EDF-C51E-49CE-940A-7F5BBAE3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8C0B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8C0BA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7959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5715000"/>
                <a:gridCol w="56388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Bet</a:t>
                      </a:r>
                    </a:p>
                  </a:txBody>
                  <a:tcPr marL="142875" marR="142875" marT="66675" marB="66675" anchor="ctr">
                    <a:solidFill>
                      <a:srgbClr val="17453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Early success signals</a:t>
                      </a:r>
                    </a:p>
                  </a:txBody>
                  <a:tcPr marL="142875" marR="142875" marT="66675" marB="66675" anchor="ctr">
                    <a:solidFill>
                      <a:srgbClr val="17453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Failure response and owner</a:t>
                      </a:r>
                    </a:p>
                  </a:txBody>
                  <a:tcPr marL="142875" marR="142875" marT="66675" marB="66675" anchor="ctr">
                    <a:solidFill>
                      <a:srgbClr val="174539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Cash-flow utility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D7 usable profiles, matched-offer engagement and improved approval at comparable risk.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Lending PM repairs coverage, features or lender fit. Pause weak segments.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CPA pass-through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D30 first bounty ≥40%, second-order progression and ≥99% correct settlement.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Commerce PM fixes fit or tracking. Commercial repairs CPAs and supply gaps.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10039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Zero-fee Instacash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Adoption rises while the total utility budget stays within the plan.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Finance measures adverse selection and waived revenue. Adjust future terms transparently.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Personalization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Holdouts show higher BUR90 from ranking based on permissioned outcomes.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Data PM removes weak features. Simplify ranking if incremental lift is absent.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Scale decision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BUR90 ≥60%, sustained supply, positive contribution and credible CAC recovery.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Product lead scales passing segments, fixes the constraint or stops acquisition.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539098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0F90B9-CC4A-49BA-9648-1950D10C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E68D71-E133-466E-9567-FBFF5173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2DE15-B61D-414C-B545-7309DE8A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26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C6405C-6197-45FF-9207-97376163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Three personas ground personalization in real cash-flow needs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280863-CF4D-474E-AC6B-659EC987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research hypotheses for U.S. adults. Demographics guide recruiting, while obligations and behavior drive relevance.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0CC95-F7EF-4C29-8B29-2279F099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Assumption: members value relevant help over constant borrowing prompts. Validate this instead of treating Gen Z or Millennials as one segment.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7D2E4C-9AB4-47A2-B5D7-E1BDDDEF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07289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429250"/>
                <a:gridCol w="5305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Persona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Need and behavior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Personalized experience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Early-career renter, 23-29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Variable shift income, recurring bills and a thin credit history. Shops selectively.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Cash-flow affordability view, suitable lender route and household offers near planned replenishment.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Working household, 30-42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Predictable payroll, child and home expenses, repeat D2C purchases.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Replenishment matching, funded offers across categories and verified subscription fee coverage.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96964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Independent earner, 25-40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Uneven deposits, tax reserves and occasional liquidity gaps.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Income volatility and existing obligations shape credit matching. Zero-fee eligible Instacash supports timing gaps.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Local network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Household groups, workplaces and trusted community recommendations.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Refer a relevant offer with clear terms. Local supply and eligibility shape the invitation.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714267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FFD90D-2A70-44EA-ABEF-B96546B7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0106E5-2503-48A9-9ABB-93E984C0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973BCA-0372-437F-89B8-822F369F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27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CA308A-034F-4512-A473-F9F106A9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Personalization improves fit without turning shopping into credit pressure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A580B-326D-487C-81E6-4BCCAC85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behavior segmentation follows member permission and actual product needs.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7F3842-50BC-470C-9E62-0EFD92B1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Personalization earns defensibility through measurable usefulness, user trust and partner outcomes, not data collection alone.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F3A8E8-C9EB-43F1-A5CF-18BCECF0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876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429250"/>
                <a:gridCol w="5305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Signal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Useful application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Boundary and test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Income cadence and residual cash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Time affordability updates and explain why a lender option may fit.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 verified capacity and obligations, with model validation and lender-approved rules.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Travel, dining and subscriptions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Match card benefits or offers to stated and observed preferences.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 lifestyle categories for relevance. Sensitive proxies do not determine creditworthiness.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Planned D2C needs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Rank eligible high-value offers in categories the member already buys.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Measure incremental savings and total prices. Never prompt debt to unlock cashback.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Prior offer eligibility and returns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Find a second eligible brand and forecast realistic fee coverage.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Do not recommend exhausted welcome offers. Keep reward reversal states visible.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Consent and feedback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Learn from accepted, declined and irrelevant suggestions.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 only the permitted purpose and retain a working generic route after disconnection.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152171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875B99-DA38-499F-A617-0B5270F1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AF5249-0F5B-45DA-B4A9-0F712EE0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E68FE0-C4E3-49E8-957B-B7A16372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28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DE282-4FB2-48EB-AC3B-6E51CCE4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WOW journey joins utility, cashback and renewal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5A248-C1DB-4D44-89EE-ECB6A933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Phase 1 credit utility establishes the profile. Phase 2 rewards create visible cash value. Phase 3 makes the fee comparison explicit.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2EAD4E-4465-4E4E-80D7-266A99C6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Designs 45-54 show the ROI Dashboard, settlement, referral, lending-consent and merchant-operation states.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FF4A24-6DB4-40F4-8E74-412728BE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709049-06AF-4420-9224-8A2B8BF2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A3D3BB-6F9C-452E-85A3-A621513A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Discover utility and join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1CD07B-E257-41FD-8AE4-44EE009D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Review $9.99 fee, credit utility and eligible CPA offers.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F470A9-6578-444E-9D74-FFAE3905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8B2ED7-71A4-4CDE-A989-CF122EBD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Connect or browse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BADA89-BEC0-46B9-B4FA-491CBC6A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Connect for cash-flow matching, or browse eligible CPA offers without a bank link.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E0FE8F-02E9-4BB2-B3CB-420A76CF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677BF4-E1AB-4D0E-A03E-51889CD7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Shop with the merchant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68F92C-922A-4AA4-80CC-1BCE4F15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Pass activation context. Merchant owns checkout and returns.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988264-EA7A-4607-A31C-82E611AA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143500"/>
            <a:ext cx="4095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AF5F0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0A8983-3007-4088-B320-7C4CBF3A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28637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See ROI and use again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FB8CB8-09C1-4BE4-A187-6CE6835D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667375"/>
            <a:ext cx="37528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Track first and second bounties, fee coverage and next-cycle relevance.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D3053C-C879-476C-BB1F-AB95053F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143500"/>
            <a:ext cx="4095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AF5F0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F0B6E2-D5E1-40CA-BF47-A8F65B23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28637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Track and receive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21FA83-613E-4CE6-AB8A-C86666E5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667375"/>
            <a:ext cx="37528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Reported order becomes available cash after approval and funding.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A78373-7591-4BBB-B873-05804BA8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4095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1EB"/>
          </a:solidFill>
          <a:ln xmlns:a="http://schemas.openxmlformats.org/drawingml/2006/main" w="19050">
            <a:solidFill>
              <a:srgbClr val="CF977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EABADA-3281-490C-89AF-1CC8EC30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8637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B45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9B4528"/>
                </a:solidFill>
                <a:latin typeface="DejaVu Sans"/>
                <a:ea typeface="DejaVu Sans"/>
                <a:cs typeface="DejaVu Sans"/>
              </a:rPr>
              <a:t>Recover or exit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34B3AD-40B9-4E6D-986F-D25A66F8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67375"/>
            <a:ext cx="37528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No fit: remain free. Missing order: claim. Poor value: manage or cancel.</a:t>
            </a:r>
          </a:p>
        </p:txBody>
      </p:sp>
      <p:cxnSp>
        <p:nvCxnSpPr>
          <p:cNvPr id="57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705350" y="34290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58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620250" y="34290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59" name=""/>
          <p:cNvCxnSpPr>
            <a:stCxn xmlns:a="http://schemas.openxmlformats.org/drawingml/2006/main" id="14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12487275" y="4143375"/>
            <a:ext cx="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60" name=""/>
          <p:cNvCxnSpPr>
            <a:stCxn xmlns:a="http://schemas.openxmlformats.org/drawingml/2006/main" id="20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9620250" y="5838825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61" name=""/>
          <p:cNvCxnSpPr>
            <a:stCxn xmlns:a="http://schemas.openxmlformats.org/drawingml/2006/main" id="17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4705350" y="5838825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53A4CE-DC7E-43F1-AF2F-F3FB99B1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62750"/>
            <a:ext cx="14020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Screens 45-49 show the member-facing controls at each purchase, reward and recovery step.</a:t>
            </a:r>
          </a:p>
        </p:txBody>
      </p:sp>
    </p:spTree>
    <p:extLst>
      <p:ext uri="{BB962C8B-B14F-4D97-AF65-F5344CB8AC3E}">
        <p14:creationId xmlns:p14="http://schemas.microsoft.com/office/powerpoint/2010/main" val="70794988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E30779-94C0-4889-93DF-5961826E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C1F19-A68D-44FC-9FC7-60FF145B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D74798-D195-4DD1-818F-5222EE30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29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FCBB10-53B3-4D53-AD97-941863D4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Referral qualification and reward release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EC96A-77DC-4BCD-8D5E-BBD1589E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$10 per side after paid membership and an approved eligible purchase. Referral rewards remain separate from merchant cashback.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90B510-A711-4246-ABAE-EB1BA674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Referral CAC includes both bonuses and operations. Referral bonuses never count toward Bounty Utilization Rate.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6E2415-D81E-4E10-9876-4B5EAB1D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AF408-9B8B-4CE2-A9C6-6C28AA88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0E60D-DB75-4611-A959-FE355F48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Invite accepted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7BF1F9-C6C7-4BE5-9185-7640E4DF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Signed token and inviter context lock before registration.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68BCD9-205B-43DB-BEF2-AF95CAAB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C2D539-7CE2-4F67-82C5-2E624DD4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Membership paid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A1CF34-9B8A-4FB2-92C2-FC6BD3AA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 successful first payment creates the paid start.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D2398D-2C3F-4A73-B333-CC33A690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BFE6E2-432E-4D3E-9A3A-8CBA6A52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Purchase approved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70830A-3BCA-45BD-A82A-48B63955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Eligible order survives the contract’s refund checks.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B1F398-E832-4BAE-A32F-0D0861BD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5F0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B69690-1DA3-4390-A3A6-24C91ECE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Retained contribution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2ECBA7-C2EB-493C-8B2C-83DBCD7C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Compare BUR90, renewal and incremental referral CAC.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C35833-E93D-4E39-96D4-904E9690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1911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5F0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6AB9E0-5937-4D56-87C3-3993DB00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3340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Both rewards release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73F387-8AA1-42B4-AEFB-541396F6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7150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Assumption: $10 each. Maximum 5 qualified friends per month.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B89A6D-935A-439E-AB61-15B6BFC6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1911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5AF62E-7840-4954-B362-41F7B45C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3340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Risk and funding gate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91FDF5-D6BB-455D-ACE8-194A44D4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7150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Check duplicate identity, self-referral, velocity and liability coverage.</a:t>
            </a:r>
          </a:p>
        </p:txBody>
      </p:sp>
      <p:cxnSp>
        <p:nvCxnSpPr>
          <p:cNvPr id="57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705350" y="34290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58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620250" y="34290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59" name=""/>
          <p:cNvCxnSpPr>
            <a:stCxn xmlns:a="http://schemas.openxmlformats.org/drawingml/2006/main" id="14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12487275" y="4143375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60" name=""/>
          <p:cNvCxnSpPr>
            <a:stCxn xmlns:a="http://schemas.openxmlformats.org/drawingml/2006/main" id="23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9620250" y="59055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61" name=""/>
          <p:cNvCxnSpPr>
            <a:stCxn xmlns:a="http://schemas.openxmlformats.org/drawingml/2006/main" id="20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4705350" y="59055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ABC675-D754-4270-AB73-80FF28DD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53225"/>
            <a:ext cx="1402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Exception: block or hold suspicious qualification with a reason and appeal. A shared household alone is not fraud proof.</a:t>
            </a:r>
          </a:p>
        </p:txBody>
      </p:sp>
    </p:spTree>
    <p:extLst>
      <p:ext uri="{BB962C8B-B14F-4D97-AF65-F5344CB8AC3E}">
        <p14:creationId xmlns:p14="http://schemas.microsoft.com/office/powerpoint/2010/main" val="63456084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92E745-0911-42E2-A47E-20A2A2E0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D093BD-1EAA-49CA-B83A-ECA537C9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AA50B4-92C9-47F4-BE51-F4EE7F09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30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40D5E-C6E5-4FF6-B80B-20C4AA98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growth loop compounds permissioned personalization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543B8-0B81-4F10-AF7F-FCCCCF37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better matching improves utility and bounty use, creating outcome evidence that improves the next match.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3DA70-935E-45FE-A251-3EB8491A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Proposed defensibility: consented outcome history, proven ranking improvements and repeat exclusive supply. A Plaid integration alone does not establish a moat.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5DE10-0CB7-4461-889F-758DA719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2D63BD-40BF-4AA7-BEEE-CF2E172D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CEA2EF-0595-4F18-9004-FCD717B7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1. Permissioned profile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D48551-DCAB-4133-BB76-E3BB3517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Income, obligations and habits improve the context for matching.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2295A8-E748-4F13-B6C8-42522EFB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E032D0-998E-4C82-8720-D68F76DB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2. Relevant utility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CBECCE-E154-4D2A-A9A1-DC23ECBB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Suitable lender routes and eligible D2C offers fit actual needs.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214EBF-ECAA-4003-BDCB-7DEC265A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1DE2DF-D74C-4223-A732-597C6CD9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3. Settled bounty value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198894-C256-4525-A953-109BF4A8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Merchant CPA funds the reward. Members see fee coverage.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78877A-728C-457E-A9BE-4DECD6BB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DF19EF-88E7-4CF8-A171-6C811290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5305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6. Better personalization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C4C533-2D2D-426C-975C-709C14E1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3405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Validated learning improves ranking and merchant supply.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D312AB-6B58-4B77-97BF-CD9A4543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1017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9EA29D-EE88-44AA-8541-67F3BF1D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35305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5. Outcome 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80DF08-5D1A-48B2-A246-97B3289A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73405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Lender responses, settled orders and feedback enrich permitted data.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765590-C3EC-42DB-9939-386F775C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21017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0E1474-8E74-4A06-95DF-64874DAE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35305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4. Renewal and referral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DDB3F7-627B-4E5C-B0AE-BD3B6A39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73405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Visible ROI supports another cycle and a useful personal invitation.</a:t>
            </a:r>
          </a:p>
        </p:txBody>
      </p:sp>
      <p:cxnSp>
        <p:nvCxnSpPr>
          <p:cNvPr id="58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705350" y="34290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59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620250" y="34290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60" name=""/>
          <p:cNvCxnSpPr>
            <a:stCxn xmlns:a="http://schemas.openxmlformats.org/drawingml/2006/main" id="14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12487275" y="4143375"/>
            <a:ext cx="0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61" name=""/>
          <p:cNvCxnSpPr>
            <a:stCxn xmlns:a="http://schemas.openxmlformats.org/drawingml/2006/main" id="23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9620250" y="592455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62" name=""/>
          <p:cNvCxnSpPr>
            <a:stCxn xmlns:a="http://schemas.openxmlformats.org/drawingml/2006/main" id="20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4705350" y="592455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63" name=""/>
          <p:cNvCxnSpPr>
            <a:stCxn xmlns:a="http://schemas.openxmlformats.org/drawingml/2006/main" id="17" idx="0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2657475" y="4143375"/>
            <a:ext cx="0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40A972-102A-4983-BE1D-20E59F4E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3417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Defensibility test: permissioned outcome feedback must improve matching and BUR90 versus a simple-rule holdout.</a:t>
            </a:r>
          </a:p>
        </p:txBody>
      </p:sp>
    </p:spTree>
    <p:extLst>
      <p:ext uri="{BB962C8B-B14F-4D97-AF65-F5344CB8AC3E}">
        <p14:creationId xmlns:p14="http://schemas.microsoft.com/office/powerpoint/2010/main" val="176439009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3A8E3F-7835-4B73-BB16-86FBB52F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1A7AC7-9F7B-44D7-A2C3-A57E4C62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BCA0E9-6DBF-4EF1-AF66-0475E8D9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31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D5585-2790-4711-8865-CD159FC0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Phase 1: cash-flow intelligence powers Profile-Based Loan Routing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69ABDF-2CE8-46EE-BF9A-1390ACA7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Bank-data consent directly enables income, obligation and spending-velocity analysis, followed by lender-specific matching and quote requests.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BE8555-1E10-4B33-96F2-1A5586DF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Dynamic pricing means lenders return current eligible terms from approved models. Plaid updates are not a continuous real-time stream.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819689-171C-4D98-B382-19F81C35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Source: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2965274fc7fc42b6"/>
              </a:rPr>
              <a:t>plaid.com/docs/underwriting/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 and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1da7b7548d174a9f"/>
              </a:rPr>
              <a:t>plaid.com/docs/transactions/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. Proposed MoneyLion routing and model controls require lender agreement.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7AEB4E-ACD7-4C99-9B44-D8AB6D77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D31A8-4088-49F1-8376-247B66D1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Scoped bank consent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AB06C5-5A5C-4664-9795-5BCF6233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Plaid access for cash-flow profiling and participating lender matching.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F1C8-B95B-49D0-A6CC-BFAB63DD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5D1EB6-5D52-4F01-AFF4-E7896B12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Affordability features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7EF1EF-0715-4403-813F-C8D32637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Income cadence, obligations, residual cash and spending velocity.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758E31-E240-4799-881D-87478B93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907AB9-10A6-4A68-88D3-1268516F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Profile-Based Loan Routing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D927AB-135B-40ED-823D-39472E42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Match lender policy. Request eligible current prices and terms.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B1AF03-894B-46E6-99E3-AE154D76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E870C9-820F-4519-ABFC-580C222C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Validated feedback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86473C-63E2-4A97-9D1D-12F83561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Approval, pricing and loan vintages improve permitted models.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D9683F-ACDA-4773-8679-5D75AEF1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1911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5F0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AF42C2-E7A1-42EB-966E-E0DA0769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3340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Member chooses a quote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BB12E3-0AD4-4D35-ADFF-9D6F2021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7150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Explain fit, APR, term, payment and freshness before lender handoff.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D9E31C-BA06-4BB3-9897-81C68993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1911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0977A7-5757-49FF-B9B5-AD5763B8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3340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Lender quote response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F0E44F-2ABA-4E38-ADBB-035D1672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7150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Partner supplies offer terms and retains approval and pricing control.</a:t>
            </a:r>
          </a:p>
        </p:txBody>
      </p:sp>
      <p:cxnSp>
        <p:nvCxnSpPr>
          <p:cNvPr id="57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705350" y="34290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58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620250" y="34290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59" name=""/>
          <p:cNvCxnSpPr>
            <a:stCxn xmlns:a="http://schemas.openxmlformats.org/drawingml/2006/main" id="14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12487275" y="4143375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60" name=""/>
          <p:cNvCxnSpPr>
            <a:stCxn xmlns:a="http://schemas.openxmlformats.org/drawingml/2006/main" id="23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9620250" y="59055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61" name=""/>
          <p:cNvCxnSpPr>
            <a:stCxn xmlns:a="http://schemas.openxmlformats.org/drawingml/2006/main" id="20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4705350" y="59055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387EB5-A252-4C9E-890A-5306EF04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532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Freshness gate: refresh stale profiles or request more data. The member can decline a quote or disconnect access.</a:t>
            </a:r>
          </a:p>
        </p:txBody>
      </p:sp>
    </p:spTree>
    <p:extLst>
      <p:ext uri="{BB962C8B-B14F-4D97-AF65-F5344CB8AC3E}">
        <p14:creationId xmlns:p14="http://schemas.microsoft.com/office/powerpoint/2010/main" val="199507825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49687F-4830-411F-8553-83232607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423E5-67C1-4EE5-AEF2-82E1E873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951CCC-0B4A-42CC-9E5B-51F2FF7F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32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C279F-1890-4915-81DB-2BF05B7C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Cash-Flow Underwriting is the Phase 1 utility engine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6B4E40-12EA-4BB1-9FA8-A0D69F6B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Proposal: replace FICO-only product ranking for connected WOW members with cash-flow-first matching and lender-approved decisioning.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60821E-73B6-4E8F-86A0-B6178DC0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Assumption: lender partners retain principal risk in the launch. Cash-flow-first underwriting needs measured risk improvement before any balance-sheet expansion.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A92AB-AC2F-4B61-ADBA-FE03120A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Source: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2bac7047ddc94e9f"/>
              </a:rPr>
              <a:t>plaid.com/docs/underwriting/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 and 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2b1472f4621e40fd"/>
              </a:rPr>
              <a:t>plaid.com/docs/transactions/</a:t>
            </a: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. Proposed MoneyLion routing and model controls require lender agreement.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990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5715000"/>
                <a:gridCol w="56388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Capability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Implementation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Development hurdle and control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Habit-based matching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Analyze recurring income, obligations, residual cash, volatility and spending velocity.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Separate transfers from income. Timestamp data and require sufficient coverage.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Dynamic lender routing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Apply lender eligibility and affordability rules, then request current rates and terms.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Partners control approval and price, including any required bureau checks.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Decision feedback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Ingest application, approval, quoted APR, funding and repayment outcomes by permission.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Contract for outcomes, prevent leakage and test out-of-time loan vintages.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Defensibility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Join member context, merchant eligibility and proven outcomes to improve ranking.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Benchmark against simple rules. Validate fairness, risk calibration and causal uplift.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067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Delivery discipline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Deterministic eligibility, versioned API contracts, explainable assistance and human review.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Resume pattern: auditable rules, integrations, reconciliation and human handoff.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708245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CABC90-73B6-46EF-93D5-69EE8368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F5FF0-E5FA-481E-863F-F17B4790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7C4310-4577-43D3-A83C-9A53C4B1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33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72C792-8C9F-4CBC-BE12-0F36A9E2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Instrumentation connects personalization to economic outcomes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2835F0-9DAF-46D6-A61A-1C7321AB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 shared event contract supports product experiments, merchant reporting and lender feedback without mixing money states.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E13704-E936-4C6C-8880-E89C296F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UTM records origin. Signed events prove payable actions. The ledger determines settled utilization and the ROI Dashboard.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634B6F-1F00-4761-A35E-381D169E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7959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429250"/>
                <a:gridCol w="5305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Event group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Required fields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Business use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100393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Consent and profile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member_id, purpose, consent_version, account_coverage, refreshed_at, model_version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Coverage, consent repair, feature validity and explanation traceability.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Loan route and outcome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route_id, lender_id, quote_id, terms, eligibility reason, consented outcome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Match quality, offer acceptance, approval, pricing and vintage risk comparison.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Commerce and bounty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activation_id, UTM, merchant_order_id, CPA_version, reward_state, amount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BUR, return rates, attribution, operating recovery and merchant incrementality.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Membership and utility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paid_start, renewal, cancellation, waiver_used, incremental_cost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Fee revenue, fee-free usage, service cost, churn and member coverage.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Experiment and identity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assignment, timestamp, channel, consent scope and deduplication keys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Cohort consistency, incremental CAC and auditable holdouts.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826608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CBF4E8-E022-4E3E-8DED-E4ABE7C7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72C1E3-986D-4AB6-8032-C711AE00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B13116-6A1C-42C8-A82D-C2F91346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34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FF18C-394F-4834-9A69-FE67B17A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Cashback settlement and reconciliation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65247-7A3E-4A16-B785-B61595B0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CPA is earned only under signed commercial terms. Pending reward, available cash and merchant receivable stay distinct.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6B85B0-E385-442B-B310-7E74481E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Assumption: ≥99% of received events matched within 24 hours. A $1 allowance covers transaction handling and expected loss in the base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7A90CA-3DB1-4003-AD6F-7096050B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60A96E-7B27-4D11-BF71-C3A25C06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AFDB12-22FF-45F3-B0ED-95D63BCC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Merchant event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A9BA37-D110-4E2A-9DE6-8C399644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Signed order payload with offer and order IDs.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877960-2252-45E3-BEDD-5B0462C3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4192FD-A082-4691-9D86-62A00B2A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Validate and deduplicate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ECD9C1-E048-4C13-AF5D-1EC7F6B1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Eligibility, order status and idempotency prevent duplicate value.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517CD9-2304-4AD1-BD93-519986F9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7146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CB099A-3230-4E6F-9BC0-628BD342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8575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Pending liability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49B60B-1014-4D4E-BDB6-0F4D0D0E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Show a review estimate and preserve the original terms.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CE79A3-BDB8-4AD8-848A-7DA37C07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5F0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755FB1-5959-45CA-8125-EC0FB9D6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Paid and reconciled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6E95B9-97A3-4348-BAE9-C6F90F29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Confirm destination settlement once. Reconcile receipts and ledger.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1CC54B-3612-44FA-A7BD-94C4F48D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1911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5F0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2D65BC-0C6D-4F23-8015-B0FBD5F2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3340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Available balance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A2A54E-6D4A-474C-A158-2FAE884D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7150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Approved entitlement with funds to cover the payout.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8FB35F-8D01-4C63-AEDA-21BBDE1C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191125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682DF8-5BA1-4C4B-8BDA-CB87A9EB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3340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Approval or reversal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8CABBC-BD1E-4E71-B079-81462512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7150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Return: reverse both entries. Approved: check funding.</a:t>
            </a:r>
          </a:p>
        </p:txBody>
      </p:sp>
      <p:cxnSp>
        <p:nvCxnSpPr>
          <p:cNvPr id="57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705350" y="34290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58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620250" y="34290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59" name=""/>
          <p:cNvCxnSpPr>
            <a:stCxn xmlns:a="http://schemas.openxmlformats.org/drawingml/2006/main" id="14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12487275" y="4143375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60" name=""/>
          <p:cNvCxnSpPr>
            <a:stCxn xmlns:a="http://schemas.openxmlformats.org/drawingml/2006/main" id="23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9620250" y="59055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61" name=""/>
          <p:cNvCxnSpPr>
            <a:stCxn xmlns:a="http://schemas.openxmlformats.org/drawingml/2006/main" id="20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4705350" y="59055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854390-6F32-47FD-A746-CEF1773B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532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Missing event: merchant statement reconciliation plus a member claim. Retry delivery without duplicating the reward.</a:t>
            </a:r>
          </a:p>
        </p:txBody>
      </p:sp>
    </p:spTree>
    <p:extLst>
      <p:ext uri="{BB962C8B-B14F-4D97-AF65-F5344CB8AC3E}">
        <p14:creationId xmlns:p14="http://schemas.microsoft.com/office/powerpoint/2010/main" val="72285141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2817FD-B65A-4DCE-AE61-5773AA71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C7043A-510D-4327-AC95-39026382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8ECB08-DBDD-41EB-8E75-1450A5DE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35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FBC966-D99A-4FE0-81AC-D68829D1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base model earns contribution from membership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2F26B2-E6A8-4872-B8E0-3BE59D5E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no spread on cashback transactions and no lending commissions. These conservative boundaries expose whether the subscription stands on its own.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37020-4F0A-4EA1-B8E5-0F040D0E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Base contribution = $9.40 − $4.00 − $1.50 = $3.90 per active member/month. More orders create member value, not order profit.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BD2781-782D-4A90-9671-08398B94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guidance. Transactions break even after their operating allowance. Lending revenue excluded.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7959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429250"/>
                <a:gridCol w="5305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Input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Base assumption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Definition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Fee and collection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$9.99 billed − $0.10 refunds − $0.49 PG = $9.40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Net monthly membership receipts before recurring service costs.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9353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CPA and reward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$31 bounty − $30 reward − $1 operations/loss = $0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Hero example: $60 eligible order, 50% reward. Allowance includes expected reversals not recovered.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Shopping mix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40% low, 40% medium, 20% high. Weighted 2/3 orders/month.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Active-member tiers: 1, 2 and 4 approved orders per quarter, respectively.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Recurring cost and displacement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$4.00 service + $1.50 foregone legacy contribution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Service: $1.50 delivery/advance risk, $1 data, $0.75 support and $0.75 other benefits.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9353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Acquisition and retention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$15 planning CAC, 6% monthly churn, 1% monthly discount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Owned channels dominate. $145k fixed monthly operating cost stays outside contribution.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830867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F980C-5BF2-42FC-B551-F6B76E64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D04EE2-E082-455C-AD42-299632C0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1A88FE-483E-41FB-AFA9-44D468B2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36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6B38C-4C4D-414A-B002-C35883C7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approved order breaks even after the cost allowance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7B7FC9-5C3B-4C57-A11F-CEC5D783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the entire CPA bounty goes to member cashback and transaction costs. MoneyLion retains no transaction profit in the base case.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BD234E-98C4-4CC9-BC50-14D5B967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The transaction is a break-even acquisition and activation tool that subsidizes the member’s fee. Only recurring subscription contribution enters LTV.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AB067-94DD-4AC4-A23E-6CC55FDB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guidance. Transactions break even after their operating allowance. Lending revenue excluded.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267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0"/>
                <a:gridCol w="4343400"/>
                <a:gridCol w="4343400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Cash flow per order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50% hero offer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Requested $18 CPA example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Eligible purchase amount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$60.00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$60.00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Merchant CPA collected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$31.00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$18.00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 reward paid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−$30.00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−$17.00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Operations and expected loss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−$1.00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−$1.00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Transaction contribution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$0.00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$0.00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Reward rate / fee coverage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50.0% / 3.00 monthly fees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28.3% / 1.70 monthly fees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522838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2B95FA-4BAF-41F0-AED3-A2247CC1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76C1D-6DF7-4DFF-B21F-0C17DAF8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97CAA-5AD8-4E2B-B7DF-B05FDB03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37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1AD790-2573-455C-8C7A-5C15946F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Cashback makes the fee recoverable at explicit purchase thresholds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64B6F-A1CC-42B9-90BF-23CE02B8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$30 settled reward on a needed $60 purchase, compared with a free 3% reward on the same purchase.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95251E-C22A-48A3-8EB1-65A6D40D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Fee coverage = settled rewards ÷ actual fees paid. The ROI Dashboard separates verified savings from estimated loan-rate differences.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9647E7-42EF-4ACA-9996-911109DF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guidance. Transactions break even after their operating allowance. Lending revenue excluded.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7959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429250"/>
                <a:gridCol w="5305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Comparison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Calculation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 interpretation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One monthly purchase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$30 − $9.99 = $20.01 net cash value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Cashback exceeds this month’s fee before other purchase-price differences.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One purchase per quarter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$30 − 3 × $9.99 = $0.03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Covers the quarterly fee in cash. This does not cover a free-rewards opportunity cost.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Quarterly value versus free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$30 − $1.80 − $29.97 = −$1.77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One order is insufficient to beat the assumed free option over a quarter.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9353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Two purchases within 90 days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$60 − $29.97 = $30.03 cash value</a:t>
                      </a:r>
                    </a:p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$60 − $3.60 − $29.97 = $26.43 versus free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This is the economic reason to track two bounty transactions. Both must fit existing needs.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9353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Lower-bounty example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Two $17 rewards − $29.97 = $4.03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Two transactions alone do not imply a large surplus. Track settled dollars and total prices too.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041132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3F48A-865C-42F3-873A-0618CD31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1EA577-A5C5-4398-ADFD-F71512AC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BD8F78-0065-4F8F-859D-A518FBA9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38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AA832-810E-40AF-9562-9C2C5A14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Member value varies by bounty use while order margin stays zero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52A913-DAAD-410B-AA43-0E619FD6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active members retain the same monthly service cost. Tiers describe purchase frequency, not income. Quarter equals three monthly fees.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33E829-4553-421A-9BC3-67F2B40C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This spending mix does not establish BUR90: the north star includes churned starts, while this table describes active-member behavior.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898A3-DDEA-46B2-8090-83E28E08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guidance. Transactions break even after their operating allowance. Lending revenue excluded.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267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48125"/>
                <a:gridCol w="2381250"/>
                <a:gridCol w="2381250"/>
                <a:gridCol w="2381250"/>
                <a:gridCol w="2828925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 active member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Low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Medium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High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Weighted base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Mix / quarterly orders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40% / 1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40% / 2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20% / 4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100% / 2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Quarterly cashback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$30.00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$60.00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$120.00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$60.00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Cash value after $29.97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$0.03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$30.03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$90.03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$30.03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Value versus free 3%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−$1.77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$26.43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$82.83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$26.43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Monthly WOW contribution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$3.90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$3.90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$3.90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$3.90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 fit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Thin value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Clearer surplus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Check real need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Inspect distribution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203284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C9C1C9-D1AF-4D22-8D90-9D9DEB2A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D2406-2D5A-482E-96B2-86A454E1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C599A4-66F3-482D-A366-196F8D41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39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5A7529-441C-4218-819F-A3C84AC7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membership contribution bridge carries all recurring costs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E1637-76EA-432E-8F2C-239E48A3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10,000 active paid members for one month. Values in USD thousands. Shopping averages 2/3 approved orders per member.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41E105-6A3B-406C-A05B-6A39DBC2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Accounting: show membership revenue separately from merchant reward cash flows. Finance determines gross-versus-net statutory presentation.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55B47-8367-48D1-92A0-34D333D8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guidance. Transactions break even after their operating allowance. Lending revenue excluded.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81625"/>
                <a:gridCol w="2238375"/>
                <a:gridCol w="64008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Economic bridge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Amount ($k)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Explanation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Membership billed less refunds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98.9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$99.9 billed less $1.0 expected refunds.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Merchant CPA gross flow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206.7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6,666.7 illustrative orders × $31. This is a pass-through cash flow.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 cashback and order allowance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(206.7)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$200.0 rewards plus $6.7 handling/loss allowance. Zero order contribution.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Subscription PG and recurring service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(44.9)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$4.9 PG plus $40.0 fee-free utility, data, support and benefits.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Displaced legacy contribution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(15.0)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Foregone existing contribution, separately measured to avoid hiding cannibalization.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Contribution / fixed operating cost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$39.0 / ($145.0)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Net −$106.0k before acquisition. Lending commissions and interest revenue are excluded.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853897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D49822-75D2-4517-9A41-0053C4E6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6188E9-834C-4E41-ABA5-54DADE35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F0DB0C-CF0A-4FC6-9ECA-174C5AA9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40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98C2E-E598-41BD-A0E8-58C3B4F9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Fee-free utility and retention are the main sensitivities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58B0FC-314D-4003-B438-7487F0B1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scenarios vary several inputs at once. The $1 transaction allowance fully covers transaction costs only in the base and upside cases.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8503A9-2978-47C7-A55A-83FC1242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Stress contribution = $9.40 − $6.00 − $2.50 + 0.40 × (−$0.50). Pass-through requires cost recovery, not an unfunded promise.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05431-B8DF-4428-997D-0E5A4FDF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guidance. Transactions break even after their operating allowance. Lending revenue excluded.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619750"/>
                <a:gridCol w="2800350"/>
                <a:gridCol w="2800350"/>
                <a:gridCol w="2800350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 member/month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Stress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Base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Upside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Approved orders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0.40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0.667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1.00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Bounty / reward per order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$18 / $17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$31 / $30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$31 / $30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Actual transaction cost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$1.50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$1.00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$1.00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Recurring service / displacement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$6.00 / $2.50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$4.00 / $1.50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$3.50 / $1.00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Platform contribution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$0.70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$3.90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$4.90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 cashback less fee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−$3.19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$10.01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$20.01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Repair cost and fit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Prove renewal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Test durability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620532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797EB-0F42-4D7D-B9D1-4CC571E5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06408E-4248-4C4C-A1A8-30637683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63E789-46F1-4AF2-983B-E60FBD17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41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FCEC1-F4BE-4393-B943-AC5FEC99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Owned distribution makes the pass-through model more viable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1A827B-636E-419B-9656-C5776CD7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acquisition costs count only incremental paid members. A merchant-funded reward is not also charged to MoneyLion CAC.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FBEB91-BF20-4714-B98E-5CF52ECB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Paid media waits for stronger LTV. Assumption: referral K = 0.048. Merchant acquisition spend and WOW acquisition cost remain distinct.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D44F3-9636-4D32-B4AF-52BFDD17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guidance. Transactions break even after their operating allowance. Lending revenue excluded.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191250"/>
                <a:gridCol w="2381250"/>
                <a:gridCol w="2590800"/>
              </a:tblGrid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Channel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Acquisition cost per observed start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Incremental share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Incremental CAC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Owned MoneyLion surfaces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$8 placement, operations and promotion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80%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$10.00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Qualified personal referral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$20 dual reward + $2 operations + $1 loss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80%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$28.75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Paid media / creators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$48 media + $7 creative and operations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85%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$64.71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Launch channel mix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80% owned, 20% referral, 0% paid</a:t>
                      </a:r>
                    </a:p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Shares of incremental members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Weighted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$13.75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Planning CAC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Round up for execution uncertainty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Budget input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$15.00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674742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EF9905-640C-458D-9314-1BF85CCB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7FFEBC-3D09-498E-A20D-7C55B3FF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C4C00-F8F9-4B86-AF43-D5D006C5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42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6C6D05-70DB-4DE6-A12D-20710BFC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Subscription LTV determines affordable acquisition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E0E33-2271-4295-B89B-E1B7D2CB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$3.90 contribution per active month, 6% monthly churn, 1% monthly discount and no lending revenue.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C87C90-D5EF-4777-AFBD-FBD27649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6% monthly churn implies 83.1% retention after three renewals. BUR90 is the primary product metric, while actual renewal validates LTV.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5D5CF4-C9D5-4A90-A001-D6903A7B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guidance. Transactions break even after their operating allowance. Lending revenue excluded.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38328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429250"/>
                <a:gridCol w="5305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Measure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Calculation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Result and implication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Simple CAC payback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$15 ÷ $3.90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3.85 months before churn and cash timing.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Survival-adjusted payback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Cumulative contribution: month 4 $14.25, month 5 $17.30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Month 5 before cash-settlement delays.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12-month discounted LTV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Σ for t = 0..11: $3.90 × (0.94 / 1.01)^t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$32.50 per acquired member before CAC and fixed cost.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LTV / CAC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$32.50 ÷ $15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2.17× at planning CAC. Owned-only $10 CAC improves the ratio.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72961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15% / 20% churn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12-month LTV = $21.51 / $17.61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Ratios fall to 1.43× / 1.17×. Two early purchases must lead to continued renewal.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255705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BB556A-1F73-4995-97A6-17F50FC9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212665-4CEF-4A72-874B-2FF0E91C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B0189E-3C8B-4FC4-984F-64312F48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43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792E4-14B4-4E33-80AB-97EECD04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 six-month scale scenario separates fee revenue from reward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F8B08F-4D1B-40B4-9270-3F155E5E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expansion after validation. New starts get a full billed month. This scenario is separate from the pilot execution roadmap.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469710-0F9E-436B-964E-2043170F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Member-months = prior month × 94% + new starts. Net fees = $9.89/member. CAC totals $180k and fixed cost $870k.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1E2FED-41F1-4694-BF63-BCF5D011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guidance. Transactions break even after their operating allowance. Lending revenue excluded.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019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1952625"/>
                <a:gridCol w="2333625"/>
                <a:gridCol w="2714625"/>
                <a:gridCol w="2333625"/>
                <a:gridCol w="2924175"/>
              </a:tblGrid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Scale month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Paid starts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Member-months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Net fee revenue ($k)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Contribution ($k)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After CAC + fixed ($k)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2.0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0.8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-147.2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800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988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9.8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3.9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-153.1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1,600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2,529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25.0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9.9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-159.1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2,400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4,777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47.2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18.6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-162.4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3,000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7,490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74.1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29.2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-160.8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4,000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11,041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109.2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43.1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-161.9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Total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12,000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27,025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267.3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105.4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-944.6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811167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101D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025301-3643-4A6D-AB59-271B7FF8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7"/>
          </a:solidFill>
          <a:ln xmlns:a="http://schemas.openxmlformats.org/drawingml/2006/main" w="9525">
            <a:solidFill>
              <a:srgbClr val="4C746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223EF-7C48-4BD1-B807-81178258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3D7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C3D7D0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D1408-0330-4504-B2AD-1AF9693D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C0B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C0BA"/>
                </a:solidFill>
                <a:latin typeface="DejaVu Sans"/>
                <a:ea typeface="DejaVu Sans"/>
                <a:cs typeface="DejaVu Sans"/>
              </a:rPr>
              <a:t>44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B24B0-5573-46FF-8F6A-2BBBE067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Working capital grows even when transaction contribution is zero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D8D30-6FBD-47F2-A90E-17833CAA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3D7D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C3D7D0"/>
                </a:solidFill>
                <a:latin typeface="DejaVu Sans"/>
                <a:ea typeface="DejaVu Sans"/>
                <a:cs typeface="DejaVu Sans"/>
              </a:rPr>
              <a:t>Assumption: 10,000 active members, 2/3 orders per month, $30 reward, immediate release and a 45-day merchant collection lag.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C8BF3E-6D40-4C94-9A28-A5A48C29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E59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E59E"/>
                </a:solidFill>
                <a:latin typeface="DejaVu Sans"/>
                <a:ea typeface="DejaVu Sans"/>
                <a:cs typeface="DejaVu Sans"/>
              </a:rPr>
              <a:t>Cash-flow routing initially leaves credit principal with lenders. Any MoneyLion lending exposure needs a separate loss and capital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C6C57D-4431-467E-8F6B-A3C38EBB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8C0B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8C0BA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guidance. Transactions break even after their operating allowance. Lending revenue excluded.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229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429250"/>
                <a:gridCol w="5305425"/>
              </a:tblGrid>
              <a:tr h="4667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Funding question</a:t>
                      </a:r>
                    </a:p>
                  </a:txBody>
                  <a:tcPr marL="142875" marR="142875" marT="66675" marB="66675" anchor="ctr">
                    <a:solidFill>
                      <a:srgbClr val="17453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Calculation</a:t>
                      </a:r>
                    </a:p>
                  </a:txBody>
                  <a:tcPr marL="142875" marR="142875" marT="66675" marB="66675" anchor="ctr">
                    <a:solidFill>
                      <a:srgbClr val="17453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Implication</a:t>
                      </a:r>
                    </a:p>
                  </a:txBody>
                  <a:tcPr marL="142875" marR="142875" marT="66675" marB="66675" anchor="ctr">
                    <a:solidFill>
                      <a:srgbClr val="174539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Monthly cashback liability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10,000 × 2/3 × $30 = $200,000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 value creates real cash obligations despite zero order margin.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Early-release exposure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$200,000 × 45/30 = $300,000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Merchant prefunding or an approved payout facility must cover the gap.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20% risk buffer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$300,000 × 20% = $60,000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$360,000 reward-funding envelope. Other cash needs remain separate.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Fixed-cost break-even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$145,000 ÷ $3.90 ≈ 37,180 members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Before replacement acquisition and reward funding.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Replacement-adjusted threshold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6% × $15 = $0.90/member/month</a:t>
                      </a:r>
                    </a:p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$145,000 ÷ ($3.90 − $0.90) ≈ 48,333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Simplified steady-state threshold holding behavior and contribution constant.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1659737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7C7375E-3686-41FC-8C4A-C95FBF68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5A56D5-35D0-4FF2-99C8-48B62AE5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902B2A-E8DB-4177-B0BD-9E19A032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45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16F41-09A3-4497-ACFB-20CFCE5D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WOW ROI Dashboard makes membership value visible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AB826-5327-444E-8335-6901D415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402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Design 01. Settled cashback and verified utility savings sit alongside fees. Estimated loan savings remain separate.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AF29B8-A461-4D73-9B7A-C2B9A6BD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0"/>
            <a:ext cx="14020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Phase 3 retention layer: show settled cashback, verified waived fees and any separately evidenced credit savings without double counting.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1218A1-9A34-4359-BFB8-112F2AA0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proposed WOW design. All offers, people, balances and rates are illustrative. Brand examples imply no partnership.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FE08C3-39C0-4FA1-92D0-36F680E6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A. Settled value this cycle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F7DB47-4B0A-4098-8FAB-399F6D96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6764A3-5950-4874-B374-25F360DA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13C23E-C8C4-4E4B-B3BC-2FA677B9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AAA8E3-FFF9-4A70-9B26-7E930C83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6C1F99-5D58-4E09-B931-B2CE46B7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848876-7053-434B-84C6-DF77B0AE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48A0C7-05B4-4A3D-B14E-C34F0A42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Good morning, Maya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C98B8F-7E10-495A-B5A4-AC4F3EBE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310515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EA5E2C-A0CD-466B-98D8-D99F783B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62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Your September WOW ROI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704859-D731-45AC-9A1F-5EEA509A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909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+$20.01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F7BBDE-B5C6-49F7-8A6C-43B16B10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$30 settled rewards − $9.99 fee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47F03C-4AB9-4EB8-A111-D20D0F9E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1 bounty settled. $30 pending.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6E5ADA-41A3-43D2-8319-F9B768C5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31051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82482F-3B22-4243-8B4D-E5881506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C5D0D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8AC1B7-1936-48C7-8111-812E38C2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86350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[Blueland logo]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6F5A8D-2A88-4370-BA60-2A705566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53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50% back on eligible $60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4527FF-4C37-493B-B298-568E5F2A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19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funded $30 reward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6E19BD-6D6F-4083-858B-189D8E0B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BC0AE0-E3E7-4AF5-B603-998774AB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81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View offer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038C23-FDEB-4222-BFD8-6CC2339C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24600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Next charge: $9.99 on 1 Oct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Manage membership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6F2476-D70B-4208-95E6-6B1B4EB8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EAE363-B3B0-48BB-9535-27B02FF9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2820CA-C66A-4826-9FFE-EE69CB82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92950E-021A-447D-ADD1-FF0C83FC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EE1EF8-5C08-4747-A5D2-B5C38735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2861E3-83E3-4643-A781-EFC74E06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Credit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C7D9E1-8EA1-4243-9A03-D5AC365B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B. No settled value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488750-7415-4E42-8C7D-83CABA13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7DE0A9-265B-4835-8F4D-67062D83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49C2D4-BBF0-49D6-824E-E64E6650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DBAFA9-D39A-4639-A196-683162F8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405277-51D8-4FA8-8BDF-415F67DC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EC32E6-7260-4965-84E7-62B5A9FF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E4D925-EBFE-4A55-BDE6-38DF8047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Your monthly value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39D5C9-AEC1-4E0C-B588-A145B6A2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667125"/>
            <a:ext cx="310515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FF1EB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C61B3F2-3A37-496C-95E4-533BD0ED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62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September value after your fee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F25BDB8-F2CC-4A8F-AFDF-E3D8286C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9909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9B452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9B4528"/>
                </a:solidFill>
                <a:latin typeface="DejaVu Sans"/>
                <a:ea typeface="DejaVu Sans"/>
                <a:cs typeface="DejaVu Sans"/>
              </a:rPr>
              <a:t>−$9.99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5D6C899-ED39-4A7F-A6C5-C504E407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19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No core reward has settled this cycle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54A3020-4443-4F7A-BD73-B1688F57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686300"/>
            <a:ext cx="31051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D5FAF19-EA6A-44A8-8B61-971BF79C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7815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Only shop if you need it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4EEF77F-5718-4ABC-B862-7D589A04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0673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 pending reward does not cover your fee.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AB82042-2B4D-4817-95C0-4960394A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467350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00F4BAF-7515-47A5-81B4-2FA676F7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62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Review upcoming offers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C821FFA-24F9-403C-946E-714C1EED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905500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B962CA0-A43B-4193-A163-DE74D97B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000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Manage membership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519E8EC-5A50-411E-895F-A1F5A53D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6343650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Your earned rewards remain trackable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if you cancel.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FDF605-0B9A-44BA-AA1D-69D510C4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0087D88-827E-43D5-969D-19B84EA0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DC243A8-50A1-4EA9-B7C5-307749F5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0C6B2A1-0A6E-4E3D-A656-91D67532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10EBED2-CC08-4BEF-AD50-44479CE1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6C30011-1878-4763-9355-030CA433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Credit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9AC32F4-A2B6-4D77-AE01-8417E2B1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5336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A. Positive fee coverage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1445E04-629A-4173-AAB3-BE3C83EF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9337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 $30 settled reward covers $9.99 of monthly fees and leaves $20.01 cash value. Pending rewards stay outside this calculation.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5A5ED83-15F4-4461-9ABC-9FFFFF56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15290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B. No settled value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C6205BD-9413-4B52-ACD5-65E7818B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55295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dashboard shows the full fee when no core reward settles. Future offers and credit estimates cannot be booked as earned savings.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1103280-C4EB-4B50-9FAE-C6FD19EA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7721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Why this design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3894882-A36D-469A-B5CC-48826BCF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61722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Members can inspect their first and second bounty, current fee coverage and next charge. The dashboard supports repeat use and voluntary renewal.</a:t>
            </a:r>
          </a:p>
        </p:txBody>
      </p:sp>
    </p:spTree>
    <p:extLst>
      <p:ext uri="{BB962C8B-B14F-4D97-AF65-F5344CB8AC3E}">
        <p14:creationId xmlns:p14="http://schemas.microsoft.com/office/powerpoint/2010/main" val="77269874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371ABEE-D42C-465F-B347-2C1CB62A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EF1D4-610A-4D25-B78A-D144FFDA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7B91A6-4B12-470B-8E2F-73F6066D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46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44704-7DA8-481B-8A38-3085E5B8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Offer activation preserves the exact promise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4595F1-1460-4E5D-9B95-E50AA384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402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Design 02. Eligibility, amount and timing remain attached to the offer version through merchant checkout.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F1DF1F-4015-4785-B332-EAF45410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0"/>
            <a:ext cx="14020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Measure: activated-to-approved orders, missing-order rate and time to the first settled reward.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DB7DC0-C86C-4EFC-89B0-E3372518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proposed WOW design. All offers, people, balances and rates are illustrative. Brand examples imply no partnership.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CC14D3-F60E-45A8-B199-D5865375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A. Offer detail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9BFEA0-24D2-4AED-9A44-450EB774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3D7F6D-C47C-4F5C-90B4-A8AA976A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B1C88-BC02-479A-8D0D-1E473DA9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621001-C6C8-4F70-923B-00BFDFC1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EDA483-F3B0-476F-9126-E7A44B73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9E1298-3D14-4578-BCCE-44E3056A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D6D083-CF43-406E-A37F-EB5D3FEF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Review this offer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F7F9C0-751F-4A2E-A3E6-62F5A327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31051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76B240-D131-4313-AA5E-A3224D63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62375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C5D0D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7904F0-93CB-4281-BBA7-A54B875E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00475"/>
            <a:ext cx="1143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[Blueland logo]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D7551C-06CF-4753-B5F0-35247579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67175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50% cashback: $30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EFF746-B47B-4575-9814-F91E9D6C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3387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$60 eligible purchase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F3D922-F1DA-45A2-B6C6-4C7B9939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10100"/>
            <a:ext cx="310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Eligible items only. Taxes and shipping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excluded. Returns reverse cashback.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3ED30A-3969-442C-BDF3-3075B6C6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Member eligibility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A2028D-23D6-4421-A41A-5C20B3AF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1054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View rules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13FB5B-8817-4067-9FA6-4EE8E227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72100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71FF08-498D-4D49-A598-1EBED700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38775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Merchant review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B56160-F87C-4A9C-A856-5FCB4E49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43877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Up to 30 days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EE349C-093B-4FCD-A05B-5D9FBEF8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05475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B84587-789B-45A0-9591-56516178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Compare the total price before buying.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B4AE16-82B9-41E4-9539-AC21A399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76950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B02748-48F9-458C-B9A8-4BFB140F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172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Activate and visit merchant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95D54F-552D-4F1F-BF9D-EDE6104F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15100"/>
            <a:ext cx="3105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Offer terms saved when you activate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92F90C-BDCC-4B8A-A746-59D7FD91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B54324-3E6F-40FD-AFFF-63B150A8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59B6C2-6D9D-4696-B350-D4A380DF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31D998-B080-43D6-9E84-4BE28649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515DAB-62AD-40BA-ACE0-F9869282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F82DE3-2722-462F-AB31-4B03CF71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Credit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54CBA6-814A-49C1-8584-F107F44F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B. Returned from checkout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92D6C2-9D16-4D35-8307-C7C4A81F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9CFAF48-49B4-4EC9-BBA1-F1EEDA42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376A65F-1CA9-43D0-971E-69A34706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085C7E3-5182-4515-A664-B70E5AAC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25F6DB7-CBA7-4DA4-B745-DA74639D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C29A34-C0BE-494A-82E5-B0982599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15F10CE-FD65-4CF5-887C-F133FD01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We tracked your order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B237370-2E25-4C30-9ABB-9A996874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667125"/>
            <a:ext cx="31051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48AD439-7B0C-4DD4-BFBC-C407C89A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62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Estimated cashback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D9802AD-419A-44B9-BBB2-7417307A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9909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$30.00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9AA21CC-9FD8-4537-8277-E31D91E5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196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Pending merchant review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59A71F4-9A40-4407-A746-C6EA7402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7148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CC3C742-4C66-4DD9-B492-A9885525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743450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5F3B024-80E4-4138-B733-92002ED2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695825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Order reported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E22FBF0-F84D-4288-B70C-D4B08B87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914900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24 Sep, order ending 1842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B155376-078C-4363-959F-8A9A19C8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2101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622A6BE-9240-4B8C-BD7C-21FC5C36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238750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25DE558-A670-447E-A369-229D7B5C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91125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Merchant review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18F32BD-3116-481B-988F-AF0F18C8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410200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Expected decision: 24 Oct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9B3C72B-9C56-4BD0-9CC7-672B8A58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705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DA0D333-DFB7-4356-AE82-0EEB1C0C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734050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D231B69-E7DC-4905-9653-57F739F8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686425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Available to withdraw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0D4A613-2E31-4CF1-935F-A68FC22E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905500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After approval and funding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E4B18BF-EA66-42CB-BE4D-DC663DC3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219825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7C8027F-ED7D-4683-B94B-B87C4FDE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3150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View reward details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F601EFB-0F26-492F-B7D3-8F8972CD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665797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Order missing? Start a claim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8356DAB-CDF5-4175-AE23-E84AC5DB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AAA3DE3-C44B-46C9-86F1-C0F9F917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10711DE-5F92-4EE9-8C4D-6B6EDBF5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124D447-ACAC-413C-B73B-E1EB0F52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A7BD26D-D4ED-4C1C-AD81-5C321EAD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3EA0662-36E7-4680-8D97-CCBD73E0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Credit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80A6967-4578-4146-9DF5-711DD8DF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5336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A. Read and activate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A67BCB3-8A65-4D94-948D-4B9B9CCA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9337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 selected $60 eligible basket earns an assumed $30. Merchant CPA funds the reward and $1 operating allowance. Eligibility and timing precede activation.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489AA67-F6DD-457A-815B-D196D41D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15290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B. Return from shopping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7A621EB-99E3-443D-B04C-255EC112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55295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app shows a reported order and expected review date. It provides a missing-order route when the merchant sends no event.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32B09F8-F855-4874-984E-3F44162F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7721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Acceptance criteria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00D81B2-4685-437E-8F33-738DB373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61722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Persist activation ID, offer version and merchant order ID. UTM explains campaign origin. A signed order event establishes reward evidence.</a:t>
            </a:r>
          </a:p>
        </p:txBody>
      </p:sp>
    </p:spTree>
    <p:extLst>
      <p:ext uri="{BB962C8B-B14F-4D97-AF65-F5344CB8AC3E}">
        <p14:creationId xmlns:p14="http://schemas.microsoft.com/office/powerpoint/2010/main" val="72593088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F01A1BF-1E84-4B86-B5BA-30E6137D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2AD89-F3C3-4FC5-8263-7D947BC7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9F2D58-C6A3-49B7-9E7F-EB5B2889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47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EFB1D-5DB6-4B51-93A3-DEEB3837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Wallet distinguishes pending, available and paid money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809A7-23AB-4965-9A0C-A19BCF42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402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Design 03. A reward detail view explains why money is waiting and which event will release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E2A5A-4ABA-49EC-8502-0D06FEAD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0"/>
            <a:ext cx="14020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Financial link: earlier availability creates working-capital exposure, shown separately from order contribution.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B7C857-32FB-49E3-A513-38F56FC1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proposed WOW design. All offers, people, balances and rates are illustrative. Brand examples imply no partnership.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8073BA-C49E-4C63-80E5-37D81E3D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A. Wallet overview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C4C410-FCBB-4627-AE2B-40D90B64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328F0D-EC7B-4C7B-9595-A6BC43CC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1F966F-4A9B-43FB-997A-1CB3484A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9F7C26-2D58-4FE7-A3B5-7889C447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E02510-ABCF-4785-9FC2-B996C020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5E2CE8-90ED-4719-9F22-A690BB47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4630D5-E34C-4C26-A005-E6D73087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Your cashback wallet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FD3245-7494-4A98-A38C-659E516F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310515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4E547C-7394-4AA8-820C-4819800A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62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Available to withdraw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3C0AF2-CF68-448D-8936-96CFBB86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909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$30.00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3DFFCD-3BC6-42F3-AD21-FBE2B23A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$30 pending, $60 paid previously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3F4D20-AA40-4976-9508-8FB29030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6AADF7-9916-4F7E-8B90-506B4B8D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81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Withdraw available cash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A686FC-A6DD-4ED2-BFD8-E398A369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24450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Blueland, 24 Sep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9CBD21-6CAE-4B34-B89B-1C0955C4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1244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Pending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4B231F-53DC-4365-8858-AFAE593F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91150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2E6C3B-22FB-4789-86F0-40F6AE78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80050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Selected offer, 1 Sep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24AFF7-35B0-43AA-9831-2DFD64D7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4800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Available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3B43F4-7C00-4839-B432-DD278A6A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46750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2AD040-0F32-4366-B41C-054981C9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35650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Returned order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7CCFCD-6E40-43DB-8DF7-13F705B7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8356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Reversed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F3A4DD-42AA-4E14-A2C6-0BC278E9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02350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6C8191-6898-4E1C-A2B2-FE1D7A3B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2935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Pending money is under merchant review.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View activity and support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185271-AB5C-40A6-A0E5-6DCEABAF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0C9C45-CD37-416D-A283-F77E934F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DAAFB4-C74C-4651-98C8-BDF7E385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999859-F595-415B-AF57-BBDB73AD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3489A9-52AB-441D-A686-AAEED2A7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B02361-E96F-413A-8A62-F9FE8D4F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Credit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604B08-D437-499F-953B-7C7BDBBB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B. Pending detail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DA9B6B-5258-42D3-AE07-58B2BCD8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F2BFAD-90ED-4316-9453-07644B9E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34F40F-6162-4657-A878-2B655467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8D33F3-C7DA-4620-99CB-3FC8F966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B0F3C5-63D2-465E-8773-746204CC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FD48481-5998-4F0E-A4B7-EA03CC51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6279282-C2A7-448A-B44B-D040F120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Reward details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DD9354E-D270-464F-BDE1-91D7A9B5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667125"/>
            <a:ext cx="310515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EC277E0-A71F-479B-A398-78DBD9A5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62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Blueland, order ending 1842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9EC7FC3-CCFC-470E-9EED-D2769743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9909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$30.00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2DDFD74-D928-4DE5-933E-E3E2F09B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19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Pending, expected review: 24 Oct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5C99EEA-2AD3-4DC6-BC5D-6F3EADEA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7053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4E9A745-DD0E-464C-ADCF-BEDAC13B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733925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61B7301-C7B0-4221-9DE4-F0555B4E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686300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Purchase reported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C78C5B6-1B37-4FA4-85F2-51A44879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905375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24 Sep, eligible amount $60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FB15EA9-FCD9-494B-97C1-AAA6B028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2292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593DBCA-F2B2-4FC1-926C-81EA50CD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257800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D5CDB16-99CC-463A-9B03-44EB046F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210175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Checking the order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4F4277D-BBD4-41BE-8388-D85985F3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429250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Delivery and return checks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37531FD-DA77-472F-BBF0-3C6E6858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753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B99EF38-CD4E-46EB-8E69-B7730AC7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781675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E8390AC-800D-4784-9EF0-1287FC01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734050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Cash becomes available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60B0DEC-67B9-4DD6-89A2-F6DEEEE5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953125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We will notify you when approved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6531642-3B89-4236-9988-1505E651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296025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57DEC96-C506-4084-852D-644938C6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3912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Report a problem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38D8BD4-7D23-45B4-83B6-B5EC793A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673417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Timing follows the merchant’s terms.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84048FC-413C-4220-847E-58481DED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1E7F120-CC99-4E74-B868-2D12B540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22178AA-9EC2-43D7-9E83-239F25E0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4CD4AA1-59FF-4EE5-87DF-8197898C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8238428-BEEC-4432-BB77-0D0845BE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1E9D01F-B41A-4261-8D03-ED6BA357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Credit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24264E5-07B8-4931-93CD-300370C8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5336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A. Wallet overview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9DFED4F-3E42-408D-904F-CFAD219A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9337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Available cash has a withdrawal action. Pending cash has an expected review date. Returned orders remain visible with a reason.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DD6626D-4F14-456A-AF07-68DD5C64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15290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B. Pending reward detail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6FDA9B0-006A-4EA6-A52F-C267366D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55295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timeline distinguishes reporting, merchant review and payout. “Available” appears only after approval and funding coverage.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9FD704E-0457-428E-9661-51B70495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7721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Money controls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ACA8914-EF03-4B8E-B449-62B55929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61722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An immutable ledger deduplicates merchant events and reconciles approvals and reversals. The $1 operating allowance must cover these transaction costs.</a:t>
            </a:r>
          </a:p>
        </p:txBody>
      </p:sp>
    </p:spTree>
    <p:extLst>
      <p:ext uri="{BB962C8B-B14F-4D97-AF65-F5344CB8AC3E}">
        <p14:creationId xmlns:p14="http://schemas.microsoft.com/office/powerpoint/2010/main" val="1494857655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8E0175A-3672-40AD-859A-22AB0CDF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D9EFB9-E09C-4D81-9A22-0ED1092C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960AA6-A86B-4083-A3FE-9F4810B8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48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5105D1-8631-4776-9143-D9F0B7F5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Withdrawal gives a clear destination and recovery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F3B152-17F8-4AF2-9552-8247DC3E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402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Design 04. Review and confirmation screens reduce duplicate withdrawals and uncertainty about arrival.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DC7FE4-382E-40F8-86EE-5EB65877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0"/>
            <a:ext cx="14020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Assumption: eligible linked-bank payout, $0 member fee and 1-3 business-day estimate, subject to actual provider terms.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3A5C6F-B66A-4518-A69B-51D9C439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proposed WOW design. All offers, people, balances and rates are illustrative. Brand examples imply no partnership.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F4876A-0CA8-41D6-B8C3-4A614B01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A. Review transfer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87C635-3190-42D0-B2EB-FD38AC72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7FDB29-BC85-444D-9BE4-A4D2DB76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5FBF54-8C6E-4D98-B169-5086E7D6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1E2D9C-AEF4-465B-BE3F-1A8D9004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374164-982D-4A3D-AE64-8F48D630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0F0992-3CF0-42AE-A1A4-83927252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1B7B83-8CCD-4F16-9FFF-23D8C36B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Withdraw cashback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53A118-502F-47E4-B67C-9860DA5A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31051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3A7BBF-824E-47EA-B0A5-88A479F4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62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Amount to transfer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950D3C-C38A-4DF7-A15C-E69F449E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909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$30.00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CF2152-DDAF-47AE-8D6A-A224BEFF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Available balance: $30.00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5F66E8-118E-4F63-8CC0-1339E5B9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95825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Destination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2EC1F1-2F02-4991-9FC9-9A711000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69582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Bank ••1842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83F673-57C1-4DB5-AB56-18A10860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62525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178A9F-BCCE-4E2D-89A3-24CA982C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1900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Transfer fee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E70134-BCA1-4B75-9D50-A1561658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0419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$0.00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BDDB38-CB92-4261-9EA5-F9BB6209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08600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3732E2-5D77-457D-90DE-6F88FBB4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87975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Expected arrival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B7DBFB-96AA-4065-9827-812F3887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38797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1-3 days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4BA550-01C2-479B-998E-886D0A88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4675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5ACAAE-4A8B-4599-950B-CC654D87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7215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business-day estimate.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Confirm the bank details.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F1CBCE-E9AD-405F-AC67-F4A7B328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57925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09F9A9-F536-464E-BE39-4B1F056A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3531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Confirm withdrawal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DD8F4F-4621-47D4-B360-ADF7B636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5259A1-B18F-473B-A3F8-FFCB3B94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48D25B-52DB-4974-ABA9-50EDF1D5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F2BB5B-98F0-4FDB-BC23-9C9D1F6A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14A34D-2B31-4E6B-8596-7E0288EC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E345B4-D9C6-4DB8-A050-7BA7C916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Credit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579AE6-BFE9-4F0F-9297-AB656745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B. Confirmation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DE3B334-C81A-40C0-99AE-BF320AAE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01CCE2-350B-4DC8-AE1A-DE9C575C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899675-54C8-4B78-B5F2-3D35BA94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3DD978-428A-4070-A8FF-F353E8E9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D7E0844-11EF-4B23-96FF-55A4508A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101BBB8-E328-4DE5-8DB1-1B8A7FD4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44DA466-C3DB-4094-ADC9-9AABC886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Transfer requested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67F48FD-BB76-4558-A1A8-D33A3C0E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667125"/>
            <a:ext cx="31051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DA16CB1-E42F-4C33-95D0-C922487A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62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On its way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4C20A1E-84A8-491C-9F76-6D31ADB5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9909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$30.00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B606F9C-A487-4DF0-9107-60EC7FE6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196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Bank account ending 1842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7D17FA0-4B5F-4B33-B90F-4328E7F0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695825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Transfer reference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A0DFEE7-281E-4AA8-9DB1-235F79A6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9582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WOW-1048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6B5F154-1A72-47A4-9DDA-C78FC7CB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962525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1A061C2-3197-49E0-90A5-EF4ADDB2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041900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Transfer status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B53D85F-AD49-4785-9E22-44F7A35C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419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Processing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C37F81A-4EAB-4E5A-8A80-34B379B3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308600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94497C5-DFA0-4F58-8BA2-3F659420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387975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Available balance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3041647-2D94-4667-B1AA-732A243B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8797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$0.00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534F700-45F2-4F51-A78D-908C0BE6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654675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B1B0F1D-9900-4C0A-B5AD-5F02B9A4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77215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We will update you when the payout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provider confirms settlement.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6160DDE-ACBE-47A3-AE0A-558E37C2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257925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F25931D-8759-46D1-AE38-80185CF3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3531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View transfer status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6909B1A-9289-4E10-897F-CB33D934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669607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Need help? Contact support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8CD7D08-756F-45FB-AFE4-CEA65197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00D9423-B832-4E40-A9DB-405F7D9C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EDD5A45-D54C-42F6-BD10-90F3A5D1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FA7EDF6-DA23-4545-9EB7-35CEE709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5B1E04A-6542-48F4-8C1E-E47B9793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9A75DDE-970B-478E-A465-E01A50CD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Credit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43B27CF-BCF6-4A91-82B9-CB388C35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5336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A. Review transfer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E21CCF4-A8C6-4C8B-A7F1-649AD69D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9337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Show amount, masked destination, any fee and arrival estimate. Reauthenticate sensitive changes without blocking browsing.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0624C13-A3C2-417C-9D01-2553D943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15290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B. Transfer accepted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E190592-5EAF-4AA5-9DD2-566AEB97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55295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Reduce the available balance once. Show a reference, status and support route. Processing does not mean the receiving bank has posted it.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8443E6E-C2FF-423E-AC93-BB999340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7721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Failure behavior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F411273-87CB-4618-83BB-0406F376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61722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 failed transfer returns money to available only after reconciliation. Reuse the idempotency key on retries. Never ask the user to create another transfer to investigate.</a:t>
            </a:r>
          </a:p>
        </p:txBody>
      </p:sp>
    </p:spTree>
    <p:extLst>
      <p:ext uri="{BB962C8B-B14F-4D97-AF65-F5344CB8AC3E}">
        <p14:creationId xmlns:p14="http://schemas.microsoft.com/office/powerpoint/2010/main" val="1992283400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8920F8C-306A-47A3-B323-287DD4BE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C6486-5EA9-4D11-9CCF-22582822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BEE743-F9C7-420A-9842-680AA781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49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C7AFBE-586B-41F0-AA45-4D3F03F5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 missing reward becomes a trackable service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AE90AD-AF56-48A6-A5C0-6E0D14A8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402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Design 05. The product acknowledges tracking failures and gives both the member and Operations a recoverable path.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FC7F8A-EA3A-4B19-AB5A-226B35F4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0"/>
            <a:ext cx="14020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Assumption: first response within 2 business days. Track aged claims, confirmed tracking loss and duplicate goodwill.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D4989-603D-4C71-BC8D-F1FCA5D0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proposed WOW design. All offers, people, balances and rates are illustrative. Brand examples imply no partnership.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62E029-AD18-42D3-BCFD-2233EB1E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A. Claim 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E63B66-C4BE-4F1E-B72A-F1E97C7B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F40D80-CAE0-4A76-A775-473F811F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1538BA-B85C-426C-8158-8A9C9ACE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04F363-E2CD-433A-B15A-A5FDAE14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5376F6-8CD3-4F19-8AC8-1ACCE0C2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4A9003-9447-41C6-AFFC-40A093BF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4045D8-0F3B-4B3C-9838-7561D815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Missing cashback?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3F98CD-F168-4EA7-A443-BD4AF752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67125"/>
            <a:ext cx="3105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Merchant and purchase 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25ED31-6BFC-4C83-AD35-EA8DF0EE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10515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7B46ED-2665-45AA-83F7-462F9CBC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71925"/>
            <a:ext cx="2867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Blueland, 24 Sep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A0F502-2EF9-4C04-B358-28D61F3D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3105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Order number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DEFAF1-5E5F-4971-8176-FCB4285F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310515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2869C9-DCD7-4BE8-AB6E-7BDB4C52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38675"/>
            <a:ext cx="2867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1842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1327A6-3A52-440C-B391-37BA95D1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00625"/>
            <a:ext cx="3105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Eligible purchase amount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CAF572-EE6F-4FC2-B565-78B8E7DA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310515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D40FB3-B05E-4779-94DE-61861B86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05425"/>
            <a:ext cx="2867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$60.00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E5D4C0-A554-46E7-BFBB-D170E312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67375"/>
            <a:ext cx="3105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Attach receipt. Hide payment-card details</a:t>
            </a:r>
          </a:p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and information we do not need.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41C4FD-3F22-4193-B767-0F4C78A7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15050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192056-FD3A-4A45-A9E4-E9F8460E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210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Submit claim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0B864B-354B-4C4F-B922-EEB579EE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3C9DA4-A8D1-4618-89E1-5794F5D5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F9863C-C1A8-4276-8D46-C34E31D8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C265D9-72AE-4656-9AD6-2E9B5512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4E2CC2-ACAC-4C50-8178-11ACD574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6C9304-DF5A-4818-81C3-D1C68D35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Credit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6732FE-CC77-4F8E-948A-FB2C80BA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B. Case status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422E87-A3F8-4455-8338-CFE7F83C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048408-0D3B-4ED6-830D-954CD3B5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C1FAC4-BABB-4340-861C-142A8F4B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1112F9-735E-45DA-B4AA-7522F55A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A32928-BE73-4DF0-8CD6-5953D8E8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030057-1FDF-4AF7-9F6F-9FC3B7C9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F3FEF8-5479-4377-927D-C78C7E06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We are investigating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AB9BA6-033B-448C-958A-BFFE479C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667125"/>
            <a:ext cx="31051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32D24BD-05F6-4962-AAE3-9491E8EA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62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Case WOW-2042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EBAD8BD-B7D4-42DB-BEAB-E3123BC9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9909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In review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AD4B86C-ADD2-44CE-822C-C33B0BB3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196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Receipt received on 25 Sep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BB56587-6061-4985-A9CA-0CBFF311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7148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AEF616F-E8BE-425E-90E2-15914325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743450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09EBF64-CDAB-4792-B236-E66FA9EC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695825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Evidence received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FDD417A-3451-4D61-A3C2-C7462354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914900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Your order and offer are linked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456CE51-D16B-46D7-9DCD-5A2CF3CD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2387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2F9C390-3129-4170-A824-F82924A7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267325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733F922-828C-4693-B1D9-E1F7A635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219700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Partner investigation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BF01B78-ED7E-4578-B0CC-999F8F89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438775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First response within 2 business days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014312C-3F1F-444A-83D2-E52973C5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7626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3334C9C-E102-4C11-AD2B-0B793565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791200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DC9F14B-4D08-4A58-BE78-49E35AD6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743575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Decision and explanation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6DCF3EC-3704-4CB3-AA65-77DF46C0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962650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Reward or a specific reason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F1E1E61-5CD0-4902-9950-98A6A25F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305550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DE9E093-376D-481C-9A57-90C57892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00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View case conversation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768FBFF-D94C-4E1C-8EFA-F5A635EB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6743700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One case prevents duplicate handling.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43728F4-D3C5-4385-A726-8EE11DCD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AD9BD9D-4A1D-447E-BD2E-D5B18702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CD228E4-B49C-4EA8-8B5D-B7C82785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64F4251-C760-4AA7-902D-3844FF0E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A91EB57-886A-4B50-9A96-60EFA1BD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AA42530-EF19-42EA-A2CB-81F7B4DC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Credit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74E05F2-5B9C-428B-97E2-5798D0E4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5336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A. Submit the minimum proof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4825938-9373-49A7-BAB9-228F9EDC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9337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Pre-fill merchant and click date. Ask for order ID, eligible amount and receipt only when needed. Warn users to hide card and sensitive details.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F6023F8-7676-4149-9B7B-416929A3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15290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B. Track the investigation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A2D9293-EAF3-4798-9B0B-D38625AF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55295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Show the case reference, evidence received, next update and a single conversation. Preserve evidence and offer terms after cancellation.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8E48415-7EC8-4785-B39A-E4D55090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7721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Operations contract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701DFB5-9A2B-47E6-B889-DBE9D90E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61722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Join claim ID to activation and order IDs. Search for late events before issuing goodwill. Record disposition so Finance can avoid a duplicate reward.</a:t>
            </a:r>
          </a:p>
        </p:txBody>
      </p:sp>
    </p:spTree>
    <p:extLst>
      <p:ext uri="{BB962C8B-B14F-4D97-AF65-F5344CB8AC3E}">
        <p14:creationId xmlns:p14="http://schemas.microsoft.com/office/powerpoint/2010/main" val="1292913860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EAB97CB-5D91-4E16-A0AA-17DE8F4A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21D05-CFDD-47AC-BD2C-5C26B8D7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BF3912-6D2E-4850-9414-CAE6D98B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50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FB67E0-53CA-4FE2-8A09-0F8FEC8F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referral dashboard makes qualification visible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BAB30B-1357-4B17-9D88-2E269973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402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Design 06. Members can see progress and share a personal invitation with the full commercial terms.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94680D-9401-472D-8815-2B21D6AD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0"/>
            <a:ext cx="14020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Assumption: $10 per side. Include both rewards, operational cost and fraud loss in incremental referral CAC.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C7C66E-33A6-414C-8398-CF437775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proposed WOW design. All offers, people, balances and rates are illustrative. Brand examples imply no partnership.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68A3F7-AF3F-4EB7-87B3-CF2E4682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A. Referral 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6B9573-BCCE-4C90-BBDD-519DF42E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51090C-4A85-4E8B-A798-487078CF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4A1C7F-D5DC-4E4A-A261-9993FB5B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EF3FFC-D155-4854-8E3C-E977462E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6150DA-9A62-469A-B028-EAA74215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83D4F0-E118-4B19-ADCC-FD4E2D00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D773D6-8AF1-437A-B868-7C1754C3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Your referral network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029F84-09BB-4556-AB50-45CB7A94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310515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6C7507-21C9-4D30-92D6-EC9E19BB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62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Qualified referral rewards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E8C3BF-FA77-4184-AF77-F46F6214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909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$20.00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F4E0ED-32E6-407D-9B79-83553486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2 qualified friends this month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1DB8CA-2DA1-4BEA-BBF5-D60162CB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2 of 5 monthly rewards earned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2999CA-A328-471D-A52D-8496ACFB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72050"/>
            <a:ext cx="3105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102BB4-B45D-4A48-A61E-A5FAEB6C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72050"/>
            <a:ext cx="124206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171BD7-97CB-4311-8B36-CF149E8E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33975"/>
            <a:ext cx="3105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Only approved qualifying activity counts.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2B04BA-AB7C-4A73-89F7-FF5BEF59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72100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Sam, joined WOW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CD6680-FE38-4522-AD5A-30D1A532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3721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In review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D58A99-14FB-41B1-92F9-434C7390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21929B-DE75-425D-907B-E82FDAE5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2775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Alex, qualified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76CFED-C581-4CF1-AD94-1A0F2E07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69277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+$10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8C2199-0FDE-4191-A704-1D978845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59475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A3D2E0-A721-4938-9522-CEEAA1B8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13450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Jordan, qualified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46532C-7530-4AAC-A57E-03025665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60134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+$10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F193C8-EEF6-4F68-9FF7-78020C7B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0150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429AA5-B630-4ABD-A274-25C090E6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72225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E44E39-C156-4B23-B1FE-DFB137FD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4674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Invite a friend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1E5F2E-93D6-45F8-8301-042B93E2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065822-9F0C-43B5-82EF-A48DDD56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16585C-2869-4604-B641-123FEA1E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F5288D-EFA5-4ABF-A9EB-5B2BEADC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3D1392-5FED-44A8-9B2A-A40195DB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F534A6-DB16-455B-9DEE-4D8C406D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Credit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59AED4-6D1C-4700-AA3F-44C49128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B. Share invitation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CC3A72-F557-443A-80CB-D574F1D0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854A25E-BAEE-4907-897F-D2B9E516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7E5BF0-CF28-42EE-BE1A-D5089986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BB6D91F-2535-42CA-9165-940CE5A6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69946E4-40AC-4063-A39A-52EFA25B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2D59926-5E79-4667-A2AB-0E4C85D1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0286E9-FD95-4524-95DC-C2173CD5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Invite a friend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C064E53-9C92-431A-BB3E-41055244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667125"/>
            <a:ext cx="31051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84889A7-860C-4074-844D-D1078832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62375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You get $10. They get $10.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67E1436-1FBD-44E7-B42D-25171B58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48125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After paid membership and an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approved eligible purchase.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3233D6B-053B-4484-BE3E-7C4DA765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600575"/>
            <a:ext cx="310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WOW costs $9.99/month until canceled.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Offer rules and exclusions apply.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C039F69-7130-4A1A-BE4C-CDD8A895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095875"/>
            <a:ext cx="3105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Your personal referral link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BB163B1-B6B0-4F3B-AF48-E90E5ADF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314950"/>
            <a:ext cx="310515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7AF8FAC-0A99-4D0F-8266-4DE8F1E7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5400675"/>
            <a:ext cx="2867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moneylion.example/r/MAYA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747B4C8-3D55-456F-A98D-E4B7FE8B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762625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37D767F-2A45-42CD-A5BF-37C4AE16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8578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Choose how to share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347C05B-DC08-4A7F-A58B-7FDEDB1B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200775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D704B41-9DB6-429D-B082-7A5374D7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2960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Copy link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0A69B43-E73C-4796-97D4-1D8BB345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66389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No automatic messages or contact upload.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90F2B0D-6A78-496D-A426-805362C1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3CAB52F-E0BF-4094-891D-01BFADA1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19EC63A-A2B6-486F-9225-57CCA7EF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E692607-4E6E-4F0D-8D30-E37E22F0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3616980-FA0A-4565-9B81-01412EE6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ABD1AA1-189D-4883-B1B2-FD1E0DDF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Credit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E55C10D-5D27-46EA-990D-8732B89D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5336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A. Network progress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B2B9A05-368F-4624-9F1D-B031F927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9337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Separate invitations, paid joins and qualified rewards. Show $20 earned from two qualified friends, with one purchase still under review.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174F9C1-2620-4213-A6ED-60C25021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15290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B. Personal invitation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34011CB-1C18-4FF9-BD76-93B7766B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55295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share sheet states $10 each, $9.99 monthly price and the required approved purchase. Members choose recipients themselves.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CF5ABB0-565C-4462-9C5A-7AD3B004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7721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Growth controls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3B86D25-961C-4A24-B5F3-5FAC2DF9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61722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No contact scraping or automatic mass send. Cap rewards at five qualified friends per month in the pilot. Detect self-referrals and suspicious velocity with an appeal route.</a:t>
            </a:r>
          </a:p>
        </p:txBody>
      </p:sp>
    </p:spTree>
    <p:extLst>
      <p:ext uri="{BB962C8B-B14F-4D97-AF65-F5344CB8AC3E}">
        <p14:creationId xmlns:p14="http://schemas.microsoft.com/office/powerpoint/2010/main" val="728497697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B64D9F1-1797-461D-9BBF-45D7CC5B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4F507E-D81E-449A-AAFD-0F861D17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D082DE-158B-4B4D-AC88-FCAFA32A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51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C3F60-30A0-4A8A-BF0F-EB2A11BA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invited friend understands the cost before joining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AF5B6-7C06-40CD-8654-4ECF2F59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402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Design 07. Referral attribution locks before registration, while the user retains a clear choice to stay free.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004CB-0B8A-486D-9A70-29500283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0"/>
            <a:ext cx="14020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Compare qualified retained members and incremental CAC by invitation context, not raw shares or clicks.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96A239-A05E-4BAE-9F79-C2A72DBF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proposed WOW design. All offers, people, balances and rates are illustrative. Brand examples imply no partnership.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2FDDFB-63A5-4EAF-B0D3-2DB5A3DF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A. Invitation landing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AB05BF-02A3-482C-A03A-8385EBDE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53C420-2040-4483-8702-278749EB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24E5B3-0F62-47AC-896F-449D31BB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487B32-00F8-4180-AEB8-143CF051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C4AA53-C064-4342-B502-4A125E52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CB19CA-EF84-4902-A560-B996C551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5EAADF-B088-4E90-86B6-67D02AD4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Maya invited you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909146-465E-4574-BE49-7B8546CC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31051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096DB6-F63C-456F-9DB9-4664420B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62375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Referral benefit for you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612FCD-74DA-424D-9A27-9E0723B9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909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$10.00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BF83D2-53AD-468E-A2A5-000492B8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After you meet the offer conditions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39D158-53DB-4C9D-AEC6-3AA8CCD4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148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85059F-689E-4033-9ECC-AE143B9A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AD8ED4-5BEF-4F52-9BDE-5ABAF8A8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695825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Join WOW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846298-8E7C-4FAC-9DAC-D3115E88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914900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Pay $9.99/month until canceled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8ECBB8-8C0E-4EE7-BB4F-0EE829A0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00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154503-E9ED-4453-BEDD-69727BC1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29225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4EE4EA-76ED-4E8A-AAA5-88969F59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181600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Make an eligible purchase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3EBD30-60AD-4457-9521-E23361AD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400675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Choose an offer you already need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33406B-86B9-4ECC-B386-381490D9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86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3EA6C2-42A8-498D-BDDD-86B7009F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8DC4D3-9965-4E41-BC2F-5EF21247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667375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Receive the referral bonus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3BB5EB-5C77-49C0-A364-C8A7DC1A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886450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After approval and refund checks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02C987-9D5E-4AB1-869A-995097F8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0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FDE456-5047-4B58-8F18-BC7F055C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286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Review and join WOW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F47CED-4D69-4C01-AF75-5C94917F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29400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Continue with free MoneyLion services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F6D43C-9468-42B7-8B25-3177BA02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1F570C-BC85-456B-9089-BB6C82B4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2D3BE8-C80B-4742-80D6-B6CA663F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21D193-FBE0-4767-BD0C-9104FF2F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C41E0F7-0406-43D8-9C0B-80C9BC61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9AC9B3-2F31-4FD4-8DB9-F1CC2EA9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Credit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B492D9-D418-47B0-8556-401C8667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B. Qualification tracker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B41D71-3049-4AC6-868F-5A62D742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3CDF9E2-A1AE-40D4-A464-DCDA01CA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9489F19-438A-4F2C-AFEA-6F9B3126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C52004-21DA-4A00-95A2-3CC7B435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6F58D18-BE48-4810-B4CA-64E1C75B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133CD6F-94F1-41D4-9276-605A91DB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B46E247-0110-4D2A-A513-5B6287A0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Your referral progress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EEA41EE-4E07-4325-8B8B-3763452F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667125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2 of 3 steps completed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778828B-DEE4-4FAE-A962-A9D363DB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952875"/>
            <a:ext cx="3105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238A37C-188F-4466-8A2D-80FA9392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952875"/>
            <a:ext cx="208045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37993F7-81B9-4EBF-A60D-ECEDA975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114800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Your referral bonus is still pending.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FF47950-738A-4A66-A1FB-E954D634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419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5CB2699-DC73-421A-B39D-00C0060D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448175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F43BECD-7981-470E-AFDC-2CFDB165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00550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Invitation accepted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11BDB26-BF3E-49C7-BF97-5A79A297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619625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Maya is your referrer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7541DD5-7244-4FE9-BE13-C2F70BB4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953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61A1BD9-C936-43DA-8FC1-6B6F2239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981575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37ACEB1-10CA-4ABD-84E4-42DCE5F4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933950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WOW payment received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2D1D551-C2B4-49E6-B7D4-6793EE15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53025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$9.99, 24 Sep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138E18D-57AD-46CB-8612-4DE8275B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4864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F3CDD42-9CA7-40DC-9095-3826D93D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514975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FB7E979-CBB6-499A-AA01-A7785A98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467350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Purchase approval pending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ACA624D-C4B7-444B-8E46-9AAA3FF1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686425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We will update you after review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D964299-E970-4155-A4B8-FA4DFB1B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038850"/>
            <a:ext cx="3105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860BDE2-D99F-4233-B617-04F11882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13410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Both sides receive $10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6B3D51D-87F8-4679-A812-5BF39796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198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Only after all conditions are met.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23FDF55-CD2F-4500-973E-689C2AE4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83ACE2F-1943-4EAD-9807-CE9379D3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EDEBFB5-4059-463C-B084-9081D557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92E497A-73C4-4207-9DF8-FEA185C7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E772603-BA60-408C-8163-58ABBAE4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D1ADCBE-A87D-4244-A31B-94F38397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Credit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F1F2704-F518-4608-8E40-BE94C0F7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5336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A. Landing and enrollment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0B64D55-E583-41C8-A9C5-A3A4B6FE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9337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Show who invited them, both benefits and qualifying actions. The monthly fee and automatic renewal sit next to the join action.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60E05DA-DDB4-4DDF-B80D-5ED36D8B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15290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B. Qualification status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A76116D-0B16-4A75-B6B6-0EAB22E6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55295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Successful subscription payment alone leaves the bonus pending. The first approved eligible purchase and refund checks release qualification.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B1661E3-8B2B-4A18-9C35-F06E681E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7721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Event requirements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9AE3421-F935-4969-8C6E-9188DF46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61722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signed_token accepted, referral accepted, payment succeeded, order approved and reward available. An ineligible or expired invite receives an explicit explanation.</a:t>
            </a:r>
          </a:p>
        </p:txBody>
      </p:sp>
    </p:spTree>
    <p:extLst>
      <p:ext uri="{BB962C8B-B14F-4D97-AF65-F5344CB8AC3E}">
        <p14:creationId xmlns:p14="http://schemas.microsoft.com/office/powerpoint/2010/main" val="1540401530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C990420-24F6-465B-BE39-86515927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7F3B4-5D19-434C-A21A-0078EA7B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1C51BA-0F81-446F-8458-CB5D6923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52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B29A83-008B-455E-8F66-A842806C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 private leaderboard rewards useful participation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994600-F35E-42AA-BA7F-37F5BA2F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402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Design 08. Members opt into a savings circle and see a capped campaign with a clear end date.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D45036-0A15-40CB-B780-42F58338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0"/>
            <a:ext cx="14020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Assumption: the sample leaderboard carries no extra cash prize. Any funded milestone enters the acquisition budget.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EB899-B841-4A3A-9F26-2102E17A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proposed WOW design. All offers, people, balances and rates are illustrative. Brand examples imply no partnership.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16BDAB-7008-4430-BCB2-F6E26332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A. Private circle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4BC77B-9BF0-47E4-B822-69949CBF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3884A1-C95D-4404-AB2A-66EE1874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84A5FE-BD05-4A77-8707-280014A7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E5355E-A9C6-47BF-9F49-DEFA00CE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0EE15B-8E70-4466-9BA1-D4528151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219FDD-EE0E-4D0F-B160-71346821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B8FB0C-30DA-4CE0-BE38-BB638FE2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Neighborhood savers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F2BC97-8088-490E-92A5-A6167426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67125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Private circle. Nicknames only.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Ranking uses qualified actions.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FF583B-236E-426A-B991-45BB5814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24325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1  Maya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DCFB2B-5696-4F8C-B51D-B73D5D6C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12432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3 actions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CA1BD7-FAB8-4062-B959-B34816F0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91025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43C7DD-4A9C-4E3B-9065-D4430649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9925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2  Jordan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041778-E584-4AC1-90A2-6FEE11C2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47992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2 actions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84756C-68EB-4608-8031-F674AF2D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46625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0611E5-E11B-4F68-9382-F91A78DF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35525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3  You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9B255D-4C7B-4EB6-96D9-4A65E7A2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83552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1 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CAAE95-852D-4438-B7F5-007BD8F7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2225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D9221A-85AE-4F88-98A9-03006F5D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29225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Your progress: 1 of 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E54BBB-201C-49E2-811D-A7FE2797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14975"/>
            <a:ext cx="3105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C3E63A-87C6-4F6E-B6D9-7A5D9D96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14975"/>
            <a:ext cx="1024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3C5CE7-0CD4-4E34-A314-49ED54FC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76900"/>
            <a:ext cx="3105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No extra cash prize in this example.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1D75F4-5B2A-405D-8D8D-CB778FD5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34075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7FD13B-139F-42AC-B90D-F5266884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293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View qualifying actions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9B4440-532E-4C80-B170-D0D74416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72225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Hide ranking    Leave circle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3D80C1-4E35-4219-A1C0-B0E241BE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729DF7-C911-4A14-A640-FB3FD7E6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048E22-1877-4319-A424-D481FA4B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76653C-0274-43B2-A28F-C561E7A7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C809D1-9466-4F8B-8ECB-621EB963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000EEE-0720-4148-9E7A-45D73C78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Credit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F656EC-F306-441F-8C69-07BE8B7A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B. Milestone details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7F4E78-EC59-4817-87A0-3389CFBC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877E74F-CC6F-43DD-8B92-4386C97E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CCAC73C-FADD-404B-AE5A-B98E8E06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B416FA-55C3-4197-B442-673BB80E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06CCC21-DC97-401A-9266-91C073B7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BF01DE-6317-4496-A73E-5F608B01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2587C45-40A1-4F0E-BC76-94DA426C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Useful actions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FE388CA-A14A-4C25-97F3-2BEF7CFC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667125"/>
            <a:ext cx="3105150" cy="923925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2B3A618-C8C4-494F-BF88-BAE6FE61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62375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Understand your cashback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449D10E-6CA5-4AA8-9D2B-6AF1968D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48125"/>
            <a:ext cx="285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Read offer conditions and complete a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short comprehension check.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C8D2FD1-10EA-4201-A81F-8E545B0D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6482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666B41B-FA0B-49BD-AAE5-9374896B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676775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3CEC9CA-05F3-41C3-88BA-954DE248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629150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Read the offer rules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9281B33-EAFD-4421-9FA1-D8D6F698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848225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Know what earns a reward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F5149C9-92DF-4FCA-89FC-061D8C2E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1530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90692D5-9CD9-4DDC-A813-827496E0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181600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0060ECB-A60C-486A-8A66-99B9B954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33975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Check your understanding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19FF896-2FE6-46D7-BFC2-22B16B6F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353050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No purchase required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2DCC7A3-BF73-4F5F-A77A-DB5A6C81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6578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3453B3B-6BCF-4EC1-BB36-2DF371A7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686425"/>
            <a:ext cx="161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F0D1A54-02E0-4210-A630-178764BA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638800"/>
            <a:ext cx="2743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Progress updates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A271857-60EB-4A5F-9F15-6EC6E3E5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857875"/>
            <a:ext cx="2743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Fixed rules through 31 Oct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4FBFEF7-7E3E-4735-BCB4-6E245655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181725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32716DC-AD75-4B95-A96E-4CBC5C0D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2769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Review the offer rules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2821F68-FBF9-4006-9E5D-206AA4A7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661987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Participation is optional.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984E2E0-168D-458A-B8BC-66F64D29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DB32345-C69A-447F-8C39-4A5D210E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1EE40BD-2BA1-473B-B83C-DECC744B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E81104B-9F84-4502-850A-2ACB0E6B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B5D3AC1-BB84-478D-81D4-B828682D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C59BB5B-CC12-4094-B330-F681AC3B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Credit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073824E-771F-454B-B56E-9C413B83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5336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A. Circle progress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A30A7F6-E283-4F9D-A6EE-F032C708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9337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Use chosen nicknames and qualified helpful actions. Hide balances, credit scores, income and purchase totals. Provide Leave circle on the same screen.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2AB26B3-CBF4-44D1-8CD9-EA81296C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15290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B. Milestone explanation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430AA4D-F110-4E57-AEE4-1934348C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55295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Show the qualifying action, fixed reward pool and remaining funding. Closing a full campaign stops new entries without changing earned obligations.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2AA2E03-30F1-478A-BAFE-93A0BDB6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7721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Measurement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B1E3ACB-D0FB-44B2-BAF3-8BE0036A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61722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Run separately from the package experiment. Compare qualified retained use and cost per incremental member. Monitor spam and opt-outs.</a:t>
            </a:r>
          </a:p>
        </p:txBody>
      </p:sp>
    </p:spTree>
    <p:extLst>
      <p:ext uri="{BB962C8B-B14F-4D97-AF65-F5344CB8AC3E}">
        <p14:creationId xmlns:p14="http://schemas.microsoft.com/office/powerpoint/2010/main" val="484953304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3946598-1095-475A-B2DB-B9C0AABB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912FB0-2CBE-4699-8C64-A31B4EB3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EA7AD-A01E-4950-860F-CD3F3995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53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57FBA-15CF-470B-B9D0-E7EE1A7E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Credit consent leads directly to personalized loan routing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B2FECB-735D-4629-8BD1-55C97107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402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Design 09. A scoped bank connection builds the cash-flow profile used for lender matching and current price requests.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6F95D3-4DE4-47CA-820E-74812635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0"/>
            <a:ext cx="14020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Delivery pattern from my resume: deterministic eligibility, reliable API contracts, explainable assistance and an auditable human handoff.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8A396-EA9B-4DEB-A0F5-FE916CAF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proposed WOW design. All offers, people, balances and rates are illustrative. Brand examples imply no partnership.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E665A1-BB29-43CB-B1E0-DCD161D1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A. Cash-flow consent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89CFA8-88A8-4815-8453-7EC27089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17FF4D-592C-45A3-BF30-69753750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DBAFFC-B2B6-4828-A938-24BB4948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D7D090-7D23-4E49-B758-2BCC531B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98913B-FEA2-46DA-8FA6-F521B56E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6BD925-0335-432B-8DF1-6CF6893C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73C7B2-69CA-4D50-BC53-000111EB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Connect for better fit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7EE4D2-89A1-43C0-A594-4261CD1F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67125"/>
            <a:ext cx="3105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Use income, bills and spending data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to match participating lenders.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F16FFC-A911-4224-9704-FB592A84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31051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38EBBF-B089-477C-A886-1075E89F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6720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Profile-Based Loan Routing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70F178-7071-41C2-9274-B3F8DC46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529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Read-only account access.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No authority to move your money.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7105DE-A086-47BF-BC13-5CEA1E22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Review the data and sharing purpose.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Disconnect in Settings at any time.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4840DB-C158-4899-8C37-924ECACD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57A6DC-0260-4A11-B1DA-84A6FF0F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6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Continue with [Plaid logo]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B90F5B-7EE6-4315-B1EF-86D41534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29325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6AFE6F-07A9-401D-8C42-D47413C0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1245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See standard options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8AC712-1298-4E56-89C9-2BA2E2AE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6747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proposed WOW feature.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95F89A-07E9-4059-BFA5-21CF81D2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8C31C8-B23F-4BDC-AF77-AFB6C20E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6FD692-2E80-4497-9BDA-76568123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D2CF9F-3FAD-4D27-B5FA-9B16A098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73CF7B-C95C-4699-8325-A7C68322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Credit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1A2B14-4A81-422B-BD00-0F481167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36929D-ED1C-4A66-84AF-6F20FB08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57425"/>
            <a:ext cx="3476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B. Lender-priced option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7F22EB-ECC0-45B0-A3E6-08DC2CA5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52700"/>
            <a:ext cx="3448050" cy="48577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2B36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E3F60B-C28E-4EB7-8974-EC980AE2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4795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9:41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32248F-A7F7-46AA-A13E-997A23A9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647950"/>
            <a:ext cx="7905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5G  100%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660B8C-21A8-4A53-94C4-7A4EF98B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76550"/>
            <a:ext cx="12858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4"/>
          </a:solidFill>
          <a:ln xmlns:a="http://schemas.openxmlformats.org/drawingml/2006/main" w="9525">
            <a:solidFill>
              <a:srgbClr val="B9C8CE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E304E8-E30C-4E58-9E63-C470AD85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914650"/>
            <a:ext cx="1133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[WOW logo]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9B2EEC-F11D-4E6D-84E3-8BFCC66D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146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Profile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4310E9-2F5F-4C6D-8F7E-A7E948D8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57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Your matched option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FBBE73E-C18A-47C2-A21E-EC38B848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667125"/>
            <a:ext cx="31051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9525">
            <a:solidFill>
              <a:srgbClr val="D7E4DE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E5BF3D-3885-4390-92B2-DF86968D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62375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Illustrative lender quote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24DC43-00FE-406A-869E-3D5ADD25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48125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$2,000 at 18% APR, 12 months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About $183.36/month, no fee.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0816F9-2F6C-4DFF-8D27-596DAF75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600575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Why matched: income cadence and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residual cash fit lender criteria.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EA7F26C-3863-4E61-834C-B14ED170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086350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Profile refreshed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6AAAAF-DC0A-4243-AF4C-8D5D4546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863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Today, 09:10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7B9CA2E-7E65-40AA-A676-636DDA3D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353050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F0B0EE-15E1-4ED2-92FC-363B4738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434013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Quote expires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FE99254-1CEB-4F7F-B6F7-4B680114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34013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Today, 18:00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21E44D3-A616-4272-9F72-5E105714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700713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4CC3A08-952D-414A-AA5C-E4FAC2C3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819775"/>
            <a:ext cx="3105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E5F0685-2498-45A4-A64A-F3C465EE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9150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Review lender terms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0C01D85-D6C9-4F43-8922-221FE705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6257925"/>
            <a:ext cx="3105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Subject to lender approval.</a:t>
            </a:r>
          </a:p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Compare total cost before applying.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96C1637-4AF9-4932-8FEB-36FA3A6F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702945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E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8E5F281-4226-4AC8-8763-BB2C74C8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Home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EFE07A7-AE89-4869-801E-4531BAAF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Wallet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9548739-F487-4400-B512-68E8AA9B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Refer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8475883-0FA9-442B-8DE1-9EDE9047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71532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Credit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794AC84-869E-4E31-A600-E6CF78DF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7381875"/>
            <a:ext cx="504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64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6790306-39AB-44DD-B51A-3631EF46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5336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A. Purpose-specific connection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0300CB1-0D07-48D4-9372-67A991F5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9337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member sees what data powers income, obligation and velocity analysis, which lender matching it enables, and how to disconnect.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7D793E0-BC19-4C88-B1DA-02FC1B04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15290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B. Profile-Based Loan Routing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DBED296-76B3-499F-8E4B-1DBBF797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55295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Show an illustrative lender quote with amount, APR, term and payment. Explain why the option matches and when the data and quote were refreshed.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19AEB9D-F138-46EB-B6F2-29F6A6A3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772150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Data and pricing controls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04D3A10-B33A-4722-909E-7DB66E6F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6172200"/>
            <a:ext cx="5876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Use lender-approved affordability rules and returned terms. A stale feed triggers refresh. Lenders own approval and pricing, with a clear application handoff.</a:t>
            </a:r>
          </a:p>
        </p:txBody>
      </p:sp>
    </p:spTree>
    <p:extLst>
      <p:ext uri="{BB962C8B-B14F-4D97-AF65-F5344CB8AC3E}">
        <p14:creationId xmlns:p14="http://schemas.microsoft.com/office/powerpoint/2010/main" val="1266629399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E5927E-DD45-42BF-9438-F5332881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0C0B6-8C2A-4FE6-8000-A762B363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216E2E-08CB-4864-93C8-E5DCF46F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54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DB0258-B501-45A7-B793-64630D4E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merchant console monitors pass-through funding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F122C1-4328-4F30-83CB-CE499080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402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Design 10. Partnerships and Finance monitor member rewards, cost recovery and merchant return across the first 50 brands.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1243F6-3532-4404-B183-679DE024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0"/>
            <a:ext cx="14020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Merchant ROI = (incremental customer contribution before acquisition − CPA spend) ÷ CPA spend, within a stated observation window.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8F5CF-A8FE-45EA-88DF-0BC75E4F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proposed WOW design. All offers, people, balances and rates are illustrative. Brand examples imply no partnership.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2AA002-B70C-4EA9-9B52-3307424B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8953500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BB8B91-5BF6-4510-BD55-29E9A823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895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B3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BDABA4-0D68-4198-A3C9-4D86BBE9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619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[MoneyLion logo]   Partner 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DAD0E3-7CEA-4139-B4CF-48060178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0510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Finance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142939-D833-4B69-80C5-FC21BA6F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48025"/>
            <a:ext cx="824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Assumption: CPA and reward operations, 24 Sep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201E8A-E3FA-472B-8E3B-DD59DD04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6175"/>
            <a:ext cx="19431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EA4A75-7F43-49D2-91ED-F8D0A8EE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Funded balance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C35BF4-6F92-4613-BF2B-29564A6E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086225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$42,000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F421FF-9DDB-4F8A-AF61-BA3118C6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686175"/>
            <a:ext cx="19431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CE8C74-2421-41BF-92FD-B777E311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80047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Payable rewards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EBF9BF-F2D6-46FD-9FCC-78D3F6E5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86225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$18,200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0070B8-F420-48BF-887B-6445A994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86175"/>
            <a:ext cx="19431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A33CC6-7429-4FF1-A5B0-403A7D5D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80047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Tracking matched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4C998C-D393-4249-AFFF-8D946E8C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086225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98.7%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69D646-AC41-48A1-8819-367A803F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686175"/>
            <a:ext cx="19431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5F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579698-F111-480F-8959-FC4A02DC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80047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Open claims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EE551B-75C2-4722-A9FB-3303B75B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86225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graphicFrame>
        <p:nvGraphicFramePr>
          <p:cNvPr id="58" name=""/>
          <p:cNvGraphicFramePr/>
          <p:nvPr/>
        </p:nvGraphicFramePr>
        <p:xfrm>
          <a:off xmlns:a="http://schemas.openxmlformats.org/drawingml/2006/main" x="838200" y="4791075"/>
          <a:ext xmlns:a="http://schemas.openxmlformats.org/drawingml/2006/main" cx="8572500" cy="1581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2143125"/>
                <a:gridCol w="1714500"/>
                <a:gridCol w="2190750"/>
              </a:tblGrid>
              <a:tr h="3524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Merchant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Bounty / reward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Cost cover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[Blueland logo]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$31 / $30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$1.00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Reconcile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[Allbirds logo]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$41 / $40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$1.00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Renew budget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[Bombas logo]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$18 / $17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$1.00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Budget low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22481-AB92-4731-BD3D-2A75055E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81775"/>
            <a:ext cx="8467725" cy="561975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1E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FEB370-50DD-4F4D-9948-F21F8501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05600"/>
            <a:ext cx="8201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943E2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943E23"/>
                </a:solidFill>
                <a:latin typeface="DejaVu Sans"/>
                <a:ea typeface="DejaVu Sans"/>
                <a:cs typeface="DejaVu Sans"/>
              </a:rPr>
              <a:t>Alert: unmatched approvals exceed 1%. Owner: Finance Ops. Reconcile before payout.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6612FB-B7E8-4595-8404-8E2ADEF7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62225"/>
            <a:ext cx="4638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Business monitoring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15E8C1-36DD-4504-9324-E38DD184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43225"/>
            <a:ext cx="46386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Track each bounty, reward and operating allowance. A shortfall blocks new activations while approved obligations remain payable.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804706-93BE-4579-A532-E01B595A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152900"/>
            <a:ext cx="4638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Partnership accountability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AADA31-B97E-4234-BEFF-E780F334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33900"/>
            <a:ext cx="46386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Track merchant incremental CAC, repeat supply and budget renewal. One successful welcome campaign cannot establish lasting supply.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049D28-6304-4BD2-BC2D-03D30D67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743575"/>
            <a:ext cx="4638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Access and controls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D2D425-B971-4512-9CA1-7D2E31E1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124575"/>
            <a:ext cx="46386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Version terms and require dual approval for financial changes. Reconcile reward liabilities daily and keep partner-level pause controls.</a:t>
            </a:r>
          </a:p>
        </p:txBody>
      </p:sp>
    </p:spTree>
    <p:extLst>
      <p:ext uri="{BB962C8B-B14F-4D97-AF65-F5344CB8AC3E}">
        <p14:creationId xmlns:p14="http://schemas.microsoft.com/office/powerpoint/2010/main" val="1295172148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F9F1E9-6F80-4337-8DFB-31AEC778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67E6AA-2B78-4D2D-8474-C02A88AE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2F7C8-2417-4F42-BBEA-39457201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55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966C7C-FD77-4D09-B45E-E02FAEE1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Market readiness requires useful credit and funded shopping 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8D1A35-CFCE-476F-8DB7-696C6346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begin with existing MoneyLion audiences and partner coverage that can support the full proposition.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294676-BDB8-46BD-B60F-C3F6CBC9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Positioning: merchant-funded cashback plus cash-flow-aware credit utility. Borrowing remains optional and never qualifies a shopping reward.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0CF750-A976-415A-B5D7-4EC04631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12813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429250"/>
                <a:gridCol w="5305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Readiness question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Launch evidence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9353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Will users grant useful consent?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Explain data purposes, lender matching and revocation in persona interviews and task tests.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Comprehension and completed usable profiles, without forcing data permission to browse offers.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Do members need the offers?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Match planned categories to eligible live merchants and compare total prices.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Enough distinct relevant offers for two legitimate D2C transactions within 90 days.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 merchants fund the rate?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Sign CPA, attribution, return and funding terms with real design partners.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Funded 50% offers, verified customer eligibility and a credible next-cycle supply pipeline.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 lending partners deliver?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Validate quote APIs, credit-data usage, risk ownership and outcome sharing.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Suitable lender responses, reason codes and benchmarked credit outcomes.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 the fee waiver hold?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Measure Turbo use, incremental cost and displaced revenue by segment.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Membership contribution covers the promised benefit under stress.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3734351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03D572-71F3-4BFD-82D9-CAA07674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4019F7-E85A-4924-87B9-7780011B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A9E940-BC3F-4172-836C-2582C965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56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7D6B86-EC29-47F3-A16C-4D839003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six-month roadmap follows utility, monetization and retention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F1FD3-D8FD-48B7-8FB0-124E2F64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existing platform services and partner contracts support this timetable. Lender feedback and supply readiness determine the release gates.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7AE0B0-3497-4DA2-BA04-D03EC8B8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Phase 3 earns retention through visible ROI and personalization. Daily visits are optional. Useful decisions and repeat value are the aim.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A3A707-A3B4-40A9-9B56-FD207D10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6858000"/>
                <a:gridCol w="516255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Month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Delivery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Release gate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Utility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Plaid consent, cash-flow features, card matching and lender quote contracts.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Data quality, explanations and lending-risk ownership.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Utility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Pilot loan routing and zero-fee Instacash. Integrate 10 D2C design partners.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Usable profiles, suitable quotes and waiver funding.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 CPA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Launch CPA marketplace, target 25 brands and start the cohort test by day 75.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Signed CPAs, funded rewards and correct settlement.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 CPA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 brands. Referral and gamification tests.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Coverage, returns and cost recovery.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 ROI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Launch WOW ROI Dashboard and second-bounty reminders. Prepare creator tests.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Visible fee coverage and protected experiment integrity.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 Expand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D90 matures near day 165. Review category and regional expansion.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BUR90 plus renewal, credit and contribution guardrails.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0981493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E46FBD-EBA5-452A-B63E-0661C8A7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D76EF-1F01-4523-8EAC-39565FAC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7C0F2C-408C-4450-B1C5-6CFCF24B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57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3A4991-ED9C-4FAD-9445-C44B08D8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Funding follows capability and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726B0A-FD2D-4ED4-BEAA-1093AC8D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12 core roles plus shared Risk/Finance support. Fully allocated steady run cost is $145k/month.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65F430-AEB6-486F-8976-334A9DF2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Assumption: shared underwriting expertise and platform reuse fit the $980k pilot envelope. Extra lender build costs trigger a revised funding decision.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F7237-B0AE-4E79-A3F8-CCC4F250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Assumption: illustrative USD planning model, not MoneyLion financial guidance. Calculations shown on slides 35-44.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7959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6477000"/>
                <a:gridCol w="4495800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Allocation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Responsibility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Funding or capacity assumption</a:t>
                      </a:r>
                    </a:p>
                  </a:txBody>
                  <a:tcPr marL="142875" marR="142875" marT="66675" marB="66675" anchor="ctr">
                    <a:solidFill>
                      <a:srgbClr val="132B36"/>
                    </a:solidFill>
                  </a:tcPr>
                </a:tc>
              </a:tr>
              <a:tr h="9353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Product delivery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PM, 1 designer, 4 engineers and 1 data specialist.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Build cash-flow profiles, lender APIs, reward ledger, consent and measurement.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9353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Commercial execution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 partnership specialists and 2 operations specialists.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Acquire 50-brand supply, manage lender relationships, reconcile rewards and renew commercial terms.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Shared control functions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Shared lender-model Risk, Security, Legal and Finance decision owners.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Included in the planning cost envelope. Validate actual availability.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Tranche 1: month 1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$160k for baseline, discovery and commercial validation.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Release first. Stop if relevant funded supply is not credible.</a:t>
                      </a:r>
                    </a:p>
                  </a:txBody>
                  <a:tcPr marL="142875" marR="142875" marT="66675" marB="66675" anchor="ctr">
                    <a:solidFill>
                      <a:srgbClr val="EAF5F0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Tranches 2 and 3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$320k for months 2-3, then $500k for months 4-6.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32B36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Total $980k: $870k run cost + $110k pilot/tooling contingency.</a:t>
                      </a:r>
                    </a:p>
                  </a:txBody>
                  <a:tcPr marL="142875" marR="142875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9779225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F56118-2F00-4D00-A19F-676271E6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D1FD85-60B9-4ED6-9006-829EA802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B3E63-6ADA-4D71-8FFE-EA7271A0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58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C0407-B917-4980-9C6F-8B0B49F4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Retargeting advances utility and the second bounty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2693A4-AD68-4B44-BFD0-D30DA934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Permissioned lifecycle messages respond to the member’s profile, shopping eligibility and reward state.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176409-1E54-4272-A030-4448C78C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Measure incremental BUR90 and renewal against a holdout. Suppress loan or shopping prompts when consent, suitability or support status makes them inappropriate.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BD7AAA-887A-40DE-A7D3-BBBAD160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B16D34-D656-4654-A166-3AA0740F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D3CE34-67D3-4F0B-916F-FCDB2728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71875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Member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713089-CA0A-4EE3-AB34-8D0FAEC7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52875"/>
            <a:ext cx="28003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Read profile, bounty, billing and consent events before each send.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249E87-68D8-4138-BF63-D7C296C3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47950"/>
            <a:ext cx="442912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036766-43B8-4A16-9EA6-1BD4B94C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90825"/>
            <a:ext cx="4086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Profile incomplete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3376CF-88CF-440B-A027-9102461D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71825"/>
            <a:ext cx="40862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In-app help repairs consent or missing data. Explain the utility first.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FDF4EB-3667-430B-A761-8ADF9EF2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647950"/>
            <a:ext cx="442912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0D0698-07D4-47D8-A0F9-056A6285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790825"/>
            <a:ext cx="4086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First bounty settled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C95449-CF95-4C09-B0BF-350D3864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171825"/>
            <a:ext cx="40862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Optional email or push for a different eligible brand in a needed category.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75F4F9-5961-4B28-BF32-E33F2507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10100"/>
            <a:ext cx="442912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B8356F-58D8-4A8C-9C06-8D9A798B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752975"/>
            <a:ext cx="4086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Pending reward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0D9E22-A9FB-4454-9645-6B54C9DD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133975"/>
            <a:ext cx="40862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In-app status, optional push for delays. Suppress purchase promotions.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E93AC2-ECCB-4254-A7F2-FC6B6723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610100"/>
            <a:ext cx="442912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D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5FFE4D-F08E-4D19-98D9-CFE22028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752975"/>
            <a:ext cx="4086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Before renewal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AF2DCB-CB2A-425B-84A5-5A398D6C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5133975"/>
            <a:ext cx="40862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ROI statement: bounty count, fee coverage, next charge and membership controls.</a:t>
            </a:r>
          </a:p>
        </p:txBody>
      </p:sp>
      <p:cxnSp>
        <p:nvCxnSpPr>
          <p:cNvPr id="52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3752850" y="3314700"/>
            <a:ext cx="1200150" cy="1019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53" name=""/>
          <p:cNvCxnSpPr>
            <a:stCxn xmlns:a="http://schemas.openxmlformats.org/drawingml/2006/main" id="8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752850" y="4333875"/>
            <a:ext cx="1200150" cy="942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54" name=""/>
          <p:cNvCxnSpPr>
            <a:stCxn xmlns:a="http://schemas.openxmlformats.org/drawingml/2006/main" id="8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3752850" y="3314700"/>
            <a:ext cx="6296025" cy="1019175"/>
          </a:xfrm>
          <a:prstGeom xmlns:a="http://schemas.openxmlformats.org/drawingml/2006/main" prst="bentConnector3">
            <a:avLst>
              <a:gd name="adj1" fmla="val 96369"/>
            </a:avLst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cxnSp>
        <p:nvCxnSpPr>
          <p:cNvPr id="55" name=""/>
          <p:cNvCxnSpPr>
            <a:stCxn xmlns:a="http://schemas.openxmlformats.org/drawingml/2006/main" id="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3752850" y="4333875"/>
            <a:ext cx="6296025" cy="942975"/>
          </a:xfrm>
          <a:prstGeom xmlns:a="http://schemas.openxmlformats.org/drawingml/2006/main" prst="bentConnector3">
            <a:avLst>
              <a:gd name="adj1" fmla="val 96369"/>
            </a:avLst>
          </a:prstGeom>
          <a:ln xmlns:a="http://schemas.openxmlformats.org/drawingml/2006/main" w="28575">
            <a:solidFill>
              <a:srgbClr val="007B64"/>
            </a:solidFill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495B30-FD1C-4BCE-8A04-381A8BAA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4020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Route to the applicable message for the member’s current state. Re-check consent before sending.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7860F7-BFE4-4CB3-9BF8-3117CD81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43700"/>
            <a:ext cx="138684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B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BE4ACA-5A12-4059-B5FD-A6EC49F0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829425"/>
            <a:ext cx="1354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43E2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943E23"/>
                </a:solidFill>
                <a:latin typeface="DejaVu Sans"/>
                <a:ea typeface="DejaVu Sans"/>
                <a:cs typeface="DejaVu Sans"/>
              </a:rPr>
              <a:t>Global suppression: opt-out, complaint or weak fit. Assumption: at most two promotional contacts weekly.</a:t>
            </a:r>
          </a:p>
        </p:txBody>
      </p:sp>
    </p:spTree>
    <p:extLst>
      <p:ext uri="{BB962C8B-B14F-4D97-AF65-F5344CB8AC3E}">
        <p14:creationId xmlns:p14="http://schemas.microsoft.com/office/powerpoint/2010/main" val="1437136114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4DE48B-5739-4115-98EF-9EF99A18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1"/>
          </a:solidFill>
          <a:ln xmlns:a="http://schemas.openxmlformats.org/drawingml/2006/main" w="9525">
            <a:solidFill>
              <a:srgbClr val="AEBEB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1B368-8ACF-49B7-8F7D-F416A76D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985176-3A5F-474E-BE63-1F911034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59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8A04D-A336-4A3C-8354-981ECA05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5,000-signup spike gives way to a utilization diagnosis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BF8E09-28B9-480D-B42F-2AC05C19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Case fact: 5,000 launch-week signups, followed by volatile weeks. Assumption: the cohort sizes and utilization curves below are illustrative.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0E71E-12A2-4397-A9D8-2195EDC7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Signups measure acquisition. Bounty Utilization Rate measures repeated realization of the core commerce promise.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FCA3F7-FBFD-4C50-A7E8-E839281F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36773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 Chart data are assumptions, not observed MoneyLion results.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09600" y="2724150"/>
          <a:ext xmlns:a="http://schemas.openxmlformats.org/drawingml/2006/main" cx="7143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5343e0a3eab438e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7B1DA7-C66D-4A76-878B-5BD0FFEB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Compare mature cohorts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1FD1D6-1D0F-41BD-B285-2B3BF68E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65341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If 5,000 signups become paid starts, 25% BUR90 means 1,250 members execute two settled transactions. A later 3,000-start cohort at 60% produces 1,800.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FCB4DB-5EF7-4B31-BB70-1CC2936F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910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Diagnose the mechanism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67BB75-8D62-4ED7-8624-91DC5EB6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52950"/>
            <a:ext cx="65341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Compare funded supply, profile activation, first-bounty approval and second-bounty completion at equal tenure. Separate channel mix from product effects.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FC7701-BB68-431E-BD8E-3D9E7F80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9595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B64"/>
                </a:solidFill>
                <a:latin typeface="DejaVu Sans"/>
                <a:ea typeface="DejaVu Sans"/>
                <a:cs typeface="DejaVu Sans"/>
              </a:rPr>
              <a:t>Read the full outcome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7A8E2A-1B92-478A-B03B-7FFF6D5C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57900"/>
            <a:ext cx="65341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32B36"/>
                </a:solidFill>
                <a:latin typeface="DejaVu Sans"/>
                <a:ea typeface="DejaVu Sans"/>
                <a:cs typeface="DejaVu Sans"/>
              </a:rPr>
              <a:t>The chart shows members with at least two settled transactions by each checkpoint. Track fee coverage, renewal and contribution to test whether use becomes a durable business.</a:t>
            </a:r>
          </a:p>
        </p:txBody>
      </p:sp>
    </p:spTree>
    <p:extLst>
      <p:ext uri="{BB962C8B-B14F-4D97-AF65-F5344CB8AC3E}">
        <p14:creationId xmlns:p14="http://schemas.microsoft.com/office/powerpoint/2010/main" val="33706329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101D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E8924-261E-499A-87A6-1DAC0B9F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362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7"/>
          </a:solidFill>
          <a:ln xmlns:a="http://schemas.openxmlformats.org/drawingml/2006/main" w="9525">
            <a:solidFill>
              <a:srgbClr val="4C746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7FE434-0602-40EB-B7CA-8803924E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3D7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C3D7D0"/>
                </a:solidFill>
                <a:latin typeface="DejaVu Sans"/>
                <a:ea typeface="DejaVu Sans"/>
                <a:cs typeface="DejaVu Sans"/>
              </a:rPr>
              <a:t>[MoneyLion WOW logo]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21D108-B283-491F-A564-1FA93589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2857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C0B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8C0BA"/>
                </a:solidFill>
                <a:latin typeface="DejaVu Sans"/>
                <a:ea typeface="DejaVu Sans"/>
                <a:cs typeface="DejaVu Sans"/>
              </a:rPr>
              <a:t>60 /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12600-60BE-470B-98D4-A523F224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402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Bounty Utilization Rate leads the scale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D2FEB5-D2B6-429F-AB3A-5AFAF5B8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4020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3D7D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C3D7D0"/>
                </a:solidFill>
                <a:latin typeface="DejaVu Sans"/>
                <a:ea typeface="DejaVu Sans"/>
                <a:cs typeface="DejaVu Sans"/>
              </a:rPr>
              <a:t>The primary scale criterion is the share of a WOW cohort that executes at least two qualifying D2C Mega-Cashback transactions within 90 days.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FF69C-D454-4112-8679-7BA6AD67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48525"/>
            <a:ext cx="14020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E59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E59E"/>
                </a:solidFill>
                <a:latin typeface="DejaVu Sans"/>
                <a:ea typeface="DejaVu Sans"/>
                <a:cs typeface="DejaVu Sans"/>
              </a:rPr>
              <a:t>Leadership ask: fund Phase 1 utility, secure lender participation and the first 10 CPA partners, then scale toward 50 brands on measured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35CECA-E1A8-4087-B7D3-877FC82B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402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8C0B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8C0BA"/>
                </a:solidFill>
                <a:latin typeface="DejaVu Sans"/>
                <a:ea typeface="DejaVu Sans"/>
                <a:cs typeface="DejaVu Sans"/>
              </a:rPr>
              <a:t>Proposal by Priyam Sameer. Assumption: targets, commercial terms and sample values require pilot validation. WOW price held at $9.99/month.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4020800" cy="437959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5429250"/>
                <a:gridCol w="5305425"/>
              </a:tblGrid>
              <a:tr h="4572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Decision evidence</a:t>
                      </a:r>
                    </a:p>
                  </a:txBody>
                  <a:tcPr marL="142875" marR="142875" marT="66675" marB="66675" anchor="ctr">
                    <a:solidFill>
                      <a:srgbClr val="17453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Proposed threshold</a:t>
                      </a:r>
                    </a:p>
                  </a:txBody>
                  <a:tcPr marL="142875" marR="142875" marT="66675" marB="66675" anchor="ctr">
                    <a:solidFill>
                      <a:srgbClr val="17453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How leadership interprets it</a:t>
                      </a:r>
                    </a:p>
                  </a:txBody>
                  <a:tcPr marL="142875" marR="142875" marT="66675" marB="66675" anchor="ctr">
                    <a:solidFill>
                      <a:srgbClr val="174539"/>
                    </a:solidFill>
                  </a:tcPr>
                </a:tc>
              </a:tr>
              <a:tr h="9353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Primary: BUR90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Assumption: ≥60% of mature paid starts, with ≥10-point lift versus generic ranking of the same catalog.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Two distinct qualifying orders bought and settled by D90. Include canceled members in the cohort.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Fee coverage and renewal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Monitor settled bounty dollars ÷ fees, D90 paid renewal and the next 90-day cycle.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Utilization earns confidence when members recover fees and choose to stay.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Supply and economics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Funded next-cycle offers, positive $3.90 base contribution and CAC ≤$15 planning target.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Validate actual costs, merchant incrementality and observed acquisition payback.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68389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Credit and personalization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Improved suitable matches with stable or better risk at comparable approval rates.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 loan-vintage outcomes, model calibration, fair-lending review and ranking holdouts.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  <a:tr h="93535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Release decision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Pass: expand the segment. Utilization weak: repair fit. Economics weak: repair funding.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If the mechanism still fails after a bounded retest, stop acquisition and honor earned obligations.</a:t>
                      </a:r>
                    </a:p>
                  </a:txBody>
                  <a:tcPr marL="142875" marR="142875" marT="66675" marB="66675" anchor="ctr">
                    <a:solidFill>
                      <a:srgbClr val="101D2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39792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2026-09-24T04:35:43.8170000Z</dcterms:created>
  <dcterms:modified xsi:type="dcterms:W3CDTF">2026-09-24T04:35:43.8170000Z</dcterms:modified>
</coreProperties>
</file>