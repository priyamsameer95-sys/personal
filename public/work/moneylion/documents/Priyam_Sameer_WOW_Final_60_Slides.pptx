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charts/chart1.xml" ContentType="application/vnd.openxmlformats-officedocument.drawingml.chart+xml"/>
  <Override PartName="/ppt/slides/slide60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d3613bf3e2d40ad"/><Relationship Type="http://schemas.openxmlformats.org/officeDocument/2006/relationships/extended-properties" Target="/docProps/app.xml" Id="Racf0b7e230df421e"/><Relationship Type="http://schemas.openxmlformats.org/officeDocument/2006/relationships/officeDocument" Target="/ppt/presentation.xml" Id="R169ee3bcc79c4fd9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8ef0a1d5374efb"/>
  </p:sldMasterIdLst>
  <p:sldIdLst>
    <p:sldId xmlns:r="http://schemas.openxmlformats.org/officeDocument/2006/relationships" id="256" r:id="R7523f80860bb4c4b"/>
    <p:sldId xmlns:r="http://schemas.openxmlformats.org/officeDocument/2006/relationships" id="257" r:id="Rbc03550803d44f8f"/>
    <p:sldId xmlns:r="http://schemas.openxmlformats.org/officeDocument/2006/relationships" id="258" r:id="R66128c003ccc4bfe"/>
    <p:sldId xmlns:r="http://schemas.openxmlformats.org/officeDocument/2006/relationships" id="259" r:id="Rb6703848675544e4"/>
    <p:sldId xmlns:r="http://schemas.openxmlformats.org/officeDocument/2006/relationships" id="260" r:id="Rdc138a0bb4f94de2"/>
    <p:sldId xmlns:r="http://schemas.openxmlformats.org/officeDocument/2006/relationships" id="261" r:id="R904523e0837e4c91"/>
    <p:sldId xmlns:r="http://schemas.openxmlformats.org/officeDocument/2006/relationships" id="262" r:id="R44df72d417614a4f"/>
    <p:sldId xmlns:r="http://schemas.openxmlformats.org/officeDocument/2006/relationships" id="263" r:id="Reef037e4d2e04b90"/>
    <p:sldId xmlns:r="http://schemas.openxmlformats.org/officeDocument/2006/relationships" id="264" r:id="R1b89a834e51b45c8"/>
    <p:sldId xmlns:r="http://schemas.openxmlformats.org/officeDocument/2006/relationships" id="265" r:id="R4e158467f8f04e6c"/>
    <p:sldId xmlns:r="http://schemas.openxmlformats.org/officeDocument/2006/relationships" id="266" r:id="R102b690129454997"/>
    <p:sldId xmlns:r="http://schemas.openxmlformats.org/officeDocument/2006/relationships" id="267" r:id="Rf4e39f90a6184af9"/>
    <p:sldId xmlns:r="http://schemas.openxmlformats.org/officeDocument/2006/relationships" id="268" r:id="R3d3415b99f9d4dfc"/>
    <p:sldId xmlns:r="http://schemas.openxmlformats.org/officeDocument/2006/relationships" id="269" r:id="R67875fa9073d49c1"/>
    <p:sldId xmlns:r="http://schemas.openxmlformats.org/officeDocument/2006/relationships" id="270" r:id="Rd45eb82de1f340f8"/>
    <p:sldId xmlns:r="http://schemas.openxmlformats.org/officeDocument/2006/relationships" id="271" r:id="R8fe2bacb27704b93"/>
    <p:sldId xmlns:r="http://schemas.openxmlformats.org/officeDocument/2006/relationships" id="272" r:id="Rcc873c8462b0419a"/>
    <p:sldId xmlns:r="http://schemas.openxmlformats.org/officeDocument/2006/relationships" id="273" r:id="R0c54518270be46cb"/>
    <p:sldId xmlns:r="http://schemas.openxmlformats.org/officeDocument/2006/relationships" id="274" r:id="Rcb2764701afc444b"/>
    <p:sldId xmlns:r="http://schemas.openxmlformats.org/officeDocument/2006/relationships" id="275" r:id="Rf480243d7e3a4b89"/>
    <p:sldId xmlns:r="http://schemas.openxmlformats.org/officeDocument/2006/relationships" id="276" r:id="R3130914fc3d240b3"/>
    <p:sldId xmlns:r="http://schemas.openxmlformats.org/officeDocument/2006/relationships" id="277" r:id="R461eaea0f7134fc5"/>
    <p:sldId xmlns:r="http://schemas.openxmlformats.org/officeDocument/2006/relationships" id="278" r:id="Ra8972deba2bf415a"/>
    <p:sldId xmlns:r="http://schemas.openxmlformats.org/officeDocument/2006/relationships" id="279" r:id="R4fbfc8bc132e459b"/>
    <p:sldId xmlns:r="http://schemas.openxmlformats.org/officeDocument/2006/relationships" id="280" r:id="R723a8df8fd1a4c6b"/>
    <p:sldId xmlns:r="http://schemas.openxmlformats.org/officeDocument/2006/relationships" id="281" r:id="R714e0f3aa0084d13"/>
    <p:sldId xmlns:r="http://schemas.openxmlformats.org/officeDocument/2006/relationships" id="282" r:id="R252022fa38514474"/>
    <p:sldId xmlns:r="http://schemas.openxmlformats.org/officeDocument/2006/relationships" id="283" r:id="R5d5ebd1620564c8f"/>
    <p:sldId xmlns:r="http://schemas.openxmlformats.org/officeDocument/2006/relationships" id="284" r:id="Rbe1e66e287264a91"/>
    <p:sldId xmlns:r="http://schemas.openxmlformats.org/officeDocument/2006/relationships" id="285" r:id="Rc332392d0eb04863"/>
    <p:sldId xmlns:r="http://schemas.openxmlformats.org/officeDocument/2006/relationships" id="286" r:id="Ra4c765911eeb404d"/>
    <p:sldId xmlns:r="http://schemas.openxmlformats.org/officeDocument/2006/relationships" id="287" r:id="Rd5aa5217294e49c4"/>
    <p:sldId xmlns:r="http://schemas.openxmlformats.org/officeDocument/2006/relationships" id="288" r:id="Rcb2616e9009b4cbe"/>
    <p:sldId xmlns:r="http://schemas.openxmlformats.org/officeDocument/2006/relationships" id="289" r:id="R39ce87c06e094a5f"/>
    <p:sldId xmlns:r="http://schemas.openxmlformats.org/officeDocument/2006/relationships" id="290" r:id="Rc0247c6aaacf4164"/>
    <p:sldId xmlns:r="http://schemas.openxmlformats.org/officeDocument/2006/relationships" id="291" r:id="Rd06d3a72a41c429d"/>
    <p:sldId xmlns:r="http://schemas.openxmlformats.org/officeDocument/2006/relationships" id="292" r:id="R7c3418cb894549e1"/>
    <p:sldId xmlns:r="http://schemas.openxmlformats.org/officeDocument/2006/relationships" id="293" r:id="Rd277898c92574e84"/>
    <p:sldId xmlns:r="http://schemas.openxmlformats.org/officeDocument/2006/relationships" id="294" r:id="R73bf75c5655b4c5e"/>
    <p:sldId xmlns:r="http://schemas.openxmlformats.org/officeDocument/2006/relationships" id="295" r:id="Racc0c31ba1574730"/>
    <p:sldId xmlns:r="http://schemas.openxmlformats.org/officeDocument/2006/relationships" id="296" r:id="R613e1b36a55149b7"/>
    <p:sldId xmlns:r="http://schemas.openxmlformats.org/officeDocument/2006/relationships" id="297" r:id="Rc3d7fbe0599e471a"/>
    <p:sldId xmlns:r="http://schemas.openxmlformats.org/officeDocument/2006/relationships" id="298" r:id="Ra5de04e30ef24239"/>
    <p:sldId xmlns:r="http://schemas.openxmlformats.org/officeDocument/2006/relationships" id="299" r:id="Rcf7c20d625684636"/>
    <p:sldId xmlns:r="http://schemas.openxmlformats.org/officeDocument/2006/relationships" id="300" r:id="Radb5e554b66c47aa"/>
    <p:sldId xmlns:r="http://schemas.openxmlformats.org/officeDocument/2006/relationships" id="301" r:id="Rb5c1be928ce64758"/>
    <p:sldId xmlns:r="http://schemas.openxmlformats.org/officeDocument/2006/relationships" id="302" r:id="Rd5865ab1e2f84e43"/>
    <p:sldId xmlns:r="http://schemas.openxmlformats.org/officeDocument/2006/relationships" id="303" r:id="R6d0126fcd3514034"/>
    <p:sldId xmlns:r="http://schemas.openxmlformats.org/officeDocument/2006/relationships" id="304" r:id="R7fdfdab0dca0427b"/>
    <p:sldId xmlns:r="http://schemas.openxmlformats.org/officeDocument/2006/relationships" id="305" r:id="Raf5f527875df42f4"/>
    <p:sldId xmlns:r="http://schemas.openxmlformats.org/officeDocument/2006/relationships" id="306" r:id="R3ac7202689a44b40"/>
    <p:sldId xmlns:r="http://schemas.openxmlformats.org/officeDocument/2006/relationships" id="307" r:id="Ra56bf6529a134c03"/>
    <p:sldId xmlns:r="http://schemas.openxmlformats.org/officeDocument/2006/relationships" id="308" r:id="Racc9042661d14568"/>
    <p:sldId xmlns:r="http://schemas.openxmlformats.org/officeDocument/2006/relationships" id="309" r:id="R52e0b65d3bbf4ff9"/>
    <p:sldId xmlns:r="http://schemas.openxmlformats.org/officeDocument/2006/relationships" id="310" r:id="R437f4566cfb14882"/>
    <p:sldId xmlns:r="http://schemas.openxmlformats.org/officeDocument/2006/relationships" id="311" r:id="R373675387104475e"/>
    <p:sldId xmlns:r="http://schemas.openxmlformats.org/officeDocument/2006/relationships" id="312" r:id="R3a1659f46a9b45bb"/>
    <p:sldId xmlns:r="http://schemas.openxmlformats.org/officeDocument/2006/relationships" id="313" r:id="Re36527d3a40c4b26"/>
    <p:sldId xmlns:r="http://schemas.openxmlformats.org/officeDocument/2006/relationships" id="314" r:id="Rb411769a746144cc"/>
    <p:sldId xmlns:r="http://schemas.openxmlformats.org/officeDocument/2006/relationships" id="315" r:id="R1afb5c1253014a9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5b39a0f627ca47a1"/><Relationship Type="http://schemas.openxmlformats.org/officeDocument/2006/relationships/slideMaster" Target="/ppt/slideMasters/slideMaster1.xml" Id="R798ef0a1d5374efb"/><Relationship Type="http://schemas.openxmlformats.org/officeDocument/2006/relationships/presProps" Target="/ppt/presProps.xml" Id="R13036c48eabb4a79"/><Relationship Type="http://schemas.openxmlformats.org/officeDocument/2006/relationships/tableStyles" Target="/ppt/tableStyles.xml" Id="Rf06dd219c04b49e8"/><Relationship Type="http://schemas.openxmlformats.org/officeDocument/2006/relationships/slide" Target="/ppt/slides/slide1.xml" Id="R7523f80860bb4c4b"/><Relationship Type="http://schemas.openxmlformats.org/officeDocument/2006/relationships/slide" Target="/ppt/slides/slide2.xml" Id="Rbc03550803d44f8f"/><Relationship Type="http://schemas.openxmlformats.org/officeDocument/2006/relationships/slide" Target="/ppt/slides/slide3.xml" Id="R66128c003ccc4bfe"/><Relationship Type="http://schemas.openxmlformats.org/officeDocument/2006/relationships/slide" Target="/ppt/slides/slide4.xml" Id="Rb6703848675544e4"/><Relationship Type="http://schemas.openxmlformats.org/officeDocument/2006/relationships/slide" Target="/ppt/slides/slide5.xml" Id="Rdc138a0bb4f94de2"/><Relationship Type="http://schemas.openxmlformats.org/officeDocument/2006/relationships/slide" Target="/ppt/slides/slide6.xml" Id="R904523e0837e4c91"/><Relationship Type="http://schemas.openxmlformats.org/officeDocument/2006/relationships/slide" Target="/ppt/slides/slide7.xml" Id="R44df72d417614a4f"/><Relationship Type="http://schemas.openxmlformats.org/officeDocument/2006/relationships/slide" Target="/ppt/slides/slide8.xml" Id="Reef037e4d2e04b90"/><Relationship Type="http://schemas.openxmlformats.org/officeDocument/2006/relationships/slide" Target="/ppt/slides/slide9.xml" Id="R1b89a834e51b45c8"/><Relationship Type="http://schemas.openxmlformats.org/officeDocument/2006/relationships/slide" Target="/ppt/slides/slide10.xml" Id="R4e158467f8f04e6c"/><Relationship Type="http://schemas.openxmlformats.org/officeDocument/2006/relationships/slide" Target="/ppt/slides/slide11.xml" Id="R102b690129454997"/><Relationship Type="http://schemas.openxmlformats.org/officeDocument/2006/relationships/slide" Target="/ppt/slides/slide12.xml" Id="Rf4e39f90a6184af9"/><Relationship Type="http://schemas.openxmlformats.org/officeDocument/2006/relationships/slide" Target="/ppt/slides/slide13.xml" Id="R3d3415b99f9d4dfc"/><Relationship Type="http://schemas.openxmlformats.org/officeDocument/2006/relationships/slide" Target="/ppt/slides/slide14.xml" Id="R67875fa9073d49c1"/><Relationship Type="http://schemas.openxmlformats.org/officeDocument/2006/relationships/slide" Target="/ppt/slides/slide15.xml" Id="Rd45eb82de1f340f8"/><Relationship Type="http://schemas.openxmlformats.org/officeDocument/2006/relationships/slide" Target="/ppt/slides/slide16.xml" Id="R8fe2bacb27704b93"/><Relationship Type="http://schemas.openxmlformats.org/officeDocument/2006/relationships/slide" Target="/ppt/slides/slide17.xml" Id="Rcc873c8462b0419a"/><Relationship Type="http://schemas.openxmlformats.org/officeDocument/2006/relationships/slide" Target="/ppt/slides/slide18.xml" Id="R0c54518270be46cb"/><Relationship Type="http://schemas.openxmlformats.org/officeDocument/2006/relationships/slide" Target="/ppt/slides/slide19.xml" Id="Rcb2764701afc444b"/><Relationship Type="http://schemas.openxmlformats.org/officeDocument/2006/relationships/slide" Target="/ppt/slides/slide20.xml" Id="Rf480243d7e3a4b89"/><Relationship Type="http://schemas.openxmlformats.org/officeDocument/2006/relationships/slide" Target="/ppt/slides/slide21.xml" Id="R3130914fc3d240b3"/><Relationship Type="http://schemas.openxmlformats.org/officeDocument/2006/relationships/slide" Target="/ppt/slides/slide22.xml" Id="R461eaea0f7134fc5"/><Relationship Type="http://schemas.openxmlformats.org/officeDocument/2006/relationships/slide" Target="/ppt/slides/slide23.xml" Id="Ra8972deba2bf415a"/><Relationship Type="http://schemas.openxmlformats.org/officeDocument/2006/relationships/slide" Target="/ppt/slides/slide24.xml" Id="R4fbfc8bc132e459b"/><Relationship Type="http://schemas.openxmlformats.org/officeDocument/2006/relationships/slide" Target="/ppt/slides/slide25.xml" Id="R723a8df8fd1a4c6b"/><Relationship Type="http://schemas.openxmlformats.org/officeDocument/2006/relationships/slide" Target="/ppt/slides/slide26.xml" Id="R714e0f3aa0084d13"/><Relationship Type="http://schemas.openxmlformats.org/officeDocument/2006/relationships/slide" Target="/ppt/slides/slide27.xml" Id="R252022fa38514474"/><Relationship Type="http://schemas.openxmlformats.org/officeDocument/2006/relationships/slide" Target="/ppt/slides/slide28.xml" Id="R5d5ebd1620564c8f"/><Relationship Type="http://schemas.openxmlformats.org/officeDocument/2006/relationships/slide" Target="/ppt/slides/slide29.xml" Id="Rbe1e66e287264a91"/><Relationship Type="http://schemas.openxmlformats.org/officeDocument/2006/relationships/slide" Target="/ppt/slides/slide30.xml" Id="Rc332392d0eb04863"/><Relationship Type="http://schemas.openxmlformats.org/officeDocument/2006/relationships/slide" Target="/ppt/slides/slide31.xml" Id="Ra4c765911eeb404d"/><Relationship Type="http://schemas.openxmlformats.org/officeDocument/2006/relationships/slide" Target="/ppt/slides/slide32.xml" Id="Rd5aa5217294e49c4"/><Relationship Type="http://schemas.openxmlformats.org/officeDocument/2006/relationships/slide" Target="/ppt/slides/slide33.xml" Id="Rcb2616e9009b4cbe"/><Relationship Type="http://schemas.openxmlformats.org/officeDocument/2006/relationships/slide" Target="/ppt/slides/slide34.xml" Id="R39ce87c06e094a5f"/><Relationship Type="http://schemas.openxmlformats.org/officeDocument/2006/relationships/slide" Target="/ppt/slides/slide35.xml" Id="Rc0247c6aaacf4164"/><Relationship Type="http://schemas.openxmlformats.org/officeDocument/2006/relationships/slide" Target="/ppt/slides/slide36.xml" Id="Rd06d3a72a41c429d"/><Relationship Type="http://schemas.openxmlformats.org/officeDocument/2006/relationships/slide" Target="/ppt/slides/slide37.xml" Id="R7c3418cb894549e1"/><Relationship Type="http://schemas.openxmlformats.org/officeDocument/2006/relationships/slide" Target="/ppt/slides/slide38.xml" Id="Rd277898c92574e84"/><Relationship Type="http://schemas.openxmlformats.org/officeDocument/2006/relationships/slide" Target="/ppt/slides/slide39.xml" Id="R73bf75c5655b4c5e"/><Relationship Type="http://schemas.openxmlformats.org/officeDocument/2006/relationships/slide" Target="/ppt/slides/slide40.xml" Id="Racc0c31ba1574730"/><Relationship Type="http://schemas.openxmlformats.org/officeDocument/2006/relationships/slide" Target="/ppt/slides/slide41.xml" Id="R613e1b36a55149b7"/><Relationship Type="http://schemas.openxmlformats.org/officeDocument/2006/relationships/slide" Target="/ppt/slides/slide42.xml" Id="Rc3d7fbe0599e471a"/><Relationship Type="http://schemas.openxmlformats.org/officeDocument/2006/relationships/slide" Target="/ppt/slides/slide43.xml" Id="Ra5de04e30ef24239"/><Relationship Type="http://schemas.openxmlformats.org/officeDocument/2006/relationships/slide" Target="/ppt/slides/slide44.xml" Id="Rcf7c20d625684636"/><Relationship Type="http://schemas.openxmlformats.org/officeDocument/2006/relationships/slide" Target="/ppt/slides/slide45.xml" Id="Radb5e554b66c47aa"/><Relationship Type="http://schemas.openxmlformats.org/officeDocument/2006/relationships/slide" Target="/ppt/slides/slide46.xml" Id="Rb5c1be928ce64758"/><Relationship Type="http://schemas.openxmlformats.org/officeDocument/2006/relationships/slide" Target="/ppt/slides/slide47.xml" Id="Rd5865ab1e2f84e43"/><Relationship Type="http://schemas.openxmlformats.org/officeDocument/2006/relationships/slide" Target="/ppt/slides/slide48.xml" Id="R6d0126fcd3514034"/><Relationship Type="http://schemas.openxmlformats.org/officeDocument/2006/relationships/slide" Target="/ppt/slides/slide49.xml" Id="R7fdfdab0dca0427b"/><Relationship Type="http://schemas.openxmlformats.org/officeDocument/2006/relationships/slide" Target="/ppt/slides/slide50.xml" Id="Raf5f527875df42f4"/><Relationship Type="http://schemas.openxmlformats.org/officeDocument/2006/relationships/slide" Target="/ppt/slides/slide51.xml" Id="R3ac7202689a44b40"/><Relationship Type="http://schemas.openxmlformats.org/officeDocument/2006/relationships/slide" Target="/ppt/slides/slide52.xml" Id="Ra56bf6529a134c03"/><Relationship Type="http://schemas.openxmlformats.org/officeDocument/2006/relationships/slide" Target="/ppt/slides/slide53.xml" Id="Racc9042661d14568"/><Relationship Type="http://schemas.openxmlformats.org/officeDocument/2006/relationships/slide" Target="/ppt/slides/slide54.xml" Id="R52e0b65d3bbf4ff9"/><Relationship Type="http://schemas.openxmlformats.org/officeDocument/2006/relationships/slide" Target="/ppt/slides/slide55.xml" Id="R437f4566cfb14882"/><Relationship Type="http://schemas.openxmlformats.org/officeDocument/2006/relationships/slide" Target="/ppt/slides/slide56.xml" Id="R373675387104475e"/><Relationship Type="http://schemas.openxmlformats.org/officeDocument/2006/relationships/slide" Target="/ppt/slides/slide57.xml" Id="R3a1659f46a9b45bb"/><Relationship Type="http://schemas.openxmlformats.org/officeDocument/2006/relationships/slide" Target="/ppt/slides/slide58.xml" Id="Re36527d3a40c4b26"/><Relationship Type="http://schemas.openxmlformats.org/officeDocument/2006/relationships/slide" Target="/ppt/slides/slide59.xml" Id="Rb411769a746144cc"/><Relationship Type="http://schemas.openxmlformats.org/officeDocument/2006/relationships/slide" Target="/ppt/slides/slide60.xml" Id="R1afb5c1253014a9a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0983bec11884a0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f21fff11260b4ec1"/><Relationship Type="http://schemas.openxmlformats.org/officeDocument/2006/relationships/slideLayout" Target="/ppt/slideLayouts/slideLayout1.xml" Id="R876952fb30ed41a6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952fb30ed41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a078cb44edb41ee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79ad26f67a84153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5b1a556fcce4600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da7e9e7f3934922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86574c764344dce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c0918d76f324f88"/><Relationship Type="http://schemas.openxmlformats.org/officeDocument/2006/relationships/hyperlink" Target="https://newsroom.transunion.com/k-shaped-q1-2026-ciir/" TargetMode="External" Id="R84b2434761fa4c05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6a7bab0a81a4ed9"/><Relationship Type="http://schemas.openxmlformats.org/officeDocument/2006/relationships/hyperlink" Target="https://moneylion.com/referrals-terms-and-conditions" TargetMode="External" Id="Reebf8e74a84f4c59"/><Relationship Type="http://schemas.openxmlformats.org/officeDocument/2006/relationships/hyperlink" Target="https://help.chime.com" TargetMode="External" Id="Rf98248f46c0641c9"/><Relationship Type="http://schemas.openxmlformats.org/officeDocument/2006/relationships/hyperlink" Target="https://rakuten.com/help" TargetMode="External" Id="Ra3d3a6a7f2b54fb6"/><Relationship Type="http://schemas.openxmlformats.org/officeDocument/2006/relationships/hyperlink" Target="https://help.ibotta.com" TargetMode="External" Id="R6714812e043a411f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fb58200b2f746fc"/><Relationship Type="http://schemas.openxmlformats.org/officeDocument/2006/relationships/hyperlink" Target="https://moneylion.com/cash-advance/instacash" TargetMode="External" Id="R5e77848a80e14e81"/><Relationship Type="http://schemas.openxmlformats.org/officeDocument/2006/relationships/hyperlink" Target="https://moneylion.com/membership" TargetMode="External" Id="R289eb4c0328e4bcb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241ea2c6e3d4d63"/><Relationship Type="http://schemas.openxmlformats.org/officeDocument/2006/relationships/hyperlink" Target="https://aboutamazon.com/news/retail/prime-membership-shopping-benefits" TargetMode="External" Id="R929ee4d5b14843d1"/><Relationship Type="http://schemas.openxmlformats.org/officeDocument/2006/relationships/hyperlink" Target="https://spotify.com/us/premium" TargetMode="External" Id="R0dea805d8e514b9e"/><Relationship Type="http://schemas.openxmlformats.org/officeDocument/2006/relationships/hyperlink" Target="https://costco.com/f/-/executive-rewards" TargetMode="External" Id="R5d5d03a50d6a49b6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37f4e800198427c"/><Relationship Type="http://schemas.openxmlformats.org/officeDocument/2006/relationships/hyperlink" Target="https://help.dropbox.com/storage-space/earn-space-referring-friends" TargetMode="External" Id="Rff0cf02b6ade4e05"/><Relationship Type="http://schemas.openxmlformats.org/officeDocument/2006/relationships/hyperlink" Target="https://help.chime.com" TargetMode="External" Id="R5a456dfdb4504bf0"/><Relationship Type="http://schemas.openxmlformats.org/officeDocument/2006/relationships/hyperlink" Target="https://rakuten.com/help/article/referafriend-program-faq-115009160427" TargetMode="External" Id="R0c2f13ca667d4b87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99ab93b309343b7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d8233fe0a3d4e72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4fa66bd292a4257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31cc17013a241dd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79960103073404b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98a2468183241aa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d66073ea9a14fc0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973a7732af74736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4d44960ceb54fe5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7602d444a454a4f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2a47a0e07d54939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428982d76da462e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1c58cc652444b14"/><Relationship Type="http://schemas.openxmlformats.org/officeDocument/2006/relationships/hyperlink" Target="https://consumerfinance.gov/rules-policy/regulations/1002/9" TargetMode="External" Id="R4baed90cb5014a32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2e331fee28b4e46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17a4880551443d5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edb931f7de54eb7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ecba7daf69d42e5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4d6bccfae214f76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18d9f7c1125436d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66272b65cb54fd5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ddb91f0aee547c0"/><Relationship Type="http://schemas.openxmlformats.org/officeDocument/2006/relationships/hyperlink" Target="https://plaid.com/docs/underwriting/" TargetMode="External" Id="Rf352cc609c7a47b3"/><Relationship Type="http://schemas.openxmlformats.org/officeDocument/2006/relationships/hyperlink" Target="https://plaid.com/docs/transactions/" TargetMode="External" Id="Rd5f49b1019d94629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1da63d896924688"/><Relationship Type="http://schemas.openxmlformats.org/officeDocument/2006/relationships/hyperlink" Target="https://plaid.com/docs/underwriting/" TargetMode="External" Id="R18b38b7e6e994615"/><Relationship Type="http://schemas.openxmlformats.org/officeDocument/2006/relationships/hyperlink" Target="https://plaid.com/docs/transactions/" TargetMode="External" Id="R73ec03f85b324986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9fc7ef688904340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f56cac4b1ce402e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b7e9edc346b429f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e73549035d04cba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eb0b26db58f47ad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f0f264a64354675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ee821239c294ecf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b89bcb8831c4109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fc918616e6a49b0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d9bcba2b53e400a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ec0193fcc15471e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54f3b4d6d344706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07aeb6d925144d4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237edc1e8d04e7b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0f4c0a4fec449f8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13fa3a6b5b04881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71b7f77d2a24b3a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04a831f41fc43ce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378acfdc1e64812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c5ed75f59b14f1e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98c861b3bc54fbc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5db873549bb44be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100e3f1c4e8452a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929b8b519ed4e76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6d86469ece14027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4cce5d8ff2b4b0b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9056157a61a45b3"/><Relationship Type="http://schemas.openxmlformats.org/officeDocument/2006/relationships/chart" Target="/ppt/slides/charts/chart1.xml" Id="R581b5e03e81c4b14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94fa3e6db2f462b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Launch cohort</c:v>
          </c:tx>
          <c:spPr>
            <a:ln xmlns:a="http://schemas.openxmlformats.org/drawingml/2006/main" w="38100">
              <a:solidFill>
                <a:srgbClr val="83939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83939B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</c:v>
                </c:pt>
                <c:pt idx="1">
                  <c:v>0.08</c:v>
                </c:pt>
                <c:pt idx="2">
                  <c:v>0.18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v>Later cohort</c:v>
          </c:tx>
          <c:spPr>
            <a:ln xmlns:a="http://schemas.openxmlformats.org/drawingml/2006/main" w="38100">
              <a:solidFill>
                <a:srgbClr val="8A4D0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8A4D08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</c:v>
                </c:pt>
                <c:pt idx="1">
                  <c:v>0.15</c:v>
                </c:pt>
                <c:pt idx="2">
                  <c:v>0.38</c:v>
                </c:pt>
                <c:pt idx="3">
                  <c:v>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4DE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C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32B36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C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7ADB0-1368-4C88-825E-D9023F3F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24D68-21B4-4670-A73C-3ED757C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STRATEGY &amp; MACRO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2C284-D5F9-4C16-9AF1-838719B9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BD805-E0E6-4BC8-8438-8AEBB70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60D4C-F0CE-407D-9C92-643D2EB1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A594C-FCD0-4854-B47F-84A46F57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MoneyLion WOW: macro arbitrage and risk 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FF4E6-298B-4797-B18F-DB81E48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Flagship membership strategy prepared by Priyam Sameer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775DE-E54D-4C72-BFA6-E608FB44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0FD99-7638-4D7F-AB62-BABCDAB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381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Merchant-funded value.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Personalized credit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994CB-3722-46A2-819B-42C94968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The offensive bet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487A6-87FD-463F-A057-9565653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Pass D2C acquisition budgets through to members as up to 50% cashback.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83221-C75F-4222-BD3A-867BC1DC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661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The defensive bet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51108-E7D8-4437-BF1C-68F9241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57900"/>
            <a:ext cx="661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cash-flow intelligence to route members to suitable lender-priced products.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D7191-6384-4491-A8B8-BB53A27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285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Priyam Sameer,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74678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C9F19-3DE3-4D92-B2FA-6594E936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0093F-90BA-465C-AFD8-4AE4CBB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STRATEGY &amp; MACRO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4EC5B-B9B7-45BF-B06B-7838A6E3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B0023-215F-4D12-8B7D-7C3BCF8D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34230-18FF-4F23-A63E-80BB7AF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02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18EB8-CF95-48AC-895C-0826A5F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executive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A97D5-B63E-42F0-9E76-B22B8B3F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WOW earns its $9.99 fee by converting merchant acquisition spend and permissioned cash-flow data into member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A1BC5-0702-45EC-9EA6-71561C3C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rPr>
              <a:t>Discussion: can Commercial fund the offers, Lending support the routing, and Finance support the fee waiver?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47F22-7F8B-477E-8AF4-AA7BCBA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728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commitment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deserves investment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1: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Underwriting and Profile-Based Loan Routing launch first.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Recent inflows, obligations and spending velocity improve the information available for matching.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2: monetization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D2C CPA pass-through funds up to 50% cashback on selected eligible purchases.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Merchants buy approved acquisition. Members receive the bounty after transaction costs.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Tier foundation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Zero-fee Instacash utility and a WOW ROI Dashboard support both bets.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Immediate utility and visible fee coverage give the member concrete reasons to renew.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decision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an assumed $160k first tranche. Test Bounty Utilization Rate before expansion.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two settled D2C transactions within 90 days, alongside economics and credit outcomes.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56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C4088-2D24-4EF8-BE71-386EF05C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E9AE5-44FA-4C5D-9E65-DCC0961E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STRATEGY &amp; MACRO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1C93C-7D49-4B35-9F25-424E5C06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F04AF-0FC1-4058-A4E5-7520D56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BE61E-FAFB-41AF-9A4F-7EEBED8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03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5AF25-F267-4D76-9C82-E899C35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strategy and reading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0DF23-AFA8-4241-A314-530CC1C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MoneyLion’s mission is to help Americans make their best money decisions through highly personalized, data-driven technology.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211E4-8A63-4548-B8D6-35678B3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rPr>
              <a:t>Each topic keeps the same header and color throughout. Read the full case or use the topic ranges to review a specific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8AF14-F002-4AAA-B4F1-C9DF342A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4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667000"/>
                <a:gridCol w="68770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Topic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to read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 answered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Strategy, competition and audit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1-14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does WOW need a stronger paid proposition?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strategy and execution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15-23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do the two core bets deliver member value?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Metrics and winning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16, 24-25, 33, 59-60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Does repeat utilization lead to a durable business?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Personas, flows and personalization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26-34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does permissioned context improve relevance?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Unit economics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 20, 35-44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 funds the reward, and can membership earn a return?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Design and go-to-market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45-58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will members see, and how do we launch?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96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FD7D1-C561-4715-B9E2-B9F4D9A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44858-E0D9-4192-B532-30A65CC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STRATEGY &amp; MACRO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95CC0-DF2D-47DE-B447-C947609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E120F-D55F-47B5-8C96-8421E22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4CF55-6C02-4A6D-80F0-D9B5AF62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A55C9-449B-4737-B826-84BA8145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WOW converts episodic transactions into recurring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3CD39-370D-4657-8DD1-47B0FD4C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Strategic proposal: transaction economics support acquisition and utility. The monthly membership becomes the core profit pool.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F37A1-2098-4A77-921C-6728171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rPr>
              <a:t>The model relies on repeat subscription demand. Raw checkout volume cannot rescue weak membership economics.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53A9E-2CEB-4E7F-846B-23230FFB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57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Revenue engine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 in the new proposition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consequence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Charge $9.99 each month for exclusive CPA offers, credit intelligence and fee relief.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comes from retained fees after processing, service costs and displaced income.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CPA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 only for contract-approved actions. Pass the bounty through after operating costs.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transaction contribution is $0. Merchant cash cannot also count as subscription revenue.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marketplace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cash-flow profiles to match and route to participating lenders.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Lender referral revenue is upside, excluded from the base model to avoid depending on borrowing.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Instacash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eligible WOW use fee-free, including Turbo delivery.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 incremental delivery cost and foregone fees explicitly. Advance eligibility remains risk based.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65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D3DDD-3606-4D74-A1D7-095F3E66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C72DC-092C-4D18-80FE-38F55ADA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STRATEGY &amp; MACRO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B4729-DDBD-41D4-90A8-05A9392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ADD54-0CCC-4DED-AD51-B52ED4F9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89E30-6B36-490D-A0D7-5C5157F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05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E79A3-FB60-4890-BC55-8F6EB9A4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subscription funds personalization and fee-free utility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028D0-047B-4566-8A43-451F0C1C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pass-through commitment gives membership a clear job: finance ongoing service while transferring acquisition value to members.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AB490-0310-4DB2-8C12-940AE5F5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rPr>
              <a:t>Assumption: fee-free utility and data costs fit the membership budget. The base case tests this directly on slides 35-44.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C8ED2-B322-4CD3-B040-15D11D3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57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Participant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changes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Reason to participate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Pays $9.99 for exclusive funded rewards and personalized credit utility.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a $30 reward on a needed purchase covers 3.00 monthly fees before other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D2C brand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Pays a contracted CPA after an approved eligible order.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Knows the action cost in advance and can compare incremental contribution with other channels.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Keeps membership contribution and recovers transaction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Retained members fund data, support and Instacash utility without needing a large order margin.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Durability requirement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 relevant offers and useful credit insights continue after the first purchase.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finite set of welcome bounties needs fresh merchants, repeat contracts and measured renewal.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09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E5E85-C230-44C4-964E-57C106A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4849B-C29D-4648-82E5-D9D0211C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STRATEGY &amp; MACRO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8CE27-F83E-424E-B6B4-B6EEEE8B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4E410-568D-4A62-A354-28719864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D549C-57A2-4BEE-8867-D60EEC10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06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85986-8031-469C-A08B-59B469A8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Household cash-flow pressure creates the 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8A564-9267-4AC1-B62D-C8018E6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Dated evidence supports a need for better affordability matching. It does not establish a universal default rate or uniform behavior by 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792-C6F7-4CFF-95C9-65BD8E44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43D63"/>
                </a:solidFill>
                <a:latin typeface="DejaVu Sans"/>
                <a:ea typeface="DejaVu Sans"/>
                <a:cs typeface="DejaVu Sans"/>
              </a:rPr>
              <a:t>Thesis: combine a better picture of affordability with a transfer of merchant acquisition spend to members.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7797B-1399-436D-9B1A-07358DE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4b2434761fa4c05"/>
              </a:rPr>
              <a:t>newsroom.transunion.com/k-shaped-q1-2026-ciir/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(30 April 2026). Market and user hypotheses beyond these figures are labelled assumptions.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57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Macro signal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or assumption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implication</a:t>
                      </a:r>
                    </a:p>
                  </a:txBody>
                  <a:tcPr marL="142875" marR="142875" marT="66675" marB="66675" anchor="ctr">
                    <a:solidFill>
                      <a:srgbClr val="243D63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Personal-loan risk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TransUnion Q1 2026: 3.98% borrower delinquency at 60+ days past due.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current capacity and obligations in matching. Delinquency is distinct from default or loss.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scale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TransUnion: $277bn in outstanding unsecured personal loans in Q1 2026.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large market supports the opportunity. The supplied $4.5bn alternative-lending figure remains unverified.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reality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some Gen Z and Millennial users prefer app-based help with uneven cash flow.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needs by income cadence and obligations. Age alone does not establish debt preference.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Advertising inefficiency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selected D2C partners can shift acquisition budget into a fixed approved-order bounty.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merchant CAC and incrementality individually. High ad spend alone cannot fund a 50% reward.</a:t>
                      </a:r>
                    </a:p>
                  </a:txBody>
                  <a:tcPr marL="142875" marR="142875" marT="66675" marB="66675" anchor="ctr">
                    <a:solidFill>
                      <a:srgbClr val="E9EE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308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B06B0-CB28-4D98-A098-FC34EDD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E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F234D-A477-4AED-803A-8EBFAE30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COMPETITION &amp;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EE015-7BD3-46B3-9D9F-84CFA070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43E9A-0C0B-4741-AF83-A87D5A5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96612-2650-4E75-8158-8809CC9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07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A08C-557C-4D3C-98C7-E58CD46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Competitors set the bar for free value and reward fulfillment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DBA69-283E-40A6-B6A3-FFEF4432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Comparison of public mechanics. No internal conversion, margin or retention benchmark is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E9890-2417-4194-ADAE-D9F4220D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rPr>
              <a:t>Current MoneyLion banking-referral rewards generally arrive within 14 days after qualification. A WOW referral launch needs separate terms.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37BEF-3F77-4302-9AD0-E32AF3F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eebf8e74a84f4c59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98248f46c0641c9"/>
              </a:rPr>
              <a:t>help.chime.com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3d3a6a7f2b54fb6"/>
              </a:rPr>
              <a:t>rakuten.com/help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714812e043a411f"/>
              </a:rPr>
              <a:t>help.ibotta.com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Public mechanics reviewed 23 Sep 2026.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728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62375"/>
                <a:gridCol w="4667250"/>
                <a:gridCol w="36385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member value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or payout mechanic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Lesson for WOW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</a:tr>
              <a:tr h="1232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WOW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Financial membership with selected rewards and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 each after eligible signup/account opening, then $50 each after qualifying payroll deposits under current banking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incremental paid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Banking relationship and eligible financial features.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requires qualifying deposit and card activation under applicable terms.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useful activation.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cashback through participating merchants.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Qualifying purchase and confirmation underpin rewards. Standard payments are quarterly.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and expectations matter.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Ibotta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on eligible shopping offers.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Withdrawal generally requires at least $20 plus other conditions.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Thresholds and fulfillment shape trust.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811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A84E6-CBB3-4130-93AA-290D8FF5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E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9C804-96A1-4E54-9A7D-6B4D924B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COMPETITION &amp;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2CBF8-B1AA-47B8-8EA4-80B721A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B42A4-01E2-4299-9566-F3C05AD5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68EF3-17F1-4270-8792-5139732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08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716D-1223-4A50-98BC-E9BECF0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Free and WOW serve different economic needs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BA18D-4BEA-40ED-872A-A14B1F7B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tier design. The 1%-3% cashback range and cash-flow priority are product assumptions, not descriptions of current MoneyLion terms.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5FBF9-6BF6-4AAE-8B31-10CA9688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rPr>
              <a:t>Zero-fee Turbo is an upgrade from current selective rebates. Risk-based advance eligibility and limits still apply.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916E9-5A84-446B-81C9-F3627917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e77848a80e14e81"/>
              </a:rPr>
              <a:t>moneylion.com/cash-advance/instacash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89eb4c0328e4bcb"/>
              </a:rPr>
              <a:t>moneylion.com/membership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Current WOW describes rebates up to $5 on the first and every tenth Turbo fee.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tier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at $9.99/month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rewards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1%-3% affiliate cashback on eligible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Exclusive CPA pass-through marketplace with up to 50% on selected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matching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routing using available lender and bureau criteria.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cash-flow-first routing with Plaid-driven habit matching and lender-priced offers.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Instacash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delivery is already free. Optional Turbo may carry a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zero-fee eligible Instacash, including Turbo, funded by membership.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Personalization and proof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Basic discovery and account controls.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profile, tailored offers and a ROI Dashboard separating realized and estimated value.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110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40589-66CB-477E-96BA-48CE8773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E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7646D-7CD2-4096-AA8D-562C0CAB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COMPETITION &amp;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149A5-FEC9-4773-A39E-498DE646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0932B-4C64-4BE3-A16F-85D77EE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5A833-1E74-436E-A5A4-0BE22840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09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1DC76-8288-4AF4-85CC-5E050D54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memberships make the core benefit repeatable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1FA56-E71C-4A3B-ACF3-DC4F5649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useful analogy is the frequency and reliability of value, not the breadth of the bundle.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6EC56-A0E9-49E4-8C53-0371648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rPr>
              <a:t>A valuable weekly or monthly money decision can matter more than daily app opens.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AE54B-6B76-4BFE-8FA3-F279485E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29ee4d5b14843d1"/>
              </a:rPr>
              <a:t>aboutamazon.com/news/retail/prime-membership-shopping-benefits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dea805d8e514b9e"/>
              </a:rPr>
              <a:t>spotify.com/us/premium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d5d03a50d6a49b6"/>
              </a:rPr>
              <a:t>costco.com/f/-/executive-rewards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91000"/>
                <a:gridCol w="4476750"/>
                <a:gridCol w="31623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Observable membership mechanic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Adaptation for WOW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 of analogy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Amazon Prime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Fast, free delivery on eligible purchases and additional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a recurring friction in an existing behavior. Make terms visible before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does not control merchant logistics.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Spotify Premium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Ad-free music and offline listening support repeated use.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the main experience consistently useful between occasional large rewards.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should not maximize daily consumption.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Costco Executive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Annual 2% reward on qualified purchases, with exclusions and a cap.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eligible value and a clear calculation. Evaluate spending needed to cover the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Basket size and shopping frequency differ.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323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09069-1981-49A9-8BF3-E9D1FC6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E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EDBA7-2E3D-4070-A2A3-EE8DD7C8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COMPETITION &amp;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78697-D02D-47E2-B1F9-EA5FAF4A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5F46A-7E1A-424D-B348-2350807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1C28C-D836-4ACD-BE7B-AEF4EC9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B45DF-53BA-4AAC-ABA7-615D27C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rewards work best when they reinforce product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E1A15-6E74-4766-BF49-417B5488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These public examples illustrate design choices. They do not establish a causal growth forecast for WOW.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1CFF0-480F-45C8-A1DB-D6053E9A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rPr>
              <a:t>Immediate feedback is broadly feasible. Immediate withdrawable money needs a separately funded and controlled policy.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89CBF-984D-4427-A05E-087F600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f0cf02b6ade4e05"/>
              </a:rPr>
              <a:t>help.dropbox.com/storage-space/earn-space-referring-friends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a456dfdb4504bf0"/>
              </a:rPr>
              <a:t>help.chime.com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c2f13ca667d4b87"/>
              </a:rPr>
              <a:t>rakuten.com/help/article/referafriend-program-faq-115009160427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619750"/>
                <a:gridCol w="6067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Mechanic worth learning from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adaptation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Dropbox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storage rewards give value inside the product to the inviter and friend.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a benefit the intended member can use, with an understandable qualifying action.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qualification connects referral acquisition to actual banking activation.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 for verified, incremental membership activation rather than an app install.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status distinguishes invitation, qualification and paid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Expose progress and exceptions so a delay does not look like a broken promise.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WOW test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$10 to each side after first paid cycle and a confirmed eligible purchase, with refund checks.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 progress feedback. Cash follows validation. Cap rewards and measure referral CAC after organic cannibalization.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174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9C1C8-3FB0-48D7-95CA-35AFEEA9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E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F6DF9-ACA0-4E36-B7DE-C5DD108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COMPETITION &amp; 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2B27D-557F-4E80-80E5-4633FBDC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2C698-0338-4C3D-80C8-55543480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5A815-4ECC-43AD-8003-AF9085C5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11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CF7C8-2A5E-450A-B146-D686E29B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Fifty D2C brands form the first supply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E7165-B49C-407F-BDBE-DAA7309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target 50 contracted, integrated brands by month 4. Begin with 10 design partners and add supply only when member needs and merchant returns fit.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30B93-638B-486D-BB11-6D7B3237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53E99"/>
                </a:solidFill>
                <a:latin typeface="DejaVu Sans"/>
                <a:ea typeface="DejaVu Sans"/>
                <a:cs typeface="DejaVu Sans"/>
              </a:rPr>
              <a:t>These are prospect examples, not signed partners. No brand-specific CPA or reward rate is asserted.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BD638-5578-4162-8039-0CF48803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86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prospect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Category hypothesis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question</a:t>
                      </a:r>
                    </a:p>
                  </a:txBody>
                  <a:tcPr marL="142875" marR="142875" marT="66675" marB="66675" anchor="ctr">
                    <a:solidFill>
                      <a:srgbClr val="653E99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Blueland / Dollar Shave Club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refills and replenishment can create repeat relevance.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approved customer acquisition support $31 CPA on a $60 basket, or another funded rate?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Bombas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Apparel can support occasional acquisition campaigns.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the reward capped by basket, new-customer eligibility and return behavior?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Allbirds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Higher-ticket purchases may support a larger absolute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the customer buy anyway, and does incremental contribution cover the bounty?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Portfolio design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10 pilot brands, 25 by month 3, 50 by month 4.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live offers per member, budget coverage, concentration and new-to-brand headroom.</a:t>
                      </a:r>
                    </a:p>
                  </a:txBody>
                  <a:tcPr marL="142875" marR="142875" marT="66675" marB="66675" anchor="ctr">
                    <a:solidFill>
                      <a:srgbClr val="F0E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457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A5A43-3753-49A3-A8F7-7FF3506E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C6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470AE-BA39-4805-BFF6-2FE6317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CURRENT SYSTEM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59EAC-A36B-4BE2-B33F-0371C3F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C516-2955-497E-AD3C-F5BC1436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227BE-1073-489F-B84F-81F6C07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12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CC4D1-322A-4CD8-B7E0-EFD2C6F0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audit identifies revenue and experience leaks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A0EE9-5347-463F-9EEE-28CC521C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Public terms reveal mechanics. Internal conversion, costs and customer outcomes must come from MoneyLion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2E66-0917-4071-BD78-57ECA08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65C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65C6D"/>
                </a:solidFill>
                <a:latin typeface="DejaVu Sans"/>
                <a:ea typeface="DejaVu Sans"/>
                <a:cs typeface="DejaVu Sans"/>
              </a:rPr>
              <a:t>Quick fixes establish a measurable baseline while the two core bets are built.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D4B34-F376-42F7-883A-99A16B17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leak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Immediate fix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retrieve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Weak paid differentiation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CPA exclusivity, credit utility and zero-fee Turbo legible in one comparison.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Free-to-paid conversion, cancellation reasons and current benefit usage.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Delayed or unclear rewards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reported, approved and available states with expected dates and recovery.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Approval lag, missing-order claims, funding lag and support cost.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One-time credit or deal use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Refresh relevant offers and show the cash-flow reason for each recommendation.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matches, second D2C transaction and benefit use across cycles.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 value is invisible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settled cashback against fees in a persistent ROI Dashboard.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comprehension, realized coverage distribution and renewal by utilization.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578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16955-B32D-4267-BB96-FD879D8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C6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F5082-6BF5-40ED-B637-06FBD5B2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CURRENT SYSTEM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4610-EEF2-42F0-B70E-00708D38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F88AC-394F-4214-8422-AAB64B9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2B82F-855F-4ECC-AE8A-5CA52A30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13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F05BE-DB1C-452D-B380-006FC816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activation funnel has two paths to membership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EFB7E-FB09-4E34-9E9F-02BAC2F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utility can bring a member back between infrequent credit decisions and D2C purchases.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8971A-4673-41A6-AE61-B606AD3F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65C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65C6D"/>
                </a:solidFill>
                <a:latin typeface="DejaVu Sans"/>
                <a:ea typeface="DejaVu Sans"/>
                <a:cs typeface="DejaVu Sans"/>
              </a:rPr>
              <a:t>Owner: Product Analytics joins utility, commerce and billing events at member level without hiding non-users.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081A2-4BE2-414A-A48D-D0A32BEB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and definition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intervention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Discovery to paid start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Successful first subscription payment, separated from account signup.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fee, exclusive offers, eligibility and cancellation before payment.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utility activation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Consented account connected, usable profile built and matched offer viewed.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the data purpose and show a freshness timestamp or repair path.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bounty utilization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eligible D2C order settles, with reward credited within D30.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Surface a needed, available offer and explain tracking and return rules.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utilization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qualifying D2C order is bought and settles within D90.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another planned need using consented context and remaining merchant eligibility.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payment succeeds after a visible ROI statement.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fee coverage, expected supply and easy membership controls.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3374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93706-A09A-447C-88FD-0AC4A45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C6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2CD2-5639-4EA9-A2F5-D08A7E38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CURRENT SYSTEM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9ED47-BDBD-4325-B41F-B0740DF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41898-C185-4BAD-98B6-B7686488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74928-8DB4-40EF-B075-B9061D8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83C65-D3BC-4CAD-BE6E-C56B7AC8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Instant rewards require precise language and funding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FD353-2203-4B20-A54E-2BB1CCF3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experience should acknowledge progress immediately while stating when money becomes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104F6-3762-484B-A204-812C432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65C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65C6D"/>
                </a:solidFill>
                <a:latin typeface="DejaVu Sans"/>
                <a:ea typeface="DejaVu Sans"/>
                <a:cs typeface="DejaVu Sans"/>
              </a:rPr>
              <a:t>Instant confirmation can follow tracking. Available cash requires approval and funding, unless MoneyLion explicitly finances the release.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B2BF0-32E0-42CF-A87F-A5AA9B07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810250"/>
                <a:gridCol w="5924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State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member sees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permits the next state</a:t>
                      </a:r>
                    </a:p>
                  </a:txBody>
                  <a:tcPr marL="142875" marR="142875" marT="66675" marB="66675" anchor="ctr">
                    <a:solidFill>
                      <a:srgbClr val="465C6D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purchase was reported. Estimated cashback: $30.”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partner event with order and offer IDs.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Pending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reward awaits merchant confirmation. Expected review: 15 Oct.”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Eligibility, fulfillment and return checks. Dates follow actual partner terms.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Available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“$30 is ready to withdraw.”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liability with funded payout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or reversed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“Paid to your selected destination” or a specific reversal explanation.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Reconciled payout event, or a documented return/fraud adjustment.</a:t>
                      </a:r>
                    </a:p>
                  </a:txBody>
                  <a:tcPr marL="142875" marR="142875" marT="66675" marB="66675" anchor="ctr"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5436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3DE78-AB6B-427E-A58A-EAEFE62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229F5-BEC5-414F-B60C-E27D5EE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 STRATEGY &amp;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673D5-8F03-4675-A9D5-6B63D46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F02A0-2825-41DE-916E-704EF23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0A11A-37BD-4E6B-B7F7-E25B61A7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15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CD61B-B9B9-463E-9F4B-3E33B1B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Five perks, with credit utility and CPA pass-through as the core bets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3454D-D09B-4840-A069-CEED919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two biggest bets drive personalization and subscription value. The remaining perks make that value useful and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0D31E-2ADA-438B-A9F1-E5E96034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Discussion: align lending partners, commercial supply and fee-waiver funding before committing the paid-tier promise.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48FA7-3DC6-4A58-AC76-C3B81C5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Perk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promise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and decision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D2C Mega-Cashback Engine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 to 50% cashback on selected funded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2. Pass the full CPA bounty through after operating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WOW ROI Dashboard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Settled rewards and verified fee savings compared with actual membership fees.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Phase 3 retention layer. Keep estimated credit savings separate.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Zero-fee Instacash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advances and Turbo delivery carry no member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Hard WOW differentiator. Budget delivery cost and foregone fee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Cash-Flow Underwriting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Plaid-driven habit matching and Profile-Based Loan Routing.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1. Prioritize cash-flow-first matching and lender-priced offers in Phase 1.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 Referral and savings circles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Dual-sided qualified referrals and optional useful milestones.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Growth support after core utility and bounty settlement work.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4975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EFA3C-B2F5-435D-B080-4D2BA33A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D0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38AD4-EB1D-4A29-B2DB-830F831F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 TRACKING &amp; WHAT WINNING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2C368-1C70-4A5B-89EA-285BBD2A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186AE-10CD-4D04-94F3-8D0B2932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1A4C3-8C0A-4DD9-ADF2-A993DD5F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16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475EE-05E9-4EED-A6C4-B249A741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Validation separates demand from causal product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B3B7D-6461-459B-A1A5-2A34C3F6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commerce experiments compare personalized and generic ranking with the same funded CPA catalog. Credit routing has its own lender-approved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F2AF6-148B-49E8-A5FF-C8E5151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Assumption: size experiments again using observed baselines. Record assignment before exposure and include every paid start.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3620D-5859-402E-A1BB-0909368A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evidence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24 persona interviews and 15 task-based prototype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users explain the data purpose, fee and reward conditions unaided?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 10 pilot merchant contracts and lender data/quote agreements.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CPA, merchant incrementality, funding and suitable quote coverage.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cash-flow routing with current routing within approved policies.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suitable matches, approval at comparable risk, pricing and loan vintages.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Commerce test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BUR90 rises from 50% to 60%. Randomize ranking across paid-start cohorts.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About 400 per arm for 80% power and two-sided 5% significance before attrition.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 test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Follow mature cohorts and repeat merchant funding across a second cycle.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 lift must coexist with renewal, affordable credit and positive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9614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8607D-EFF4-46EF-9EE4-7BB63F79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7FA81-C6EF-4237-9102-A3D95F7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 STRATEGY &amp;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4DD2A-8F66-4292-8096-1711D1D6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6C29-E3F1-450D-BBEF-9EC994E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83253-0832-4C03-A73F-4FDBC1B3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17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0B946-F005-4F75-8625-A836560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two bets create one economic and personalization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0E844-8D8E-4DE7-AC82-C2299D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Cash-flow intelligence supplies relevant utility. Merchant acquisition budgets supply tangible subscription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4F303-A5D7-49CC-9AEB-59CE087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One story: useful context improves matching, realized rewards reinforce trust, and permissioned outcomes improve the next match.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2C5AA-D73F-4749-AAA7-CE1CEAE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1: cash-flow utility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2: CPA pass-through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job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a suitable credit option using present capacity and actual habits.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 membership fees through purchases already planned.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Mechanism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 profile, affordability features, lender-specific eligibility and dynamic quote requests.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Contracted approved-order CPA funds cashback after a $1 illustrative operating allowance.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prioritize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Creates useful first-party context and a reason to return between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Makes the fee legible in cash and shifts funding toward merchants.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Defensibility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Consented longitudinal data, partner decision feedback and tested ranking improvements.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Exclusive supply, funded terms, conversion evidence and reliable settlement.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Key dependence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Participating lenders accept the data and return suitable, explainable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Brands can fund high rewards for incremental customers and continue renewing budgets.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2171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60220-00DF-432D-9529-E5905D2A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8CF1-E199-4AEB-A58D-6F2F289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0249C-0284-4306-A7E9-DAA750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B815A-CC45-4331-9A95-2D25D0BF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612C8-A7FD-497E-A73B-61F23267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18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D49A0-0400-4B81-96AD-89DD1A40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50% Mega-Cashback Engine passes acquisition value to members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9CC4F-FAA3-4293-A7E1-4ECBE210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retain $1 per $60 order for operations, equivalent to 1.7% of the basket. Pass the rest of the CPA to the member. Net order contribution is $0.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AFD32-6BF7-4E92-A180-FD9D5DE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Full pass-through means bounty minus disclosed operating cost. A quarterly fee-coverage claim requires at least $29.97 settled cashback.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379B9-BF5E-4A6E-AC9F-ED62E629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contract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allocation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value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 hero offer on $60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 CPA $31 = member reward $30 + operating allowance $1.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is 50% of eligible spend. $30 ÷ $9.99 = 3.00 months of fees.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bounty example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 CPA $18 = member reward $17 + operating allowance $1.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 a $60 basket this is 28.3% cashback, covering 1.70 monthly fees.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second 50% configuration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 CPA $18, reward $17, eligible basket $34.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rate depends on bounty and basket. “Up to 50%” applies only where terms fund 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purpose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transaction acquires and activates membership at $0 contribution after its cost allowance.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membership fees finance ongoing utility and profit.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9297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9E8D9-3AF8-489B-A081-29D66EAF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62457-6935-48E3-B4E9-ECE423B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65B24-D0D2-4EE3-BCC9-B8F4D1D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34496-5EE4-45EC-9CD1-29767BE6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5600D-9C50-47E9-821D-F7D9EE9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19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7A478-3DFA-4C6A-A702-E85ACA79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CPA pass-through wins when acquisition value exceeds affiliate yield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EB624-2D80-4D23-96F0-9797971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Cashback is the lead commerce mechanism because a fixed acquisition bounty can fund a larger visible benefit than a small percentage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93AB4-72C9-45E0-BF73-9B8C67E9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Failure response: reduce the funded rate, renegotiate the CPA or replace the offer. Honor activated terms and earned obligations.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93D01-1D34-4DA7-A8C4-35F83445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Trade-off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Ordinary affiliate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Simple to operate, but similar free offers weaken the $9.99 proposition.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 it in Free. WOW needs a material incremental benefit.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MoneyLion-funded 50% reward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Strong headline but creates an unfunded cost per purchase.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only as a separately capped experiment, never the recurring funding engine.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Discounts or points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 help price or engagement, but redemption friction can hide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where members prefer them. Do not count face value as settled cashback.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Flat welcome bonus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Accelerates signup but can attract churn after the first reward.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Reserve for controlled acquisition tests and account for it in CAC.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Merchant-funded CPA pass-through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Large funded rewards with eligibility, returns and merchant-budget constraints.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Prioritize with member-fit ranking and a repeat supply plan.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9426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87CFB-E9AB-41F4-8C8C-165DF48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C2004-EE91-4FFE-8385-EEFE2DE2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022EF-3FB3-4317-AE69-D31E13A8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F6C30-EB80-43FE-9C7F-A30A1BF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0CA49-6922-4D91-B6EB-B7C93D1A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D0882-3D0C-42E5-BF81-7E664063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economics fund the reward ceiling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7D017-D319-472F-9D77-DC48EE7B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order with 65% product gross margin. Values below are a design-partner negotiation example.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91672-007A-4CEE-920A-EFDADE92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CPA makes the payable action predictable. It does not guarantee incremental customers or merchant profit.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B7A4C-CA03-4399-81E4-F35A4B6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economics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Gross profit before fulfillment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× 65% = $39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 gross margin creates room, but is not a committed marketing budget.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fulfillment, returns and support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$39 − $8 = $31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This amount is available before acquisition cost in the simplified example.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CPA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acquisition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breaks even on the first fully incremental order. Repeat margin provides upside.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80% incremental customers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Effective CPA = $31 ÷ 0.80 = $38.75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Exceeds $31 first-order contribution by $7.75. Repeat economics must cover the difference.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CPA follows incremental customer contribution and payback tolerance.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holdouts, new-to-brand rules and repeat purchase evidence to set rate and budget.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1597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81F9B-BBFF-46C8-93D8-085C4CCA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C051F-C7D5-4A02-B581-77C34460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 STRATEGY &amp;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EDC9F-E2F9-411D-8788-74E9AC1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B5E1-AB06-4A32-B31E-04C0DDF4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66153-950C-4AA1-8CA7-40FD271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21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8A128-5676-4337-B3AE-7349DADA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strong partnerships team owns supply and repeat funding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09D81-C0DF-413C-8B53-A71CAEE8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first 50 brands require commercial ownership, technical onboarding and ongoing performance management.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BFD8C-4907-4285-9EC9-74102F0B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Business console: daily funding and claim alerts, weekly economics reviews, monthly partner renewals and a named owner for every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07119-2F6E-4CD7-8030-1AE1EBA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Workstream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deliverable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Accountability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economics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CPA, eligible basket, new-customer rules, attribution window and returns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signs offers with funded rewards and credible incremental merchant returns.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and funding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order events, reconciliation files, prefunding or a funded settlement agreement.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Engineering and Finance certify approval, reversal and payout coverage.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 and merchandising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Offers spanning relevant categories and member eligibility over multiple cycles.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Category owners track eligible offers per member and next-cycle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success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Weekly report of approved actions, incremental CAC, repeat contribution and complaints.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3 partnerships and 2 operations roles, with shared technical support.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 and concentration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renewal, contract expiry, top-partner share and fallback supply.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no merchant exceeds 20% of funded reward capacity at scale.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679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339F3-56B2-45E7-9A90-78CD71F0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79A6C-02D4-451A-A1D4-50AE118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 STRATEGY &amp;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2742-76D0-4DDA-9CB1-8235E0D9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5872C-ACB3-4E1D-9DE9-B3D2BE6A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F39D7-6F90-464A-A43D-CBD522C8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22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63F46-F425-4486-A409-BE66FE5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Payments, attribution and reward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A67A5-4DF9-49B3-8DC8-44CBBBF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architecture: subscription PG collects the fee. Merchant PG processes shopping. Attribution and the reward ledger connect the two.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F7763-F565-4133-8348-F439CA2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Control: version CPA terms and cost allowances. Pause new activations when funding fails while preserving earned rewards.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EECA6-9C5F-4F08-AE1D-D963A7B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D87FF-1DED-4D02-8863-0C9D182E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9A1A9-2317-46FA-8C1D-F0725C1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Member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9D9A8-07BE-46C6-ADD2-01B7665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Discovery, consent, activation and claim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7FA50-347A-4FCE-8EC8-58976D75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2F47F-945D-4269-92D0-2C9C3CB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Attribution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5AA07-D6ED-4F77-8DC7-7BFB866E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UTM, referral token, activation ID and offer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B1284-3822-43C4-BFEC-B9A9CCEB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00482-07CF-4660-93FC-B71A69AE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Merchant checkout 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A053E-AE17-4F10-B960-C260F55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processes the purchase and sends signed order events.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6E302-D6F2-4D22-BE38-9DCBF71B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7C099-7EF8-4990-8C21-846D2BFE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Subscription PG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10D33-3F84-45F9-B27D-FD68FF8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recurring fee payment controls paid entitlement.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7807A-06A2-4873-8491-A3F6931D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3E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941CE-B509-49F0-B99A-F72303BD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Ledger and payout 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31EB3-5410-4F8A-ABDE-7E75698A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Pending, available, reversed and paid money with reconciliation.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28101-D428-45D6-94B0-A8E2BC2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B88BA-FE27-49F3-A540-8E37B38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Business console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E6D18-8747-4945-8944-1516E0F7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Terms, budgets, caps, approvals and partner-level kill switches.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B60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B60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7572375" y="4143375"/>
            <a:ext cx="49149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6B60"/>
            </a:solidFill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B60"/>
            </a:solidFill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B60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70E12-4F8D-44B3-8BFA-628CF364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A PG moves money. UTM identifies campaign origin. The merchant contract and validated order determine the reward.</a:t>
            </a:r>
          </a:p>
        </p:txBody>
      </p:sp>
    </p:spTree>
    <p:extLst>
      <p:ext uri="{BB962C8B-B14F-4D97-AF65-F5344CB8AC3E}">
        <p14:creationId xmlns:p14="http://schemas.microsoft.com/office/powerpoint/2010/main" val="13515017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73761-15FB-42AF-A378-EB4ABF4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6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115D4-7273-4442-9CE9-208A024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 STRATEGY &amp;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D3807-6AB6-4C4E-BC66-E169167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EB872-7460-4B03-A50D-575B6D4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43A7E-AD0D-4648-AA12-AFB1540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23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C5772-B067-4B10-B278-F81F11C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Risk controls protect lending data and reward liabilities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0F91B-E317-4940-BA77-C4491A73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Security follows the action. Browsing remains easy while money movement and credit-data access receive stronger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74444-C020-4E41-ADC2-E5FD491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6B60"/>
                </a:solidFill>
                <a:latin typeface="DejaVu Sans"/>
                <a:ea typeface="DejaVu Sans"/>
                <a:cs typeface="DejaVu Sans"/>
              </a:rPr>
              <a:t>Credit model owners also test calibration, subgroup outcomes and reason codes before automated routing reaches scale.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E6FDF-B2EF-4328-A7BF-5F14360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baed90cb5014a32"/>
              </a:rPr>
              <a:t>consumerfinance.gov/rules-policy/regulations/1002/9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underwriting controls, model validation and lender responsibilities.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Targeted control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recovery</a:t>
                      </a:r>
                    </a:p>
                  </a:txBody>
                  <a:tcPr marL="142875" marR="142875" marT="66675" marB="66675" anchor="ctr">
                    <a:solidFill>
                      <a:srgbClr val="006B6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 accounts and self-referrals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Identity, device and payout-account signals, velocity limits and linked-account review.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 up suspicious cases. Shared household or network alone does not prove fraud.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Fabricated or recycled orders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merchant events, order IDs, duplicate protection and receipt reconciliation.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a pending reason and one support case. Reverse returned orders consistently.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Mass referral spam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Member-initiated sharing, reward caps, opt-outs and abuse reports.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contact scraping. Explain a held bonus and offer appeal.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manipulation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 round-trip transfers, exclude internal transfers, validate recurring income and history.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 corrected evidence or another permitted data route when coverage is insufficient.</a:t>
                      </a:r>
                    </a:p>
                  </a:txBody>
                  <a:tcPr marL="142875" marR="142875" marT="66675" marB="66675" anchor="ctr">
                    <a:solidFill>
                      <a:srgbClr val="E5F3E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 takeover or data misuse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Scoped tokens, encryption, access logs, consent records and step-up payout changes.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Disconnect data, revoke access and route account recovery to a trained human.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3735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9EC5B-235D-4162-A72B-C58EB93B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D0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298EE-75EC-4F84-AD08-F6E8653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 TRACKING &amp; WHAT WINNING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783D8-3F61-4ED1-BBB3-5AE9ADA4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DCF11-554B-41D6-A7A7-B84AB38C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5DE87-BC7A-40B2-8CF4-03AE1CAC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E2D5-5908-4AD3-9AE3-0155473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North star: Bounty Utilization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EB231-4204-40DE-9B26-0720A5C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BUR90 measures repeat execution of the CPA pass-through value proposition within a fixed paid-start cohort.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7DF24-3CA8-4E81-AC2D-065C737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Bounty Utilization Rate is the primary value-realization metric. Reward dollars and fee coverage explain whether two transactions deliver enough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DAD94-F359-4ED5-B529-DD4C9748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element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Measurement rule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Numerator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with ≥2 distinct qualifying D2C Mega-Cashback transactions in their first 90 days.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Purchase and settlement occur by D90. Exclude referrals, reversals and split-order duplicates.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Denominator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first-time paid WOW start in a cohort that has reached D90.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 canceled, refunded and inactive starts. Report fraud exclusions separately.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 and event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 starts at first successful membership payment. reward_settled increments the count.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 member, order, offer version, settlement time and reversal status.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Leading indicators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D7 profile activation, D30 first settled bounty and D60 second-order progression.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Pending orders remain separate. BUR90 requires 90-day cohort maturity.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target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≥60% BUR90 and ≥10 percentage-point lift versus generic ranking of the same catalog.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Renewal, fee coverage, credit quality and contribution are supporting scale guardrails.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382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9DFE5-2A4A-413D-89EE-7D8E380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D0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BD800-B110-4211-AB92-8AD5E65B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 TRACKING &amp; WHAT WINNING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6174C-A668-410C-A636-B5AD6AC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30333-A07F-4C2D-AB70-A4345D51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E7804-EDE6-443D-9855-BA4DE31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25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31BEE-C726-4A7D-9948-EE22D8A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Early signals determine whether to scale, repair or stop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F072F-0C6D-40B5-980D-C525195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thresholds below are initial pilot gates. Owners review both the economic mechanism and the member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B8645-3599-4DFF-8A09-2021EB4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No failure response changes rewards already earned. Leadership reviews the same member and merchant economics every week.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5770A-7774-4574-B05B-2DC2FDA2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 success signals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 response and owner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D7 usable profiles, matched-offer engagement and improved approval at comparable risk.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Lending PM repairs coverage, features or lender fit. Pause weak segments.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CPA pass-through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D30 first bounty ≥40%, second-order progression and ≥99% correct settlement.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Commerce PM fixes fit or tracking. Commercial repairs CPAs and supply gaps.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Zero-fee Instacash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Adoption rises while the total utility budget stays within the plan.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measures adverse selection and waived revenue. Adjust future terms transparently.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Personalization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Holdouts show higher BUR90 from ranking based on permissioned outcomes.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PM removes weak features. Simplify ranking if incremental lift is absent.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BUR90 ≥60%, sustained supply, positive contribution and credible CAC recovery.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lead scales passing segments, fixes the constraint or stops acquisition.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7107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7D035-51C0-4440-A030-30DD931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65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C33A3-D74B-4DD2-A8BF-52E5D50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TARGET AUDIENCE &amp; 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409A9-3BBA-422E-8F5A-3F360529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EEFFF-7CF5-4423-B0D3-16AE3588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4D4CD-EA79-49A0-ACF0-75B30E8A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26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9025D-6E75-450E-B6A7-AE953F76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Three personas ground personalization in real cash-flow needs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CD7D8-3AD1-4FF4-8718-BC3A018B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research hypotheses for U.S. adults. Demographics guide recruiting, while obligations and behavior drive relevance.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D9B30-51B0-4FED-84DF-F17F4904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C36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C365A"/>
                </a:solidFill>
                <a:latin typeface="DejaVu Sans"/>
                <a:ea typeface="DejaVu Sans"/>
                <a:cs typeface="DejaVu Sans"/>
              </a:rPr>
              <a:t>Assumption: members value relevant help over constant borrowing prompts. Validate this instead of treating Gen Z or Millennials as one segment.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757B5-F6DA-4858-928B-5828272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728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</a:t>
                      </a:r>
                    </a:p>
                  </a:txBody>
                  <a:tcPr marL="142875" marR="142875" marT="66675" marB="66675" anchor="ctr">
                    <a:solidFill>
                      <a:srgbClr val="9C365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 and behavior</a:t>
                      </a:r>
                    </a:p>
                  </a:txBody>
                  <a:tcPr marL="142875" marR="142875" marT="66675" marB="66675" anchor="ctr">
                    <a:solidFill>
                      <a:srgbClr val="9C365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Personalized experience</a:t>
                      </a:r>
                    </a:p>
                  </a:txBody>
                  <a:tcPr marL="142875" marR="142875" marT="66675" marB="66675" anchor="ctr">
                    <a:solidFill>
                      <a:srgbClr val="9C365A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Early-career renter, 23-29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 shift income, recurring bills and a thin credit history. Shops selectively.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affordability view, suitable lender route and household offers near planned replenishment.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household, 30-42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Predictable payroll, child and home expenses, repeat D2C purchases.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Replenishment matching, funded offers across categories and verified subscription fee coverage.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Independent earner, 25-40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Uneven deposits, tax reserves and occasional liquidity gaps.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Income volatility and existing obligations shape credit matching. Zero-fee eligible Instacash supports timing gaps.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 network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groups, workplaces and trusted community recommendations.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 a relevant offer with clear terms. Local supply and eligibility shape the invitation.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0730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31A8E-CA8D-49DD-9A55-F3C4CC16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65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138AA-A6C3-44D9-8716-FB99ED5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TARGET AUDIENCE &amp; 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ED91A-A470-4BEC-97CD-7DC019F1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83803-BA8B-4B46-844D-28BD964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0FA91-6AE7-452B-BD67-B44169C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27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D0147-3C7B-4374-8635-61E2D538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Personalization improves fit without turning shopping into credit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899A5-7B9A-4BDB-8BCA-8C508C76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behavior segmentation follows member permission and actual product needs.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6328-46C0-49F1-97AD-7FCB1D17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C365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C365A"/>
                </a:solidFill>
                <a:latin typeface="DejaVu Sans"/>
                <a:ea typeface="DejaVu Sans"/>
                <a:cs typeface="DejaVu Sans"/>
              </a:rPr>
              <a:t>Personalization earns defensibility through measurable usefulness, user trust and partner outcomes, not data collection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206B0-5ECB-4C79-AEE3-469062C4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76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Signal</a:t>
                      </a:r>
                    </a:p>
                  </a:txBody>
                  <a:tcPr marL="142875" marR="142875" marT="66675" marB="66675" anchor="ctr">
                    <a:solidFill>
                      <a:srgbClr val="9C365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Useful application</a:t>
                      </a:r>
                    </a:p>
                  </a:txBody>
                  <a:tcPr marL="142875" marR="142875" marT="66675" marB="66675" anchor="ctr">
                    <a:solidFill>
                      <a:srgbClr val="9C365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Boundary and test</a:t>
                      </a:r>
                    </a:p>
                  </a:txBody>
                  <a:tcPr marL="142875" marR="142875" marT="66675" marB="66675" anchor="ctr">
                    <a:solidFill>
                      <a:srgbClr val="9C365A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Income cadence and residual cash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 affordability updates and explain why a lender option may fit.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verified capacity and obligations, with model validation and lender-approved rules.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Travel, dining and subscriptions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card benefits or offers to stated and observed preferences.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lifestyle categories for relevance. Sensitive proxies do not determine creditworthiness.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D2C needs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Rank eligible high-value offers in categories the member already buys.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incremental savings and total prices. Never prompt debt to unlock cashback.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 offer eligibility and returns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a second eligible brand and forecast realistic fee coverage.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recommend exhausted welcome offers. Keep reward reversal states visible.</a:t>
                      </a:r>
                    </a:p>
                  </a:txBody>
                  <a:tcPr marL="142875" marR="142875" marT="66675" marB="66675" anchor="ctr">
                    <a:solidFill>
                      <a:srgbClr val="F9EA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 and feedback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Learn from accepted, declined and irrelevant suggestions.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only the permitted purpose and retain a working generic route after disconnection.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0587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6F61B0-33E3-4B65-92E6-796778C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6F560-7ADE-4FB1-BFCC-711013F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USER FLOWS &amp; 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5B01B-AD52-4837-8846-4A4B47D1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0C3BD-621A-4C4E-94D2-BC221228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F0CDF-4D0E-40B6-83A1-38672295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28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1593B-4EC9-4A77-B29A-AC13653A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WOW journey joins utility, cashback and renewal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5CA95-8144-4B27-8233-866709EE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Phase 1 credit utility establishes the profile. Phase 2 rewards create visible cash value. Phase 3 makes the fee comparison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0291B-2302-4A94-9BE7-0811410F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Credit access and shopping remain independent choices. A member can browse funded offers without linking an account or applying for a loan.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17742-72D3-433E-AB7A-A64D5399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74E3B-1336-4766-A15A-C32CD101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0A422-A931-4E3D-92BB-E4F9F00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Discover utility and 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5205B-B017-4E44-94EB-295D67AA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Review $9.99 fee, credit utility and eligible CPA offers.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73027-97DA-48AB-8B91-B93381DE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29578-773B-4050-83BD-7D579BB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Connect or browse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60E9F-3953-4110-AC97-81AEEC2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Connect for cash-flow matching, or browse eligible CPA offers without a bank link.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FA8D0-1A83-4F42-9F3B-C79ADAA3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EB66A-FE86-4F68-9E2D-FD9161D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Shop with the merchant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061EA-E802-44D7-A752-F2AEB95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Pass activation context. Merchant owns checkout and returns.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EC54A-28AE-40EB-889C-5C9D05C5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35103-7208-45E1-92EB-75794AFA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See ROI and use again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C866C-F7FA-4785-9594-6D908E8F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first and second bounties, fee coverage and next-cycle relevance.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0117A-485E-455D-B076-4E6D6273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3D918-0ED3-4E46-8E9A-47C121A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Track and receive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006C42-087D-4D41-B087-DD37193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Reported order becomes available cash after approval and funding.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C8A48-20BF-4F2A-9B61-BD27EC19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19050">
            <a:solidFill>
              <a:srgbClr val="CF977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B8059-B1E1-4B81-A4D2-25E5654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B45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B4528"/>
                </a:solidFill>
                <a:latin typeface="DejaVu Sans"/>
                <a:ea typeface="DejaVu Sans"/>
                <a:cs typeface="DejaVu Sans"/>
              </a:rPr>
              <a:t>Recover or exit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2A50D-B681-4804-8F3A-E8C6A67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fit: remain free. Missing order: claim. Poor value: manage or cancel.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2487275" y="4143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9620250" y="58388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9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4705350" y="58388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71620-3AEA-4B46-A6A4-EFE8B21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Screens 45-49 show the member-facing controls at each purchase, reward and recovery step.</a:t>
            </a:r>
          </a:p>
        </p:txBody>
      </p:sp>
    </p:spTree>
    <p:extLst>
      <p:ext uri="{BB962C8B-B14F-4D97-AF65-F5344CB8AC3E}">
        <p14:creationId xmlns:p14="http://schemas.microsoft.com/office/powerpoint/2010/main" val="10770987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C61F4-B210-4726-8BC1-044A386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7DDB5-D25C-4CC6-AB9D-AA378A96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USER FLOWS &amp; 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F214-9EEE-4A68-A714-7601DB13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CFD01-D5CB-4E67-860C-7E1A7367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1E54-4BFB-4543-8C62-B2096399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29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58356-76F4-4BF2-A48F-09565278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qualification and reward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A6C18-D8D6-4BE0-8652-40515F8C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$10 per side after paid membership and an approved eligible purchase. Referral rewards remain separate from merchant cashback.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C07E4-13B2-4E59-855E-9F0C484A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Referral CAC includes both bonuses and operations. Referral bonuses never count toward Bounty Utilization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27A9F-B644-4345-80E1-E0B7214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BABDE-35D6-417F-9328-BE05A2FA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79DDE-4ED8-4DC8-BF6C-18ADFC79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Invite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5D92B-E2D4-4792-9BCE-D67D9289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 token and inviter context lock before registration.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8A21A-2B46-4144-B54F-B909ACD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E9633-1DFA-47C6-A681-1E65790F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Membership paid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9CF9B-51F6-43F7-B0E6-D18C6944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successful first payment creates the paid start.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0E97B-A39D-466D-86E8-5800AAF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FA59E-AE90-4FE2-A4DC-71CE2F94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Purchase approved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6D0B8-6F38-4D5D-85A9-DAD285BB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Eligible order survives the contract’s refund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7DF8F-5B11-4316-B8A0-C99D041A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4E13C-C3F7-40F4-A10C-E134F259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Retained contribution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DA26E-D289-41FB-B47A-4217EF39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BUR90, renewal and incremental referral CAC.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0E1AE-7357-4B8E-955E-6823AB0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84AE4-A31B-457B-B002-93BF8B90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Both rewards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E7641-1084-4F3C-9A9B-AEA63CCE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$10 each. Maximum 5 qualified friends per month.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A16E8-6B36-40B9-9F13-33814F7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55E99-0CE1-4A1E-81FA-CF2C0238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Risk and funding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A1E910-55B1-497D-8B60-B7B2E03C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duplicate identity, self-referral, velocity and liability coverage.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F06C77-52F3-4502-9DDC-CBD8507D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Exception: block or hold suspicious qualification with a reason and appeal. A shared household alone is not fraud proof.</a:t>
            </a:r>
          </a:p>
        </p:txBody>
      </p:sp>
    </p:spTree>
    <p:extLst>
      <p:ext uri="{BB962C8B-B14F-4D97-AF65-F5344CB8AC3E}">
        <p14:creationId xmlns:p14="http://schemas.microsoft.com/office/powerpoint/2010/main" val="16381913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BD408E-F3CF-4C9B-9090-E9548C38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78855-F05B-4398-8516-5DF99078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USER FLOWS &amp; 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FAF56-E494-4E91-A52E-EC3BBA7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B289F-F190-47E3-9C09-FD77D34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5E352-F6D7-40AD-BF1E-971F351E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30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0375B-0B94-4631-90F1-EDBFBDEF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growth loop compounds permissioned personalization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AD563-77E3-424B-B179-7953BE4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better matching improves utility and bounty use, creating outcome evidence that improves the next 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8A365-02E9-4CF1-BB47-1ED9F08C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The durable advantage comes from relevant funded supply and permissioned feedback that demonstrably improves the next recommendation.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44FF2-871A-4384-BC2A-6FEF6E26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14C0D-6068-45BC-8EC8-CD41EBE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BD230-772D-4F7A-898A-9AF81A7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1. Permissioned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E4013-6B01-4CCE-ADFE-6EA1549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Income, obligations and habits improve the context for matching.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DE6A9-47D9-42C8-A059-D0690651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4B9C7-BD8F-42EB-8B6E-2BD8F0A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2. Relevant utility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F404C-CC6A-455F-97F6-2EAA85F1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Suitable lender routes and eligible D2C offers fit actual needs.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68C8B-4E01-48F4-A4C5-39FB6846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C2D61-192D-44AC-8D90-C274FB51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3. Settled bounty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F2ED7-22A3-42F2-9ECB-9D66A4A3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CPA funds the reward. Members see fee coverage.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5E9B4-E587-4C19-A663-29F60E0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CA060-1383-4965-9751-22B5851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6. Better personalization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81479-26A0-49A7-A2DA-12EA328F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Validated learning improves ranking and merchant supply.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5A032-9860-4D2A-AEEF-E0DCDDCC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32D4F-7505-4B0B-9313-EBA3D4A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5. Outcome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0FDF6-5D9A-40FB-8E26-CD6B0E1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Lender responses, settled orders and feedback enrich permitted data.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85C40-F6DA-42DD-B609-6259DD0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96B9D-828A-48C2-9688-EF92B55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4. Renewal and referral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D8E7B-2DBA-41FD-85F9-54308BB2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Visible ROI supports another cycle and a useful personal invitation.</a:t>
            </a:r>
          </a:p>
        </p:txBody>
      </p:sp>
      <p:cxnSp>
        <p:nvCxnSpPr>
          <p:cNvPr id="6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2487275" y="414337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620250" y="5924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4705350" y="5924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657475" y="414337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30418E-54B3-4E86-AD06-A6D31644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3417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Defensibility test: permissioned outcome feedback must improve matching and BUR90 versus a simple-rule holdout.</a:t>
            </a:r>
          </a:p>
        </p:txBody>
      </p:sp>
    </p:spTree>
    <p:extLst>
      <p:ext uri="{BB962C8B-B14F-4D97-AF65-F5344CB8AC3E}">
        <p14:creationId xmlns:p14="http://schemas.microsoft.com/office/powerpoint/2010/main" val="2025365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190C6E-3A3D-4F7A-A163-67DA3FEB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DF39D-882B-480D-A0C6-5E78329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USER FLOWS &amp; 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43F54-0678-46F6-AF34-D83E325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DF76A-30B1-4404-85A5-8E108BFC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A694C-0588-48F3-8920-A6265D5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31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29B51-DAC8-408E-A9AC-0293E57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Phase 1: cash-flow intelligence powers Profile-Based Loan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B4AB3-34EB-4E1C-B4D8-38FF593D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Bank-data consent directly enables income, obligation and spending-velocity analysis, followed by lender-specific matching and quote requests.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55940-0D78-4206-98D7-5048B22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Dynamic pricing means lenders return current eligible terms from approved models. Plaid updates are not a continuous real-time stream.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017AC-8BAC-4410-9D5E-40AAC419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352cc609c7a47b3"/>
              </a:rPr>
              <a:t>plaid.com/docs/underwriting/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5f49b1019d94629"/>
              </a:rPr>
              <a:t>plaid.com/docs/transactions/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MoneyLion routing and model controls require lender agreement.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DB53D-1F63-43F9-8516-F5F8BD17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78C0C-3211-4AD9-99A3-D62835B9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Scoped bank consent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EFD32-7C9D-4650-B9A2-E454D31C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Plaid access for cash-flow profiling and participating lender matching.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4D5D9-9890-49DF-94A2-118F8DAF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5AC42-6E4B-4CF0-A201-74AFE294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Affordability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15F9D-EAFD-4698-985D-9EE220B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Income cadence, obligations, residual cash and spending velocity.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95A78-04E7-4A23-B062-FF96663B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F8CEE-E49B-4BF7-8B7A-76B2D35D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Profile-Based Loan 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27674-2770-4336-AB7D-E1BDCD6D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Match lender policy. Request eligible current prices and terms.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32EEA-8112-4728-96E5-534E337F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86811-1003-40DA-85CF-E3C88597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Validated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DA6B5-EE6D-48B2-B781-5EB6562A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Approval, pricing and loan vintages improve permitted models.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D839F-ADB2-4DDC-BCFA-5B935AC7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930E1-0285-4A2E-8F8D-F5859771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Member chooses a quote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546D4-9244-4D30-A262-2A24349E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Explain fit, APR, term, payment and freshness before lender handoff.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3AFE96-39D9-4F8C-9E4D-EE5DB4ED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D840C-E26B-4193-B4D8-B86819A8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Lender quote response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1425C-01F0-4E15-A6A9-1D1FBDE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 supplies offer terms and retains approval and pricing control.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6730A2-48C8-4DF3-8E37-EBEF761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Freshness gate: refresh stale profiles or request more data. The member can decline a quote or disconnect access.</a:t>
            </a:r>
          </a:p>
        </p:txBody>
      </p:sp>
    </p:spTree>
    <p:extLst>
      <p:ext uri="{BB962C8B-B14F-4D97-AF65-F5344CB8AC3E}">
        <p14:creationId xmlns:p14="http://schemas.microsoft.com/office/powerpoint/2010/main" val="7993888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25FDF-D8DA-4934-A743-13751B1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47617-7623-4276-8E49-711EE7A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USER FLOWS &amp; 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8493F-B0F0-4499-B5E7-BE85FB71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CA9DB-2636-44DC-93CD-46D66D3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655B9-2928-40DE-8B10-839C892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32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1F555-F397-407F-ACB9-D9269317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Cash-Flow Underwriting is the Phase 1 utility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52C4C-D8F7-40E8-9660-3BBC507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replace FICO-only product ranking for connected WOW members with cash-flow-first matching and lender-approved decisioning.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FDDF7-4FDD-4962-80FE-9C7A6F9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Assumption: lender partners retain principal risk in the launch. Cash-flow-first underwriting needs measured risk improvement before any balance-sheet expansion.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3A5E-E7E4-45BA-8C1B-6F0AC70C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8b38b7e6e994615"/>
              </a:rPr>
              <a:t>plaid.com/docs/underwriting/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3ec03f85b324986"/>
              </a:rPr>
              <a:t>plaid.com/docs/transactions/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MoneyLion routing and model controls require lender agreement.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990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solidFill>
                      <a:srgbClr val="16669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Implementation</a:t>
                      </a:r>
                    </a:p>
                  </a:txBody>
                  <a:tcPr marL="142875" marR="142875" marT="66675" marB="66675" anchor="ctr">
                    <a:solidFill>
                      <a:srgbClr val="16669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Development hurdle and control</a:t>
                      </a:r>
                    </a:p>
                  </a:txBody>
                  <a:tcPr marL="142875" marR="142875" marT="66675" marB="66675" anchor="ctr">
                    <a:solidFill>
                      <a:srgbClr val="16669A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Habit-based matching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Analyze recurring income, obligations, residual cash, volatility and spending velocity.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transfers from income. Timestamp data and require sufficient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Dynamic lender routing</a:t>
                      </a:r>
                    </a:p>
                  </a:txBody>
                  <a:tcPr marL="142875" marR="142875" marT="66675" marB="66675" anchor="ctr">
                    <a:solidFill>
                      <a:srgbClr val="E5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Apply lender eligibility and affordability rules, then request current rates and terms.</a:t>
                      </a:r>
                    </a:p>
                  </a:txBody>
                  <a:tcPr marL="142875" marR="142875" marT="66675" marB="66675" anchor="ctr">
                    <a:solidFill>
                      <a:srgbClr val="E5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 control approval and price, including any required bureau checks.</a:t>
                      </a:r>
                    </a:p>
                  </a:txBody>
                  <a:tcPr marL="142875" marR="142875" marT="66675" marB="66675" anchor="ctr">
                    <a:solidFill>
                      <a:srgbClr val="E5F1F8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feedback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Ingest application, approval, quoted APR, funding and repayment outcomes by permission.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for outcomes, prevent leakage and test out-of-time loan vintages.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Defensibility</a:t>
                      </a:r>
                    </a:p>
                  </a:txBody>
                  <a:tcPr marL="142875" marR="142875" marT="66675" marB="66675" anchor="ctr">
                    <a:solidFill>
                      <a:srgbClr val="E5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 member context, merchant eligibility and proven outcomes to improve ranking.</a:t>
                      </a:r>
                    </a:p>
                  </a:txBody>
                  <a:tcPr marL="142875" marR="142875" marT="66675" marB="66675" anchor="ctr">
                    <a:solidFill>
                      <a:srgbClr val="E5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Benchmark against simple rules. Validate fairness, risk calibration and causal uplift.</a:t>
                      </a:r>
                    </a:p>
                  </a:txBody>
                  <a:tcPr marL="142875" marR="142875" marT="66675" marB="66675" anchor="ctr">
                    <a:solidFill>
                      <a:srgbClr val="E5F1F8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 discipline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Deterministic eligibility, versioned API contracts, explainable assistance and human review.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My experience: auditable rules, integrations, reconciliation and human handoff.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9557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64AC3-222B-4279-9D90-40B23C3C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D0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FFA8B-D461-4C61-9DCA-2C9AB667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 TRACKING &amp; WHAT WINNING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93275-0E42-4D18-96A6-56DB96EE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D0055-5C7C-4566-9088-DA37B2CF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9AAAE-0CD8-4F0B-A30A-F4EC30C5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33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B5FFC-D5B3-49F0-BC39-854FD5AA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Instrumentation connects personalization to economic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8F067-A32C-4B0F-98CB-E5934B9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 shared event contract supports product experiments, merchant reporting and lender feedback without mixing money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53050-9F2B-4549-9239-B803689A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UTM records origin. Signed events prove payable actions. The ledger determines settled utilization and the ROI Dashboard.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1E113-3261-426A-8AF4-5856E19A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group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fields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use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 and profile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member_id, purpose, consent_version, account_coverage, refreshed_at, model_version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Coverage, consent repair, feature validity and explanation traceability.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Loan route and outcome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route_id, lender_id, quote_id, terms, eligibility reason, consented outcome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quality, offer acceptance, approval, pricing and vintage risk comparison.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Commerce and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activation_id, UTM, merchant_order_id, CPA_version, reward_state, amount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BUR, return rates, attribution, operating recovery and merchant incrementality.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and utility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paid_start, renewal, cancellation, waiver_used, incremental_cost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revenue, fee-free usage, service cost, churn and member coverage.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Experiment and identity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assignment, timestamp, channel, consent scope and deduplication keys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Cohort consistency, incremental CAC and auditable holdouts.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8287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5456E1-2A5D-40E7-B15B-F9D2E56F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6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2518F-FE6B-479B-8B26-5854705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USER FLOWS &amp; DATA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33FED-080B-4B40-947D-3290805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D026D-8EF1-4053-894F-98FA56BE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B331D-D92C-4EC0-A129-7A0D0EED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0581D-A85E-4E49-8884-6E1C6598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settlement and reconciliation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A1568-9B72-46B2-B9FC-A284DAE6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CPA is earned only under signed commercial terms. Pending reward, available cash and merchant receivable stay distinct.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04733-09F5-4EFA-B8DA-C40D8DF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Assumption: ≥99% of received events matched within 24 hours. A $1 allowance covers transaction handling and expected loss in the base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F1537-D1F8-41FF-998F-573DB2D5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DD224-C105-4B9C-99AE-01F7B2A2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E9F59-3A32-4294-9082-744D6AAF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Merchant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CB114-B924-422B-BE9E-42EFB77B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 order payload with offer and order IDs.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95BAE-C95E-4576-8593-71281E50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6BCDD-753D-4B5B-B6CB-6876F45E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Validate and deduplicate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F17FB-276F-447A-9248-FCD9E854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Eligibility, order status and idempotency prevent duplicate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C8860-75A0-4C3E-A5F9-36A55B57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F225A-8DF6-40E5-96DF-DAB2797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Pending 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CDD9D-B748-46F8-B66F-2FD4BD5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 review estimate and preserve the original terms.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CD606-4B72-43F1-B130-359D689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4D2C9-39D8-457B-B0A9-7625E51D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Paid and reconciled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FABF7-DFA5-4F17-A237-97BBA107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Confirm destination settlement once. Reconcile receipts and ledger.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A24A6-42A6-4943-8F07-9C61E012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1CCBF-F4BB-4FA9-85FC-45D4541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Available balance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7A8A8-B3BF-4ED8-974B-A50B6A6F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Approved entitlement with funds to cover the payout.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A08B9-B402-40E9-8E93-6A523D1B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7CF2B-47D0-4B94-A532-F0135E9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Approval or reversal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82750-6D9E-4DC3-A2A5-E50B3E4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Return: reverse both entries. Approved: check funding.</a:t>
            </a:r>
          </a:p>
        </p:txBody>
      </p: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669A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FC7B40-EB0E-4E14-8B3D-744E663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69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669A"/>
                </a:solidFill>
                <a:latin typeface="DejaVu Sans"/>
                <a:ea typeface="DejaVu Sans"/>
                <a:cs typeface="DejaVu Sans"/>
              </a:rPr>
              <a:t>Missing event: merchant statement reconciliation plus a member claim. Retry delivery without duplicating the reward.</a:t>
            </a:r>
          </a:p>
        </p:txBody>
      </p:sp>
    </p:spTree>
    <p:extLst>
      <p:ext uri="{BB962C8B-B14F-4D97-AF65-F5344CB8AC3E}">
        <p14:creationId xmlns:p14="http://schemas.microsoft.com/office/powerpoint/2010/main" val="7726299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749B6-1C0E-40A5-A3F8-55FB37F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1A52A-FC34-4EB2-B2E4-16A01E8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93C5A-D161-4750-81FD-A122B8FA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1FC6D-1088-4726-BC5C-5D8E0A8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27FB9-E4A9-497A-8EAB-8E525B59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35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4C860-210E-4DBF-A0D1-42DD434C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base model earns contribution from membership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68AAD-6AF6-4C4A-9FA4-691F6BF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cashback transactions break even, and the base case excludes lending commissions. The subscription must support the recurring service on its 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A89D3-4DDE-4C94-889C-F1A2ED18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Base contribution = $9.40 − $4.00 − $1.50 = $3.90 per active member/month. More orders create member value, not order profit.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3BF86-6EC3-4F02-8E7F-7745EFB3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assumption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and collection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$9.99 billed − $0.10 refunds − $0.49 PG = $9.40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monthly membership receipts before recurring service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CPA and reward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bounty − $30 reward − $1 operations/loss = $0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Hero example: $60 eligible order, 50% reward. Allowance includes expected reversals not recovered.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mix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low, 40% medium, 20% high. Weighted 2/3 orders/month.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Active-member tiers: 1, 2 and 4 approved orders per quarter, respectively.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cost and displacement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$4.00 service + $1.50 foregone legacy contribution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Service: $1.50 delivery/advance risk, $1 data, $0.75 support and $0.75 other benefits.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and retention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 planning CAC, 6% monthly churn, 1% monthly discount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 channels dominate. $145k fixed monthly operating cost stays outside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5020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C2D57-C3EB-4F7B-B4CF-D6AD94DC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39C15-A1BE-481D-8658-EE0E5CEB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C3B14-1F8B-453B-83E8-F65EFE8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D903E-D7BB-44C4-B876-F7468F4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63528-748F-421F-AB80-A379277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36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1901E-478F-44D7-A309-A4D8921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approved order breaks even after the cost allowance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C747B-8298-4A6C-A45D-8ADB215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the entire CPA bounty goes to member cashback and transaction costs. MoneyLion retains no transaction profit in the base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5671B-FB23-4BC1-B63A-67D7DB71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The transaction is a break-even acquisition and activation tool that subsidizes the member’s fee. Only recurring subscription contribution enters LTV.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D763E-7007-40B8-8D51-D0796702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343400"/>
                <a:gridCol w="43434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flow per order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 hero offer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CPA example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purchase amount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CPA collected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reward paid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−$30.00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−$17.00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Operations and expected loss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Transaction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rate / fee coverage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50.0% / 3.00 monthly fees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28.3% / 1.70 monthly fees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5794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5423-4AB9-49B1-BF88-C566EB53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EE9F7-22E9-4649-98DD-34883E84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15DAA-C1D6-4377-8062-B293D46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15F3F-291C-4F24-891C-57D58BA8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2BF62-BC92-493F-82BB-559ED5A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37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A6DA-5C76-4487-AD51-A0E0937D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makes the fee recoverable at explicit purchase thresholds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DC551-E771-4726-BBAC-CFA66B7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$30 settled reward on a needed $60 purchase, compared with a free 3% reward on the same purchase.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523CE-9A12-4565-93D7-FF1C651C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Fee coverage = settled rewards ÷ actual fees paid. The ROI Dashboard separates verified savings from estimated loan-rate differences.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44AA1-B561-4935-A5A7-9170EBD4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Comparison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interpretation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monthly purchase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$30 − $9.99 = $20.01 net cash value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exceeds this month’s fee before other purchase-price differences.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purchase per quarter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$30 − 3 × $9.99 = $0.03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Covers the quarterly fee in cash. This does not cover a free-rewards opportunity cost.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Quarterly value versus free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$30 − $1.80 − $29.97 = −$1.77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order is insufficient to beat the assumed free option over a quarter.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purchases within 90 days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$60 − $29.97 = $30.03 cash value</a:t>
                      </a:r>
                    </a:p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$60 − $3.60 − $29.97 = $26.43 versus free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This is the economic reason to track two bounty transactions. Both must fit existing needs.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Lower-bounty example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$17 rewards − $29.97 = $4.03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transactions alone do not imply a large surplus. Track settled dollars and total prices too.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3459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B69D7-03DC-42B7-A417-7F6D54E1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4B835-332D-4C60-A903-738E4A8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5367B-9B2A-4488-9EE3-2753EB78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11AB3-81E0-4EEF-A113-609046A1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D82C1-A67C-4C0E-87C7-71DCE48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38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10B94-CE41-4FBE-824D-90E9B5E6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value varies by bounty use while order margin stays 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3653D-8824-48C7-A04F-22258787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active members retain the same monthly service cost. Tiers describe purchase frequency, not income. Quarter equals three monthly fees.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69C99-C4B7-4504-B1D8-68323625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This spending mix does not establish BUR90: the north star includes churned starts, while this table describes active-member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0DC6-8602-4134-9ADF-98AE52E1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2381250"/>
                <a:gridCol w="2381250"/>
                <a:gridCol w="2381250"/>
                <a:gridCol w="28289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active member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Medium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 base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 / quarterly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/ 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 / 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Quarterly cashback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$120.00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value after $29.97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versus free 3%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−$1.77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$26.43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$82.83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$26.43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WOW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fit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Thin value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Clearer surplus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real need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Inspect distribution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6896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823F5-A3B9-4FB2-959F-095F2FA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90B5C-EF10-414B-906C-20641C2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D6F89-715C-4345-84C5-5980E2C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D6062-5675-4792-904A-3D08EE72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E7A46-38F4-40B8-AF7C-DFC57AE8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39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6B789-0A92-424A-845A-04ADE18C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membership contribution bridge carries all recurring costs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96145-C5E0-42F6-BBF1-E89A8949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10,000 active paid members for one month. Values in USD thousands. Shopping averages 2/3 approved orders per member.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1C318-E4D4-42F8-AC60-BCFCF06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Accounting: show membership revenue separately from merchant reward cash flows. Finance determines gross-versus-net statutory presentation.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CEE51-6681-43B2-815C-3AB66FE8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2238375"/>
                <a:gridCol w="6400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bridge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 ($k)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Explanation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billed less refunds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$99.9 billed less $1.0 expected refunds.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CPA gross flow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206.7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6,666.7 illustrative orders × $31. This is a pass-through cash flow.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cashback and order allowance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(206.7)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$200.0 rewards plus $6.7 handling/loss allowance. Zero order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 PG and recurring service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(44.9)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$4.9 PG plus $40.0 fee-free utility, data, support and benefits.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Displaced legacy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(15.0)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Foregone existing contribution, separately measured to avoid hiding cannibalization.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/ fixed operating cost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$39.0 / ($145.0)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−$106.0k before acquisition. Lending commissions and interest revenue are excluded.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85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4A6E3-9761-4382-B196-27EC3FF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1868D-998B-4D3B-BE8B-8024F1A2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88993-5D03-4EBD-9FD0-575CB5DA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147F3-278F-46F7-9BDC-B10D4A4B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3B1F3-0051-4839-AABB-B41739F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40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BBA70-8E9C-43CF-AEBF-9D53B0A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Fee-free utility and retention are the main sensitivities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1BFA8-9CAE-4367-A937-F5FB9866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scenarios vary several inputs at once. The $1 transaction allowance fully covers transaction costs only in the base and upside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52653-BB22-4E4A-827D-9FAB2141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Stress contribution = $9.40 − $6.00 − $2.50 + 0.40 × (−$0.50). Pass-through requires cost recovery, not an unfunded promise.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F3DB1-A5D9-4091-8CD5-4C54553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800350"/>
                <a:gridCol w="2800350"/>
                <a:gridCol w="28003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member/month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Stress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Upside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0.667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/ reward per order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/ $17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/ $30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/ $30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transaction cost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service / displacement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$6.00 / $2.50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$4.00 / $1.50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 / $1.00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$0.70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cashback less fee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−$3.19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$10.01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$20.01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Repair cost and fit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Prove renewal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durability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13252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9617F-FC31-49FD-8D35-D6D36641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C4A92-BE8D-4CE5-A81F-93D6018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E6F10-A48B-4550-95ED-300DBF74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A13B5-3452-4688-9B84-15DC70EC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FA6E5-5102-4276-878F-63B741E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41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19EA3-A542-4857-8A1C-458CA58E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Owned distribution makes the pass-through model more viable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65642-C089-4347-8775-3830890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acquisition costs count only incremental paid members. A merchant-funded reward is not also charged to MoneyLion CAC.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489EB-F585-430B-96CB-64742845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Paid media waits for stronger LTV. Assumption: referral K = 0.048. Merchant acquisition spend and WOW acquisition cost remain distinct.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4BB76-736C-48A4-B02F-E982D2F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2381250"/>
                <a:gridCol w="25908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Channel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cost per observed start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share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CAC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 MoneyLion surfaces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 placement, operations and promotion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Qualified personal referral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dual reward + $2 operations + $1 loss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$28.75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media / creators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$48 media + $7 creative and operations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$64.71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channel mix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 owned, 20% referral, 0% paid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Shares of incremental members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$13.75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Planning CAC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Round up for execution uncertainty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input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93916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94487-16F6-41D1-9AA3-2547AADE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3600C-6D44-439C-98CE-2D15AB18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F3115-B210-43BA-B340-85714964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D190B-04C3-4F54-A2B3-CD3E0737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27CD1-93F1-4DED-B6D5-5A56A0FA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42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D497D-BF01-499A-BD85-6FC3C51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Subscription LTV determines affordable acquisition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9155-52F8-4779-A1FA-A808C717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$3.90 contribution per active month, 6% monthly churn, 1% monthly discount and no lending revenue.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C14B-B031-4C01-BCFB-508CFE5A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6% monthly churn implies 83.1% retention after three renewals. BUR90 is the primary product metric, while actual renewal validates LTV.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D3D2F-DE58-48D3-9E8D-3946BF17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328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 and implication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Simple CAC payback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 ÷ 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3.85 months before churn and cash timing.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Survival-adjusted payback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Cumulative contribution: month 4 $14.25, month 5 $17.30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 5 before cash-settlement delays.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discounted LTV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 for t = 0..11: $3.90 × (0.94 / 1.01)^t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$32.50 per acquired member before CAC and fixed cost.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LTV / CAC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$32.50 ÷ $15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2.17× at planning CAC. Owned-only $10 CAC improves the ratio.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 / 20% churn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LTV = $21.51 / $17.61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Ratios fall to 1.43× / 1.17×. Two early purchases must lead to continued renewal.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97235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2A738-CA95-429E-AAD3-91E5BA64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66CD8-497D-416B-818E-03C6661E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D891F-8505-47EC-AD70-2612E803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3CB88-CFE7-45EB-AC01-CDB85A02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74AC6-A341-4BB9-BDEC-BF774BDB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43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2A0BC-0EAD-47DA-86B9-0F33DA9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six-month scale scenario separates fee revenue from reward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1B598-CFEE-4CBB-8270-E0A5C08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expansion after validation. New starts get a full billed month. This scenario is separate from the pilot execution roadmap.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8ED12-DFDE-4650-957E-13EE9EA7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Member-months = prior month × 94% + new starts. Net fees = $9.89/member. CAC totals $180k and fixed cost $870k.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DC33E-95E5-4587-8B8D-5059843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952625"/>
                <a:gridCol w="2333625"/>
                <a:gridCol w="2714625"/>
                <a:gridCol w="2333625"/>
                <a:gridCol w="29241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month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starts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Member-months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fee revenue ($k)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($k)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CAC + fixed ($k)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-147.2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988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9.8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3.9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-153.1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2,529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-159.1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4,777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47.2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18.6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-162.4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7,490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-160.8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11,041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109.2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43.1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-161.9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27,025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267.3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105.4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-944.6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55964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9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07F83-80C4-4312-9352-99FDC1C4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8BC12-8677-4C41-920E-6F21754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UNIT ECONOMICS &amp; FINANCIAL PROJECTIONS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E61CC-9826-48A6-90EA-852594C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59C9C-CB80-4069-9DA2-834E2826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6F734-1B72-435A-A98F-4C95B72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B8EA2-6469-4F7E-AE53-0A4DC97D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Working capital grows even when transaction contribution is 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8C718-5BA7-444D-93CE-A3B70D7B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10,000 active members, 2/3 orders per month, $30 reward, immediate release and a 45-day merchant collection lag.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C9599-E855-4C0A-9599-78DB227A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6637"/>
                </a:solidFill>
                <a:latin typeface="DejaVu Sans"/>
                <a:ea typeface="DejaVu Sans"/>
                <a:cs typeface="DejaVu Sans"/>
              </a:rPr>
              <a:t>Launch assumption: partner lenders retain loan principal risk. Any new MoneyLion lending exposure needs its own loss, funding and capital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4255D-E7A1-4080-A2AD-B52A6AAB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question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Implication</a:t>
                      </a:r>
                    </a:p>
                  </a:txBody>
                  <a:tcPr marL="142875" marR="142875" marT="66675" marB="66675" anchor="ctr">
                    <a:solidFill>
                      <a:srgbClr val="2E6637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cashback liability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10,000 × 2/3 × $30 = $200,000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value creates real cash obligations despite zero order margin.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Early-release exposure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$200,000 × 45/30 = $300,000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prefunding or an approved payout facility must cover the gap.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risk buffer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$300,000 × 20% = $60,000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$360,000 reward-funding envelope. Other cash needs remain separate.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Fixed-cost break-even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$3.90 ≈ 37,180 members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replacement acquisition and reward funding.</a:t>
                      </a:r>
                    </a:p>
                  </a:txBody>
                  <a:tcPr marL="142875" marR="142875" marT="66675" marB="66675" anchor="ctr">
                    <a:solidFill>
                      <a:srgbClr val="E8F3E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Replacement-adjusted threshold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 × $15 = $0.90/member/month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($3.90 − $0.90) ≈ 48,333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Simplified steady-state threshold holding behavior and contribution constant.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28162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69B4DA-9309-48E7-8757-63ADB232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28A38-272B-4F20-B9CF-D6474A4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7E5B6-F094-4140-B648-2ECCD063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CE236-71E8-4511-91D2-0D99311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F87CE-54B1-4A53-8303-4CADB4AD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45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146FF-C525-4CA8-A2A6-D37BCCC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WOW ROI Dashboard makes membership value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520E6-B2F1-4D00-9118-F184C1B1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01. Settled cashback and verified utility savings sit alongside fees. Estimated loan savings remain separate.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1CF5-1D12-4670-A9AD-A8F1A914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Phase 3 retention layer: show settled cashback, verified waived fees and any separately evidenced credit savings without double counting.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A31F2-73D8-4F9C-AEFE-049D25B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8D718-6BD0-4EB1-802A-D57B9727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Settled value this 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8F3F9-DCCE-4983-9015-EC27B8AA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6ABF5-54D7-4ADB-8EB4-46594410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5E9BE-0845-47CC-9FB8-2B8AA64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82F9A-D451-4DDD-AE6A-0B0D792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64F9F-EB5F-46F8-B4EC-78AB1A22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C3DB2-8A4E-46EF-A6AB-FE397DFD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3CAA3-BF3A-4945-B8C2-427B47C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Good morning, Maya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29C8-1A73-446E-AA1D-B3429E6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8484E-BF09-4DC3-B4E4-77536FE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September WOW 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33E4B-0073-4BB7-B0CC-8AAF635B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+$20.01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01E64-9F41-47E4-A8FE-F3001E2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$30 settled rewards − $9.99 fee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4F7E2-84BE-45FF-9BAA-C20F545E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 bounty settled. $30 pending.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6DD00-1973-4B20-9542-609E658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5ADD4-745E-41D7-A0D9-19035686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5D0D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A0410-5FB9-4816-B98F-6D410DF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59240-CD38-48C8-AFD6-4DB0F10F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50% back on eligible $60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D86A8-CE34-4F38-B761-DFC679D4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funded $30 reward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0397C1-791E-4FD0-9870-FCAE9336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92B74-03B6-485B-99B2-351F196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81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offer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492A4-62B1-40A1-99F8-6DE277F3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246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Next charge: $9.99 on 1 Oct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Manage membership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64C3D-BC40-4EEE-B26D-D363BDD9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A3546-0C3E-400E-B6D2-6AC1B711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F2527-6EC8-4B53-BE22-FE73AD93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F1045-C454-4DAA-9BFE-BB8CD868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82FCE-13AF-4FAE-AA77-B400ECC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90B15D-B893-4316-B501-933A906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610BE0-7B0D-4A2A-96B5-92C98BE7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No settled value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1E3AE2-9F54-429B-A460-1A0933C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B51D06-A9D7-46DF-8954-67D1E82F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74F975-2137-4ACA-B810-ED73517B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64F84C-7A27-4324-A205-1502FBCA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622A3F-B125-4C43-8100-EC03F59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F01386-D50D-4538-A4ED-3C16C3C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743F92-30DD-4A2A-86EE-659C190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monthly value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B43323-07CE-46AA-B8D0-3ACE3571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7481E6-1F32-437B-A5F1-4C86860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September value after your fee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901799-EA0E-40FA-9005-25814E59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B45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9B4528"/>
                </a:solidFill>
                <a:latin typeface="DejaVu Sans"/>
                <a:ea typeface="DejaVu Sans"/>
                <a:cs typeface="DejaVu Sans"/>
              </a:rPr>
              <a:t>−$9.99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C2EC96-8EE0-45C5-AF90-6EF2AB9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core reward has settled this cycle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1D63AB-312E-416B-A132-F150FCF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86300"/>
            <a:ext cx="310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95198F-85BE-4DB8-963A-C908EE9D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815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Only shop if you need 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BEAECF-B6CF-4DDB-85E1-64DB60F8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67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 pending reward does not cover your fee.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770A54-D39A-4BA9-8D00-AC68417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4673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5048D7-5C3A-4330-A58C-B3B02112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upcoming offers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19918-1421-46E9-B768-46579AF0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9055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4C5340-A551-428C-9DE9-6212CAF2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Manage membership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99779E-EDE9-4F87-B785-184DF121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3436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earned rewards remain trackable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if you cancel.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A683A6-6BFE-4A9F-BABA-A852E377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045CAF-53F6-472D-BEC2-A698BA34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8562FC-1F51-481D-98F5-3FC917C0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222267-D4A2-424D-86D6-5BC47137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187C55-0D75-4FCE-937D-9808156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F7DA79-0426-433F-960B-EB5BB099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455F08-B600-4E21-905D-FC6784A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Positive fee coverage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49B879-C73C-4641-A8C8-F60F1AD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$30 settled reward covers $9.99 of monthly fees and leaves $20.01 cash value. Pending rewards stay outside this calculation.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8519B2-C92B-4914-9E25-268FDB6F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No settled value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0A9F55-6E5B-4B06-9BE3-D2F9277F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dashboard shows the full fee when no core reward settles. Future offers and credit estimates cannot be booked as earned savings.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07FE06-2A22-468B-BC8F-F66EACBB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Why this design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36A952-2A8A-4764-880D-7AD8D9F4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Members can inspect their first and second bounty, current fee coverage and next charge. The dashboard supports repeat use and voluntary renewal.</a:t>
            </a:r>
          </a:p>
        </p:txBody>
      </p:sp>
    </p:spTree>
    <p:extLst>
      <p:ext uri="{BB962C8B-B14F-4D97-AF65-F5344CB8AC3E}">
        <p14:creationId xmlns:p14="http://schemas.microsoft.com/office/powerpoint/2010/main" val="65117979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F813FB-286C-4E72-9682-13AC54EB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0D508-6F55-4128-BF29-EA30B25D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09F92-F107-42E1-B33C-F0109AD1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81AD9-C2C8-4ACF-93E0-7EA644F3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EB33B-2E5A-48B0-B6B8-B1838A0C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46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E779E-545B-4292-B07D-8121EFF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Offer activation preserves the exact promise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4A99C-2CD1-4ED1-9448-7F283679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02. Eligibility, amount and timing remain attached to the offer version through merchant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60514-1690-4074-B914-F84F3D90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Measure: activated-to-approved orders, missing-order rate and time to the first settled reward.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1E6E-F991-4E17-868E-1C8082C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4CC02-E0CD-44F6-B5B5-B1E0EA25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Offer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A7603-FAB7-4EE2-B6A3-C528B139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68799-1B3E-4087-8128-1BA4728B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A9970-9BD0-48B3-883D-B97BF2B0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91C7B-B2C3-4B59-B593-366D9B66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88508-80CB-42AD-9464-AF66F17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8587D-2F1F-4C73-AC78-DA3C1E5C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5C09C-74DA-4515-8C35-4A95FB3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Review this offer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68FDE-DC0A-492E-8BD1-71A2ACF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BFB64-F3A0-4A18-8F3C-EE3EA34F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5D0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12A14-AD13-4422-BC03-6F8F3170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603ED-9CF4-4CA0-BFE3-52F4E9E0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671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50% cashback: $30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AB5F0-9A76-44C1-B7C6-B03E669D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purchase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F26E7-D057-4659-9EC6-03F8FBD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items only. Taxes and shipping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excluded. Returns reverse cashback.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F83D2-C937-41AB-A865-7D93240B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eligibility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C2956-5197-4280-98E3-5A1AD8A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View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FEFE6-C2E5-4CA4-A36F-0A56D7FC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176B5-8B36-46D2-9461-2B867C61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3EC40F-4CF7-4D98-9042-9544A9B4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38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Up to 30 days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EAC4B-3385-4D1A-BB05-16A8F04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9AA75D-2F5B-4B4C-BEB7-149124C6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Compare the total price before buying.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B87E3-0937-4E61-B5D9-F7912A70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679288-BFEA-446A-BF0B-D8FF5AA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7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Activate and visit merchant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B9A2C2-C563-4DA2-B529-CF5E5072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3105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Offer terms saved when you activate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FA5A7F-338E-4595-B305-924A1AA1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F4F6E8-7969-4C30-85AA-C652A15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3D405-1BE7-4ACD-9871-474E61AC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08A3A7-8A47-406C-BE4B-09B2F8C4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2E3D6F-EBBA-4F64-97A0-4E05E2B4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B4FE41-A9E4-43C0-A0F1-CCB2F89D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1E477D-3E9E-4540-B5E3-820EC8E0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Returned from checkout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737B96-FE0B-40C7-B7C8-8B75E681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7FAD4C-C1B1-4D2D-B2DC-6466013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9B9C4E-7E1B-4B92-A35F-C0B835A7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BB4D56-EF55-4D9E-A009-733691BC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C1ACD-CB53-42C7-AA6A-515C33E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332114-8CA3-413B-8911-A55FE63F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59B155-4289-4308-A78C-8E9A5FB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We tracked your order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DA4C1A-4871-435C-8F92-F34DA05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DC3BD-AB35-4044-B4FC-27F510D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Estimated cashback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A640D6-14BA-414F-BF20-601B8CA9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875268-25BE-49CC-8002-29252DA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 merchant review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B42899-8E42-40FD-9253-4CFE7EB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2A6E96-58C7-4DF8-982F-12262DF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5B1FEE-D987-47DB-AD40-02D5A71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Order reported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212B22-3A3D-46C0-9E67-17184996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Sep, order ending 1842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35F35D-85DC-43BD-A7AB-E77A6BCE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10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9D8E1E-AA14-47B7-82A2-68E94D9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387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1908C7-0885-4BC1-A61B-099FD8F0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911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review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1DEC8D-9205-44DB-80A9-AB83B2F1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102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Expected decision: 24 Oct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A1CC4C-1623-415D-B069-F94144EB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05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6D0F4D-8ECD-4F74-A89C-136828A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340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8888BB-6DFA-4473-A351-8B2F6C65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E9F8AF-1C9B-44D9-86A5-DD9B71E3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055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approval and funding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4FEC32-1FAD-493C-B81C-64B5D35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198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2BBC88-B4CC-40D0-92B9-B12740DD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15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reward details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16691F-8233-475E-8DE6-17EA0278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579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missing? Start a claim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289387-8344-4B84-8ECC-C57EF1E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7189B8-9E71-4AEC-9481-10E2BF2A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130F38-4F22-4C8B-A2CC-5C5E5397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35A044-DA82-4A4A-B615-FC4C4C7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C14756-D363-418B-B29C-A4740C8F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0D0E30-CA5D-423E-92B1-6157AB2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D54C80-519C-4CAF-8740-48365D12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Read and activate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4DCF86-2713-4AF1-A02A-AE215592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selected $60 eligible basket earns an assumed $30. Merchant CPA funds the reward and $1 operating allowance. Eligibility and timing precede activation.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85B77D-F834-4EA4-AB23-A340B936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Return from shopping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7DD5A5-8182-4661-A9FB-F28C954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app shows a reported order and expected review date. It provides a missing-order route when the merchant sends no event.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454D19-3B68-4B73-BFBE-A335B5F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Acceptance criteria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6B15D9-282D-4CD4-90F5-B58B1D0C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Persist activation ID, offer version and merchant order ID. UTM explains campaign origin. A signed order event establishes reward evidence.</a:t>
            </a:r>
          </a:p>
        </p:txBody>
      </p:sp>
    </p:spTree>
    <p:extLst>
      <p:ext uri="{BB962C8B-B14F-4D97-AF65-F5344CB8AC3E}">
        <p14:creationId xmlns:p14="http://schemas.microsoft.com/office/powerpoint/2010/main" val="15535932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629FBF-2A9D-4129-866D-852E3BEF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F3008-023C-4302-9C29-3CBFE95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B080F-D919-46E3-8719-A3E701E0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B94B7-5676-4C2A-9B73-619A754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2EF00-4862-4C62-8C70-A2DDF9E9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47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69CB-C511-4B93-A984-29F67203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Wallet distinguishes pending, available and paid money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9DED-1FEC-4A8C-8169-2433F63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03. A reward detail view explains why money is waiting and which event will release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6C030-77E3-4F4F-977B-84B0F238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Financial link: earlier availability creates working-capital exposure, shown separately from order contribution.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879F0-D04E-4BAB-B296-7C5423A8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5A1CF-0CFE-4778-9675-8A7EC38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Wallet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A7D33-52A8-4282-A808-F5D1C6FB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308A7-DA2B-425D-A96E-B7CB479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F5CF1-A728-4CB6-8920-E23DC41B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2B981-7AA6-4B41-AFEA-7587F8C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90309-A162-4C30-B8D7-32FA3FBC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67F6F-B702-4260-81BD-1AD7942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12BC8-38DC-4478-A276-1A3080B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cashback wallet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17330-FDBD-44AD-8A54-A7811849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8C6CA-9D2A-4F43-885C-BAD3AEBE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D7AAE-8222-4D9D-A38B-A5FABAF0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766A1-24D8-4040-9E4E-F9B6521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$30 pending, $60 paid previously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A8DC2-86C4-40BD-AFA7-741A0633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D19BE-70AC-481F-9EF9-630006EC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Withdraw available cash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F32BE-3C39-45F2-9418-3AA9F06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Blueland, 24 Sep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AE8C7-FEC1-4A15-9291-33398D30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24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BBA64-BDDF-4648-90BD-2D92E27A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EA5A1-ABCC-4443-B5A1-7CC88EB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00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Selected offer, 1 Sep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FE1D4-7F5F-49BD-B5CD-D05BA5FB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80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Available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46C95-F5F2-491D-BEA9-0B98CAA8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67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CE90F3-3B78-4F7A-AACA-8A7F295D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56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Returned 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A67E2-99E3-4B19-B2B0-3363291F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835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Reversed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FF33A-3C1D-45C0-885A-BA387CF4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023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1F204-60E5-4DF7-9BF3-B5F3D9EA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Pending money is under merchant review.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View activity and support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7415F-2554-4926-AB36-76576D55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CF7E6-BCD1-4DD1-8A1D-63516FE8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9BA939-579B-4D62-9B1D-FC3FC361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6EA7B5-C99E-47D0-8EE8-3698448E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AED37-DAC7-4195-B0BF-5D3150DB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9D3A6-163C-4EFC-B304-02489B60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BD3B8A-F8D6-4E6C-8F2E-3516F0B6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Pending detail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F748B-0AAF-46EE-883A-16AF060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0A1A5A-9227-4650-A307-E364B1C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ACF9FA-A403-474C-9427-6CD0D2D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38432B-2F1D-4C64-8BFA-DEEC4AA2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B22F8D-EC08-47AA-838B-C4CC29B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84D3D3-534F-4173-AD7F-1FCF644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5CA2C1-DCF5-4E2E-9535-D4A3155F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Reward details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BDB29B-1F95-43FC-960B-19A2FF30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CA95B0-B45E-4053-9618-152A309D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Blueland, order ending 1842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2FEF17-DBA2-4CF8-BF8A-BE0DB223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AB67FA-FCC4-4776-B5D3-ECAFC18E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Pending, expected review: 24 Oct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9AE900-934E-4219-B9BD-87D3E3C5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4C1061-77A8-4752-9721-0E1315E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339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3EDC7F-E757-4A07-8FB1-0CD5D627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Purchase reported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B4DDD3-3581-47A0-BF66-4BC2D578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053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Sep, eligible amount $60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9435D5-20C0-42A3-8339-DB0E8C8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29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E820D3-CFB7-4B44-A34C-B9B92D1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578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5C9203-85DA-4F65-8F64-E819FC8E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01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Checking the order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52181A-46E3-47E5-9C02-63DC512F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Delivery and return checks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47F59D-1018-4F05-A9EA-D0C1B09E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53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63241E-0291-4805-9F55-87182CC7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816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0ACD58-0390-4FE8-B4BB-A24D5D2B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340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 becomes available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5906FA-0AB4-430A-8373-331FA22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531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notify you when approved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F46E45-7594-40AE-BBA7-E83B2B20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960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FE8972-01A4-48BE-9BE9-07E5C15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912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Report a problem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2661F2-5640-4E5B-8EF1-0B9B9FA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341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Timing follows the merchant’s terms.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A0A1D4D-1336-4428-8A98-766CAD5C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863023-8E5C-4B54-AB5C-AD48BCB2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744692-AEC7-4C65-9F2B-E4118F2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53B5F3-A58D-46CB-8176-03BD4D0A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9AD071-E62E-403C-83F5-7AB2B93E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54C7FB-87C6-4D76-A335-3B88E1D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3F1282-AFF1-4AB2-9A92-2640FC64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Wallet overview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57723A-AE49-4FA9-B3BF-3DE892E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cash has a withdrawal action. Pending cash has an expected review date. Returned orders remain visible with a reason.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3B17C5-DB0F-470E-B4C6-42F32D7C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Pending reward detail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E21E2A-E157-4858-B11C-5E0A81B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timeline distinguishes reporting, merchant review and payout. “Available” appears only after approval and funding coverage.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4FACB3-CFA0-4A90-8BC3-FC549654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Money controls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DD50C1-EA45-4538-8CE7-935E082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An immutable ledger deduplicates merchant events and reconciles approvals and reversals. The $1 operating allowance must cover these transaction costs.</a:t>
            </a:r>
          </a:p>
        </p:txBody>
      </p:sp>
    </p:spTree>
    <p:extLst>
      <p:ext uri="{BB962C8B-B14F-4D97-AF65-F5344CB8AC3E}">
        <p14:creationId xmlns:p14="http://schemas.microsoft.com/office/powerpoint/2010/main" val="433610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218041-7471-4FAF-BD6B-6CD6DF9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CDAE0-7DC8-4FE0-B761-DF4F25BD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28632-AA63-41B9-959B-F354DB0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AF396-3FAA-41A7-890A-EF4FAC9C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210DC-F683-4DD7-89FC-7C22F864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48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ABDFB-0782-4FCD-99E0-42BE5C37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Withdrawal gives a clear destination and recovery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ABF67-81E9-47AA-95B5-7E0788E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04. Review and confirmation screens reduce duplicate withdrawals and uncertainty about arrival.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9B5DF-0483-41A5-BB95-296521C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Assumption: eligible linked-bank payout, $0 member fee and 1-3 business-day estimate, subject to actual provider terms.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C3B06-1C8D-41E3-A35B-DB085501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728D4-96DD-4CD7-965D-842B5C5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Review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739FB-9D62-49EE-93B1-81A15FFA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63885-4B8E-427A-85A9-88F0ABB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61922-8880-47DF-8061-A5FEBC9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AD852-11A2-4630-9152-F487E849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94489-781D-4BF5-85DD-EA7D9C9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6B9E5-DDAC-4A38-8784-15FC01BA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DD41B-FD2E-41A9-85F5-52B39759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 cashback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A527F-D5C4-4159-A7E1-420818D2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ECD1A-2D2B-4B83-8093-0609DDA1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Amount to 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7ABBB-B049-4439-A910-F8DECC30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23D9E-81C5-4BEC-87AE-04D02676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balance: $30.00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63DA3-67C7-4DCB-9786-D1920B3E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Destination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E5FBF-78D8-4EE6-8FFB-9A5BEB0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Bank ••1842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B22A0-CA82-4E69-B461-5374DF5B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D544B-FB55-4401-BC77-747415C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19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fee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E3C42-DE34-43DB-BC1F-38738011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041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$0.00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D77BE2-14EB-4AF8-9537-2A45F737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86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EBF4A1-92CD-48E6-8606-9F008D0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79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Expected arrival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17D51-036A-4CAF-ADF9-54815E3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79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1-3 days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D1B97-F752-4C52-A128-2435376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46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82AA5-ADD0-4102-8C0A-499D9F2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business-day estimate.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Confirm the bank details.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DDEC58-478E-4C92-A491-A17CF5A8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56AE3-3BAC-47E3-8496-1E82D038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35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Confirm withdrawal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0F856-A675-4987-9D7F-60CC86B5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1DCD26-AE10-426A-8F82-5DB691CB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FFB921-3BF0-44DC-880A-4A07B80A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275D96-E809-427C-8E11-A441D182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B2629F-84C6-45B2-AC77-5857E95D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4ED23-6AD1-4181-A05A-065E58F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7814F9-E4FD-4196-9729-542A54B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Confirmation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E17C5E-B56E-4E51-B4BF-DCC0E3B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7024C2-BA73-4E79-A238-6024AE99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FD1113-0177-4A5F-88B5-D80B8E46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8D4BEA-170E-4579-98EF-6C148CBD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B1AA6A-D86E-43A5-B31B-FBEBDD7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C5A47A-25C2-4505-B1DF-46A2CC95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AFF827-23A8-405E-B391-558A54A7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requested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E5CF91-496B-4636-BE9D-E8E5FEC2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A6BDE1-8E9C-4B9E-8114-2552BD8B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 its way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D0A8D5-482D-463A-85ED-5241185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1466B3-8A5C-49F2-A2F2-C564C825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Bank account ending 1842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F64F00-DC86-4BD2-9A5C-E1971BD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958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reference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C58F2E-EECF-4A2F-9008-F4746A81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WOW-1048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CA118C-647D-4AF9-84C9-1B7EF353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625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79F1EE-24C1-4F06-8F38-577B0367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419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status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5964E3-2C59-472C-BD76-C3E38430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1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Processing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73BB5C-F915-46B9-A314-B5C162A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086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2BC062-03F6-4DE3-BCCD-48D721D8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879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balance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AB5EA9-FBC8-4830-94B4-3C13260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79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$0.00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D55E74-E0CE-4E11-890F-E2870BCB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546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91047F-EEC9-4714-B4A2-32E58A44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721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update you when the payout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provider confirms settlement.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9F39AA-772D-49B9-B404-DB17E12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579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C2B195-03EF-408A-9F8E-83E375EA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5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transfer status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C5802E-768A-4E66-903D-21B50DA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960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Need help? Contact support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74FB23-F080-4168-BBAA-BB382016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23648D-ACA9-4B8C-A567-1D180A5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D3AD09-AC83-4469-8285-6463618D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B0BC0F-253D-4736-AB08-38EE8C99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6B1C53-1E64-4A0A-BD33-8E076DFD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57B947-281A-45DA-A0B1-786C228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0DFE66-6C64-4C0A-86B9-3FE88C5A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Review transfer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7D5012-B418-4ECB-94E8-639427D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amount, masked destination, any fee and arrival estimate. Reauthenticate sensitive changes without blocking browsing.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1AEFB4-DDD2-47BE-8528-409657C4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Transfer accepted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183BB8-C03E-413F-B163-42E1C64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Reduce the available balance once. Show a reference, status and support route. Processing does not mean the receiving bank has posted it.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2504E6-8332-4D9F-BC7D-EE51DB82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Failure behavior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BF4D14-8789-46A4-8811-CD0A22C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failed transfer returns money to available only after reconciliation. Reuse the idempotency key on retries. Never ask the user to create another transfer to investigate.</a:t>
            </a:r>
          </a:p>
        </p:txBody>
      </p:sp>
    </p:spTree>
    <p:extLst>
      <p:ext uri="{BB962C8B-B14F-4D97-AF65-F5344CB8AC3E}">
        <p14:creationId xmlns:p14="http://schemas.microsoft.com/office/powerpoint/2010/main" val="36937335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95B610-45F3-404F-99DD-C4A2EFFA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EFBFC-DE45-41DD-B68C-F626FAB2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70F97-B892-4533-B812-C5489289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7F7F-67C9-44D5-859D-4FDD295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C84E3-B2F6-4BA2-8A78-91AE9001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49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2BFAC-800B-49DA-A302-D13BDFD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missing reward becomes a trackable service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223D0-3F21-49D3-A74B-A887758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05. The product acknowledges tracking failures and gives both the member and Operations a recoverable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4764E-7B8F-404B-BD4F-EA2CF04B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Assumption: first response within 2 business days. Track aged claims, confirmed tracking loss and duplicate goodwill.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E707A-31E7-4D60-8736-65AA9AB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17D50-64D6-4116-B6C3-FDD4ACD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Claim 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2982C-234D-48DA-A485-564711EB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764FB-7242-4710-9D60-4B804A7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AFE8D-DAE2-4C2A-8902-F24F63D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63889-3167-4AA9-B08D-408108E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22CF1-D823-4609-9AA3-DC6F12EB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6558E-6B84-48A4-AB38-69192D01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CDEE6-E3D9-4FDD-B0B4-D722FD01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Missing cashback?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C3285-1FF1-4DC5-8BAB-9C1926DE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Merchant and purchase 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85F48-7E59-491A-8EC1-9C42F9E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7A3D7-09D1-472F-A9D1-B1A6A57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Blueland, 24 Sep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6477F2-97CB-4B5D-930E-B440439C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number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8CC54-1A7B-447D-8D8D-1D7870BF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8CD88-BE94-4A77-9F33-1E2AF32B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1842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05237-54AC-4EF7-B70C-E280A0D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purchase amount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D88AA-C077-48C6-B27B-3B60FFF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AEB5F-D814-4077-97BA-F39FF374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$60.00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04665-6043-4511-BF95-38AB0389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Attach receipt. Hide payment-card details</a:t>
            </a:r>
          </a:p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and information we do not need.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E39EE-1167-4703-9638-38C070FC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3C7F0-D46E-4FDC-A439-36AA83BE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1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Submit 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8F055-73A2-49B9-9112-F0079F4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7E6F6-B49C-4A01-B967-BC20211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5F4CCD-6F33-4666-B98F-52D714C2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628BDA-393E-4E63-8592-7827B829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2D1BDE-EEBB-454D-9E16-D46A15F9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5BF8F2-BF9B-4C59-9C2D-76567E69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CCD726-7461-4D12-88BE-3E295960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Case status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C489DF-43A3-44FD-BA4C-BEDC8BB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2330F5-7FF3-44EC-9ACE-D0DD834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C93E60-BCF7-4F5B-A9F1-8996DC55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87C443-F460-48AB-80D2-A4FF185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9193F3-9B24-4727-906A-7CB8119F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44949E-B3AE-4523-A66A-005D4AE4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5C2018-4741-4B8E-9D70-DAA1490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We are investigating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4DBBCC-5A0D-413F-A7BC-3B4886F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C216AB-E79D-40C2-83CE-F7F1D09B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WOW-2042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518AED-8A98-400F-8386-B3EC637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In review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D5E988-2304-4141-895C-4A25AB01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Receipt received on 25 Sep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A5A3EE-01FC-478A-9AEF-20A04A1C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D85D7B-B30B-44B6-9AFD-09B74499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8DA386-A5FA-47CD-9434-3851185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Evidence received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4523CE-AC3F-46C0-936C-69E85374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order and offer are linked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B87550-0A79-4E88-8301-5B5E4F7E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38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0AACE4-5234-432C-AA7A-059AC72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673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9A9C6D-B5E6-4189-94B4-D95A15F7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97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 investigation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7D13D5-2B81-47AE-BB6C-B8F6C87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387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First response within 2 business days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0F3383-DEF5-40AA-BADD-B3F1C98B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6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E017D6-C6B3-4291-9AF2-D9B569DB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912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23F63F-C0E0-4F05-9C44-D908C457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435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Decision and explanation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1F1921-8CD1-4C1F-ADEE-15D49F56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626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Reward or a specific reason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EA48DC-6777-4D83-82DE-7D4D70B9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3055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EAEDB9-4232-44C2-990E-2BB72DC0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00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View case conversation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AFB57A-8A5D-495A-AC00-8AFBD35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437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One case prevents duplicate handling.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7D5EC0-AA54-4583-9011-3BFB389B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25333A-BF60-4DB5-8C5D-F55A3CB3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195511-F8CF-43EE-BFC7-8B0A5B5C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5D8B71-994F-478D-AA82-38AE47CA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E19DA9-28EB-427A-BFFB-B946EC9C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ED5D0B-18A8-4075-82CC-AAD9B707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778F85-378E-4D10-A7E8-DFB17AF3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Submit the minimum proof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DDADF7-4758-4048-BEC0-78DB8EAA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Pre-fill merchant and click date. Ask for order ID, eligible amount and receipt only when needed. Warn users to hide card and sensitive details.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9C6672-A378-48D5-8B3C-C3DBB131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Track the investigation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76DAB0-9E0C-48E3-9709-F7FEA49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case reference, evidence received, next update and a single conversation. Preserve evidence and offer terms after cancellation.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E901E4-5B8F-4BC3-A573-F1959C4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Operations contract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EF9082-7E14-42E5-B9D6-ED1985F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claim ID to activation and order IDs. Search for late events before issuing goodwill. Record disposition so Finance can avoid a duplicate reward.</a:t>
            </a:r>
          </a:p>
        </p:txBody>
      </p:sp>
    </p:spTree>
    <p:extLst>
      <p:ext uri="{BB962C8B-B14F-4D97-AF65-F5344CB8AC3E}">
        <p14:creationId xmlns:p14="http://schemas.microsoft.com/office/powerpoint/2010/main" val="48860086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49C903-30F5-42EF-84EB-0B6474DE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2DB0F-AD00-43D9-8D5D-EF8F8F4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6DD17-C2F2-4ABE-BE58-AA78578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36674-03FE-44D5-A058-FF7A5A1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D5159-CBC3-4F57-BEDF-702B6C6C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50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2735D-B31F-4844-835D-BD7605F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referral dashboard makes qualification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51D8A-820A-4F53-8CF0-3344C1DD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06. Members can see progress and share a personal invitation with the full commercial terms.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BFD0B-86A5-4C52-9BC6-8AB75174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Assumption: $10 per side. Include both rewards, operational cost and fraud loss in incremental referral CAC.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C931D-ED2E-4772-9911-5F7779B8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0CB6C-6E67-4A58-A8E2-5E827F1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Referral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3F65D-65C8-47E2-A906-90C74A18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78966-E0A3-41DB-A4E8-9D15014B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22BFB-2BCA-4907-B1A9-AE7AE081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7DEAA-2F4B-46BD-8A82-EA133A81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0EDB6-E54C-419C-B889-0716AAB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0E6CA-2926-4A0B-906B-B7F34F1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0F87F-0F09-4840-82BF-945F63C4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referral network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4BB8C-6E00-4EC0-A96E-D3CFC40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99901-EF2E-41A3-A5E9-FC2ABFBC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Qualified referral rewards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CFFE6-4C7F-4B14-880D-B031BAD8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$20.00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09C60-0E63-4020-AEF1-2CB8332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qualified friends this month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DF39F-B203-4461-A735-49C92893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of 5 monthly rewards earned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76C4A-EB8D-4975-93B0-40322351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8E423-B542-4E32-95D0-C0046D85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242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2594B-8D9E-46C8-B7DD-3ABBF737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3105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Only approved qualifying activity counts.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A352C-ABD8-43DB-8CE9-300114B5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Sam, joined WOW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281EE-853E-4B5A-A244-B0A84A9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721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In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A7033F-F450-4121-9C43-844B41F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747D9-B5CC-4C5A-AC52-2175D973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27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Alex, qualified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7053E-550A-4DA4-945B-9AB6A007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692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+$10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726FE-A9E5-4063-9BD3-38D476D0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94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54A0AF-78AB-4B07-8EDC-F2A5C72A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34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Jordan, qualified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505785-0984-4032-97C9-8A0AA90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013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+$10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BF6108-5CF3-4D6C-94FB-0BC3C52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01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6850F8-7F1D-47B6-900B-A1CC10DF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722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E2E607-9FE7-4C5A-8DC8-D1D09B28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Invite a friend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193C10-17F0-44DA-B6B5-7F25B2B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08FE6A-1DFC-456F-B375-9EE53DC3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E4858D-33DA-4828-983B-5E938F30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762FD0-EECB-464D-ACA2-EA06FF1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AED98E-FF85-488F-A0F2-8504D2B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3E82DB-2250-471B-89CB-A73BD90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5BBED9-07DF-4895-80E8-5B8063D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Share invitation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04C216-4B28-413D-9C11-56902CA3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6E80DC-57A8-4975-84D4-4A290B6C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5BF9F5-1373-46D4-BD83-F1B8AE7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F56536-ACCC-4654-8B61-41F18FAF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58C19C-24B4-45F6-8D4D-702C79BB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D47752-0FE5-4012-974A-D0B44040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91A58B-AEF7-4950-939F-5B244B6B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Invite a friend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7C7710-7951-463D-8836-68FF4B35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C70848-9C59-4A24-B656-27CBD0A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 get $10. They get $10.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3E3930-3956-4692-ABDF-298155E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paid membership and an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approved eligible purchase.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A2C7AA-53B1-43A1-850A-EDD5F32E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0057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WOW costs $9.99/month until canceled.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Offer rules and exclusions apply.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443A42-7EF2-467C-932B-76701EA1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95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personal referral link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96FDB5-F9D5-4371-8DD0-D6112706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14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FAAD1B-9EED-478E-9FDA-CA73549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00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moneylion.example/r/MAYA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E68F0A-4D54-43BB-8CFF-EF60F779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7626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13859F-9477-44AB-AE8F-9F4E74C4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57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Choose how to share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2FB12B-34D7-450E-9D9D-4A826304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007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6C6514-328F-4E43-9F7E-2A46E94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96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Copy link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D6F2EF-91B0-4495-894B-92E60ED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389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automatic messages or contact upload.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0F6C7D-981D-4ECD-829F-DA22378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A0AE5E-3EE6-40C2-BC69-F92780DD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423D11-8311-492B-AA90-6894F16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3121E5-0FD3-4AB4-BB1A-8E95BEFD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BF5A05-CA1B-4817-849F-01E29BCE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436D35-59CC-4B56-96B4-4420D3A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5589D4-DB44-4126-8407-713EA1A1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Network progress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5D0579-20BA-4C6D-BDA1-7C1FC514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Separate invitations, paid joins and qualified rewards. Show $20 earned from two qualified friends, with one purchase still under review.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524B6A-A10F-401B-8CEB-8399471D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Personal invitation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E9CB44-8B27-49C2-B12B-C5AF186E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share sheet states $10 each, $9.99 monthly price and the required approved purchase. Members choose recipients themselves.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EF0DD1-1FC5-48AA-B2F1-E84EF4FC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Growth controls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1713C1-38D7-4F61-B097-9862E871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contact scraping or automatic mass send. Cap rewards at five qualified friends per month in the pilot. Detect self-referrals and suspicious velocity with an appeal route.</a:t>
            </a:r>
          </a:p>
        </p:txBody>
      </p:sp>
    </p:spTree>
    <p:extLst>
      <p:ext uri="{BB962C8B-B14F-4D97-AF65-F5344CB8AC3E}">
        <p14:creationId xmlns:p14="http://schemas.microsoft.com/office/powerpoint/2010/main" val="101590206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B4C026-BB8E-4026-B1E8-8E71C1B4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F251D-33E1-47AB-ACAA-4619AF6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8EF5-A2A5-45BB-85C0-1E59923B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8FB7D-FD05-4D3B-B08B-89577D31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19BB8-9E50-487B-AE7B-58566DC4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51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D7A71-C6DA-418E-B95E-A2221413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invited friend understands the cost before joining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7BD21-1113-4BF1-B0B9-769C983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07. Referral attribution locks before registration, while the user retains a clear choice to stay free.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D0E0E-4E43-4591-91C2-C4DE1AE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Compare qualified retained members and incremental CAC by invitation context, not raw shares or clicks.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9090A-C048-41A4-B161-09EC56D4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0CD23-C56D-4D4A-B2FA-769BCCFD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Invitation landing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86A45-1B72-4B64-8543-5D6FFEF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B2F96-1C40-4103-AF8E-601D89E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DA9D4-9956-461C-B029-529223A2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39362-F2EF-45A0-9DFA-2CF7040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4026D-6273-401F-A79B-DCE9A28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12FBF-5C31-4CB1-9531-56DAEC34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CE02-5187-4AC3-AE3A-963A817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Maya invited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9A511-C624-4F8A-A4C1-524EDAB4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BE9BB-B1B0-4E9E-B511-8978BC6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Referral benefit for you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32CD0-A8A2-4643-8AD3-40F0CC3F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$10.00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055A5-CC0A-4615-AF5E-DD96AAC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After you meet the offer 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76C35-1834-478F-A439-EA59460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F7754-3707-424C-80EE-FF762529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D4CFE-15D5-455C-AF6D-18EFA382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WOW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C9059-C6CF-42AA-AD9B-6E09B13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Pay $9.99/month until canceled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89D73-5691-4031-841B-A6193370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D8953-68FB-40C4-85B5-60909F1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8FFD7-49C5-4EB5-9031-62B4C3C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816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Make an eligible purchase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3C98F-4075-46B2-AD19-7B46936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006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Choose an offer you already need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9E98EE-F666-4236-B4F7-01ADE7E9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C332A-9415-4D8C-81B2-6DC51CDE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EDCFF-B791-4CC9-979A-943758AC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673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Receive the referral bonus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A09B52-507F-4684-B1CE-45EF69A5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8864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approval and refund checks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1A4E61-FCBD-4CFA-BB94-680EFF8E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055FFA-3137-4F69-9618-53704E45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8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and join WOW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A8071A-A407-4E5C-80DC-0162AAA5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294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Continue with free MoneyLion services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1B4BA9-EA67-4646-8692-9661B2A2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DEA5DF-D33C-4EBB-9DB4-95293BEF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5EFC7E-2191-4945-9B45-3C7508F4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E62C20-37E1-45F8-AB07-3C5C89E8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1778E2-0223-4EC6-8577-664D850F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B0A98-A56B-46C3-8801-7459977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D12239-52D5-4F4A-A1F1-A9853576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Qualification tracker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031531-2759-4408-BCFB-C1F90EB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CC3D64-4087-4062-95AC-944B4E83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4098AC-8E35-444B-A577-5F0FEBF2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9B4342-A2BB-46F6-8167-2B4D04F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B18C3B-C048-4E4A-AB11-713B81B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24C736-6725-471F-B7B3-E0B990A4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D0A910-73B2-4D33-9C32-F4670FE7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referral progress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39CA18-260B-4EAF-AED5-ECBD8251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671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of 3 steps completed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9469B0-6815-4146-AE4A-14036D4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52875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79F42D-D87E-4062-A603-C184A7AD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52875"/>
            <a:ext cx="208045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0EE0FB-37FE-4C8A-A337-89C82F0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148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referral bonus is still pending.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405B60-345B-45A7-82E2-96EA190E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19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F8969C-9B6B-4559-9A14-8AB99450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481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83BD91-C3BC-441C-93A5-B1455E7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005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Invitation accepted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DD8833-4A64-4677-95BE-82A7D32B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96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Maya is your referrer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8754F6-A77C-450F-A09D-C1379D6C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1A7558-6783-41C4-8949-1A4A1F49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815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0A7063-A874-4A7A-83D5-AD8A7864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339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WOW payment received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BBF15B-530C-4F27-BD68-930CD62C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530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$9.99, 24 Sep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1C2478-CDC0-4E6B-8277-FF755CE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486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0A9EFF-56EC-4B0C-8A8E-1AC000EA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149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2D072B-EDA6-424D-868D-B37C76BA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673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Purchase approval pending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9ED64F-C47A-49A8-96DA-C5F0DAE4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update you after review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86A67F-5E82-495E-8318-421A8533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038850"/>
            <a:ext cx="310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63DCAE-CE0F-48C6-ACDB-EB511E5C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341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Both sides receive $10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9DBB50-A62E-4861-BCB8-9DF5A93C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1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Only after all conditions are met.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7EDB84-9E3C-4988-B4E8-DD92F812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783E88-5705-4F29-8BF7-27179BE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6427ED-B8EF-44BA-9158-A56F2E99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B8A62B-10DB-402E-8D6C-B48F0FA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37F989-AD76-4C8E-872B-3B7EA5DD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5BA1E4-8448-481E-84B4-965BCE5D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0B877A5-C98C-484E-A864-C1E2ACA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Landing and enrollment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BE2E1E-3F2A-40AE-915C-0444C99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who invited them, both benefits and qualifying actions. The monthly fee and automatic renewal sit next to the join action.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C0F2F1-54F2-456B-B4CD-541B7AC3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Qualification status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9E4411B-DDAE-40BD-AAD0-70AE76E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subscription payment alone leaves the bonus pending. The first approved eligible purchase and refund checks release qualification.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7BE3BC6-1154-45F2-8B85-2E7E1FC6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Event requirements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9C4D63-C994-4669-862B-73F0399A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signed_token accepted, referral accepted, payment succeeded, order approved and reward available. An ineligible or expired invite receives an explicit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7819457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DE3CA0-434C-46F4-BA3F-895FDC72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85150-62BE-447D-898A-0F4FCF1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F98CD-5C8F-4858-AE60-F603246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95990-B751-42EE-8EAA-5E008E4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D63D4-3949-4802-A9C7-B4FC3F12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52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B6DF0-A4C6-4C31-B3B5-4593E227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private leaderboard rewards useful participation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B3401-0CD5-4AAA-AF39-D96EC2FB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08. Members opt into a savings circle and see a capped campaign with a clear end 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CBF27-9D6C-4386-B959-1ED6083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Assumption: the sample leaderboard carries no extra cash prize. Any funded milestone enters the acquisition budget.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0B54-34AA-4C2F-902E-1FFAA524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C8E6E-781A-4BC8-B673-B4687FAF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Private circle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57B16-204C-4C0E-9D1C-A9CC8F0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D4E99-F1C4-4BC9-8A76-55052580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9AA6C-504F-4E43-9BDA-F24BB42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784C2-398A-4FEA-A8DD-D92FB67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F979D-5C5E-4C26-BC68-6E1E0F1D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285BD-3642-4BDD-9AE3-68085CB4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9183A-5ABF-4FA0-BC89-1DB64F9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Neighborhood savers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BA17C-0F9A-4657-97AA-35AC50FE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Private circle. Nicknames only.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Ranking uses qualified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2FEA5-EC4A-405E-B947-4C8ED6EF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  Maya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4AD32-7190-43C3-A725-852F152F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243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A44EE-68BF-4968-BA44-27031C3B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FADF8-92D1-4168-9802-3A8AEFD1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99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 Jordan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31A99-3135-4365-8987-81725C4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799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9CF80-8D07-4E5B-A74F-5107EBF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66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3D0BB-14AA-4BB2-A1F5-2FDCC4B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55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3  You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6CF1C-5C6E-488F-A4C9-D47DFAC4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8355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1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03376-C839-48C3-9891-C32A910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22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72090-2F90-4A10-8B07-A127118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progress: 1 of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C3D9B4-917B-4BD7-9B6A-0F05D16B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BED08-6863-4F6C-8D6A-483934A2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1024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47279-4FE7-439A-9935-A38A328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3105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extra cash prize in this example.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07177D-2FA1-437A-8E38-7D616362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68C565-1426-4077-8030-921F1586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29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qualifying actions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1E469F-FC49-48B8-97F4-D0FD403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722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Hide ranking    Leave circle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7ADC67-A59C-4372-9368-BE7BEB3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79C7D-7439-4CDB-81AC-44EF515F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16518-F1E4-4EFA-BF8D-8D19607B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2F880-E6D8-4957-9312-20EAA41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665E10-3824-450F-8A1C-40B5242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57F649-C3B1-4A17-920F-11F6331E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7CEC58-A5FB-418A-8351-AE3F5A6F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Milestone details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016649-5248-4043-9394-0483B0E7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9E4063-8BA1-4828-B2AC-B9B3684D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0EFE70-6E5C-4A9A-9B38-48B0EC5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3DBEF5-3F1D-49A5-BCD7-54707A80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986D57-CC10-412B-977F-3B7A2E6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D33F3A-5DF7-4D72-B37E-87F45CC7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CD7996-5E23-4B76-A2FE-1A9B6B18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Useful actions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1E3BB0-877C-47C5-8D89-E6CC12AF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0FCCE2-69F8-4698-A125-B98623F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Understand your cashback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B8D148-D18C-41FB-9479-C91422A0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Read offer conditions and complete a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short comprehension check.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C21B76-C8B9-4C7A-9A86-1B36C9D5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48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F09163-5D54-4730-BEEA-FF699C63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767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6A1A7A-0A05-44B3-80D8-9EDAC515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Read the offer rules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329374-DEAC-4CB7-90D2-CB5B29D9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482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Know what earns a reward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912394-02B8-4633-9CB9-81DA424C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53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3301C1-C339-42B9-B8C1-74C1631C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816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FEA479-6D4E-4E55-A56D-EC54929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339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your understanding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529854-7A6F-447E-88EC-9F01227D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530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purchase required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2BA1A2-0CF3-46CA-B333-EEBA4C68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57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1EFBBF-D319-4370-8863-4D93C6F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6864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738299-43F1-4D29-8BE2-E97E3A4C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388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Progress updates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C43BD6-58DE-4E08-9995-307ADC81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578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Fixed rules through 31 Oct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B93CB3-661B-452A-9CE5-414CB203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817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0DA55A-0847-4C08-B665-BCC7991C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769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the offer rules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070ED4-DEA0-4080-AFF9-E3ADA031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198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Participation is optional.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91140C-ED1F-4949-81C7-2A26555B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D392BC-B0A8-4A3F-8C7F-00666D24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89DC5E-148B-4F2F-8B40-9507C781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D67DF9-05BE-45C4-AE92-77A82101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B56FB7-2BCB-488E-AB45-3870E8E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68C7E3-1950-464E-AC5B-D16040C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F9BF1E-3FC1-46A6-906A-5750FD8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Circle progress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1B7792-79BF-4A6E-9281-B7FFA7B2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 chosen nicknames and qualified helpful actions. Hide balances, credit scores, income and purchase totals. Provide Leave circle on the same screen.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291336-136F-48F9-A373-0D3CA1D3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Milestone explanation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D653DC-4883-49FC-AF4E-EBFABFC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qualifying action, fixed reward pool and remaining funding. Closing a full campaign stops new entries without changing earned obligations.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5E0AB6-1FB7-4A1D-8EC2-2823D707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Measurement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55B415-C5E3-4945-96DE-157767C9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Run separately from the package experiment. Compare qualified retained use and cost per incremental member. Monitor spam and opt-outs.</a:t>
            </a:r>
          </a:p>
        </p:txBody>
      </p:sp>
    </p:spTree>
    <p:extLst>
      <p:ext uri="{BB962C8B-B14F-4D97-AF65-F5344CB8AC3E}">
        <p14:creationId xmlns:p14="http://schemas.microsoft.com/office/powerpoint/2010/main" val="126044112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58EC80-BC2C-4F22-9174-3B0D5FB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72DF8-431A-49B0-B089-9C70442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8AB6C-D02C-41B6-9496-07FCD83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382F2-191F-47D5-BE91-B211056D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D9369-7115-4DD3-8931-402FD534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53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578D7-BDC1-476D-A576-0AD6CA6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Credit consent leads directly to personalized loan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2943F-4C23-416F-8A67-C47594D2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09. A scoped bank connection builds the cash-flow profile used for lender matching and current price requests.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75EC2-6105-4C09-80AD-CE24B3C1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My delivery approach: deterministic eligibility, reliable APIs, clear explanations and an auditable human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9F281-3B9F-4B55-A31D-C3B12780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96949-3D90-4C82-AD22-A5BCF2F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Cash-flow consent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F54E6-3E58-4AD1-8268-2A026DF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EEA5F-0899-4341-9A57-36BFB62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D9EDC-4F49-4E96-B218-52560BF7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6967E-1877-41AE-B70B-8434576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96336-E534-4EA8-9966-3078AE1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B0463-7CC0-4E74-BFF4-CFF6E81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D7595-3694-41CD-AD23-37CCEC7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Connect for better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38039-99E3-497C-937A-2E160683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Use income, bills and spending data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to match participating lenders.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B7B64-D1B1-46F1-B5EE-462BD89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5BA91-1DFA-4C13-92FF-C0308BAC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Profile-Based Loan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B9CE8-6C7B-4A45-9792-588031C2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Read-only account access.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authority to move your money.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6F52B-1E96-4B33-B56E-EC590A85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Review the data and sharing purpose.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Disconnect in Settings at any time.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F03D5-BCDB-4390-A4E9-5975D683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7283C-431B-4129-99A0-A0C66437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Continue with [Plaid logo]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48458-1A79-4329-BBEE-347677E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FC6E7-8295-4B63-8D9C-B427A375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24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See standard options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D4493-3791-4853-AF1C-365EC09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674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feature.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D45BB2-36B7-4088-85FE-F84B0C6A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560CF-3F05-45E0-9C65-DF36BDA4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5127C-E89D-4BF3-A654-0F33F5C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04589-8E75-4B66-A100-3A11F205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48751-56C2-4D39-9001-2A687912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D3BE7-7F16-4B8E-8F3F-E1812AE7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CE2B2C-1D07-44D7-85FE-471EA6AC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Lender-priced option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392190-6FC8-4107-B044-E71D143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85097-9F6D-42E3-A2F8-48393D08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79661-2812-459A-8976-8429669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090856-FE0B-4455-9026-DE3BFCDC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815A13-877D-47BE-A039-EFA16346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AD3041-8CF0-4EE7-8D6B-B7EAF343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DA2D4-BBCD-4D0F-8127-A3491CB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matched option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F2C838-44E1-4249-AE55-2026D2E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FDD79F-587A-44C8-9A7D-9537F169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Illustrative lender quote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4E32BE-3776-42A6-9C99-2CB91EA2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$2,000 at 18% APR, 12 months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About $183.36/month, no fee.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E8ADE4-93DE-4A81-B2FF-2B76AFEE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00575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Why matched: income cadence and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residual cash fit lender criteria.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6C894F-108E-4C48-89BD-FDE45AE1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863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Profile refreshed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DB6C00-B468-4EFA-AFB7-5508349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Today, 09:10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3DB0DC-0F72-4DD8-A534-7261121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530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3B32EE-CA1E-4D2F-859D-F3BF3A9A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434013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Quote expires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A1A997-26F2-4582-84A4-E1E819C3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34013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Today, 18:00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37852B-BFB5-4184-85B8-DC3389C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00713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FCF510-8C56-4F92-BE07-2CE4C0B4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8197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CC82E2-14A2-4166-BEF8-8302131D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15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lender terms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418F7A-4C37-416E-999C-EC52AAA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257925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Subject to lender approval.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Compare total cost before applying.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895589-5F7A-4DA0-9EB6-49F40973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390C9D-B58F-41FB-94F8-B406988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AD4393-6E0D-4BE9-A693-FAAC8FD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520A36-958B-4BCE-B95C-E9493C74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2B9319-E1FF-44E4-8EAF-6313CB43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649C8A-0EF2-4AFB-A756-1E80BF6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9316B1-842D-4F4B-9A3B-3FF8F86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A. Purpose-specific connection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041609-5A82-4829-ABDF-4523AF93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 sees what data powers income, obligation and velocity analysis, which lender matching it enables, and how to disconnect.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656F4C-ED91-43B9-ADF2-18834388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B. Profile-Based Loan Routing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BD1F34-890B-4B23-BE7D-358E3C4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an illustrative lender quote with amount, APR, term and payment. Explain why the option matches and when the data and quote were refreshed.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B4D685-FB5E-4221-855B-2483064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Data and pricing controls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13A62E-0D63-40C1-B421-C173FCEA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 lender-approved affordability rules and returned terms. A stale feed triggers refresh. Lenders own approval and pricing, with a clear application handoff.</a:t>
            </a:r>
          </a:p>
        </p:txBody>
      </p:sp>
    </p:spTree>
    <p:extLst>
      <p:ext uri="{BB962C8B-B14F-4D97-AF65-F5344CB8AC3E}">
        <p14:creationId xmlns:p14="http://schemas.microsoft.com/office/powerpoint/2010/main" val="106644150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A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FF8EF9-E717-4BF6-8E3A-E2214E78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D2275-CE79-44C1-B1C3-344EEB8F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WIREFRAMES &amp; APPLICATION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31C46-EC49-462A-A32A-CCF7FEBF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31D0E-4F60-4428-862D-33C13460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9739E-51BA-41FC-946A-8AF1014C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9ABE-95C1-4E03-B21B-0A9DA873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merchant console monitors pass-through funding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76460-2C76-4B87-AC71-4D6265EC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10. Partnerships and Finance monitor member rewards, cost recovery and merchant return across the first 50 brands.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C5F03-5BA8-481C-A2D3-E82CAA6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Merchant ROI = (incremental customer contribution before acquisition − CPA spend) ÷ CPA spend, within a stated observation window.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09548-C2BB-4B19-BFD6-02B3E26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BC3DC-4624-4299-8D9F-B3775714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895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EB1C9-BC65-4D5C-8F22-C45958E5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1BB41-6E47-4D9C-A111-514EFD3F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logo]   Partner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5D1A0-6936-472D-B105-809419D6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Finance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AFE9F-5F09-4991-87F3-626FDBFC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824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CPA and reward operations, 24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92E05-8F22-472C-8E50-67865C25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1368A-58E5-4698-8B4E-81BD844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Funded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24320-AB46-433D-80FA-5C2327E1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$42,000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6B64A-A8BD-4CB0-87FB-DA8A56FE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2E790-1A09-4B74-802E-F5C3BD7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Payable rewards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CD4FE-B914-44AB-84D6-70C6CDDB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$18,200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ED1B3-738E-470D-9B47-DA90F017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46712-6C0C-44DD-9DF6-32855A37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Tracking matched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5B7D7-6EB8-46E9-B640-5A26261B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98.7%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78BCF-F390-4C2B-91F8-57C0489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BEE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B2428-F4D7-417C-B59A-791D6935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Open claims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887EC-CF1B-43A4-B441-5DDBBD56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838200" y="4791075"/>
          <a:ext xmlns:a="http://schemas.openxmlformats.org/drawingml/2006/main" cx="8572500" cy="1581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143125"/>
                <a:gridCol w="1714500"/>
                <a:gridCol w="2190750"/>
              </a:tblGrid>
              <a:tr h="352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</a:t>
                      </a:r>
                    </a:p>
                  </a:txBody>
                  <a:tcPr marL="142875" marR="142875" marT="66675" marB="66675" anchor="ctr">
                    <a:solidFill>
                      <a:srgbClr val="4052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/ reward</a:t>
                      </a:r>
                    </a:p>
                  </a:txBody>
                  <a:tcPr marL="142875" marR="142875" marT="66675" marB="66675" anchor="ctr">
                    <a:solidFill>
                      <a:srgbClr val="4052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 cover</a:t>
                      </a:r>
                    </a:p>
                  </a:txBody>
                  <a:tcPr marL="142875" marR="142875" marT="66675" marB="66675" anchor="ctr">
                    <a:solidFill>
                      <a:srgbClr val="40529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</a:t>
                      </a:r>
                    </a:p>
                  </a:txBody>
                  <a:tcPr marL="142875" marR="142875" marT="66675" marB="66675" anchor="ctr">
                    <a:solidFill>
                      <a:srgbClr val="40529C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[Blueland logo]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/ $30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[Allbirds logo]</a:t>
                      </a:r>
                    </a:p>
                  </a:txBody>
                  <a:tcPr marL="142875" marR="142875" marT="66675" marB="66675" anchor="ctr">
                    <a:solidFill>
                      <a:srgbClr val="EBEE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$41 / $40</a:t>
                      </a:r>
                    </a:p>
                  </a:txBody>
                  <a:tcPr marL="142875" marR="142875" marT="66675" marB="66675" anchor="ctr">
                    <a:solidFill>
                      <a:srgbClr val="EBEE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EBEE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 budget</a:t>
                      </a:r>
                    </a:p>
                  </a:txBody>
                  <a:tcPr marL="142875" marR="142875" marT="66675" marB="66675" anchor="ctr">
                    <a:solidFill>
                      <a:srgbClr val="EBEEF9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[Bombas logo]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/ $17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low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9316DC-C02E-4C8D-BEC0-0473809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81775"/>
            <a:ext cx="8467725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B67CB-4106-4A16-BFDE-18B0709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05600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43E2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43E23"/>
                </a:solidFill>
                <a:latin typeface="DejaVu Sans"/>
                <a:ea typeface="DejaVu Sans"/>
                <a:cs typeface="DejaVu Sans"/>
              </a:rPr>
              <a:t>Alert: unmatched approvals exceed 1%. Owner: Finance Ops. Reconcile before payout.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F3DD2-7DB9-4770-8373-5220B564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62225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Business monitoring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ED6ED-C7EC-4593-B4A3-AAE5086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each bounty, reward and operating allowance. A shortfall blocks new activations while approved obligations remain payable.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F7AFB-7193-4B2D-884B-E1B1E2DD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2900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Partnership accountability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F1B591-BB30-4563-A6CD-E5908BC9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33900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merchant incremental CAC, repeat supply and budget renewal. One successful welcome campaign cannot establish lasting supply.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19DAC-AFC0-439A-B7AF-F212F85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43575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0529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40529C"/>
                </a:solidFill>
                <a:latin typeface="DejaVu Sans"/>
                <a:ea typeface="DejaVu Sans"/>
                <a:cs typeface="DejaVu Sans"/>
              </a:rPr>
              <a:t>Access and controls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DE02AD-B64C-4D17-885F-EDB1D2C1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24575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Version terms and require dual approval for financial changes. Reconcile reward liabilities daily and keep partner-level pause controls.</a:t>
            </a:r>
          </a:p>
        </p:txBody>
      </p:sp>
    </p:spTree>
    <p:extLst>
      <p:ext uri="{BB962C8B-B14F-4D97-AF65-F5344CB8AC3E}">
        <p14:creationId xmlns:p14="http://schemas.microsoft.com/office/powerpoint/2010/main" val="45217583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6A983-B350-427F-8048-2ABA848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AE1B2-6419-461C-9B33-4B4F03F4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GO-TO-MARKET &amp; SIX-MONTH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649F5-0CD4-4E30-896E-8771F26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381B2-6809-4847-B14D-7117C68F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F03EB-569D-48E3-B980-B28CE051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55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92B1B-A175-4677-8FC3-551F61DA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Market readiness requires useful credit and funded shopping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710D7-5C7F-48CE-B992-5D5A1D53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begin with existing MoneyLion audiences and partner coverage that can support the full proposition.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D2C2D-2543-4A18-8DEF-E8898AB9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Positioning: merchant-funded cashback plus cash-flow-aware credit utility. Borrowing remains optional and never qualifies a shopping reward.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46B0B-4613-4D9D-B942-8D192E61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Readiness question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evidence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users grant useful consent?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data purposes, lender matching and revocation in persona interviews and task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Comprehension and completed usable profiles, without forcing data permission to browse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members need the offers?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planned categories to eligible live merchants and compare total prices.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Enough distinct relevant offers for two legitimate D2C transactions within 90 days.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merchants fund the rate?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 CPA, attribution, return and funding terms with real design partners.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Funded 50% offers, verified customer eligibility and a credible next-cycle supply pipeline.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lending partners deliver?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quote APIs, credit-data usage, risk ownership and outcome sharing.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Suitable lender responses, reason codes and benchmarked credit outcomes.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the fee waiver hold?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Turbo use, incremental cost and displaced revenue by segment.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contribution covers the promised benefit under stress.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45286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DC54B-6C60-43EC-9706-B99407F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53C9E-F2D8-4740-9447-609C4F3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GO-TO-MARKET &amp; SIX-MONTH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16D78-A313-452A-ADCA-2285B9F1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0128F-7AA9-4661-8D6E-7508B820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8B52E-61F0-4277-8477-C6D26E6D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56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D9215-5D66-41F5-AB01-D7994939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six-month roadmap follows utility, monetization and retention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8C53E-3FB1-4BB2-9F82-956CCA10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existing platform services and partner contracts support this timetable. Lender feedback and supply readiness determine the release gates.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E6F89-7C26-4357-833D-7E710EA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Phase 3 earns retention through visible ROI and personalization. Daily visits are optional. Useful decisions and repeat value are the 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F251B-A4D1-4689-9738-6624167D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858000"/>
                <a:gridCol w="51625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gate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 consent, cash-flow features, card matching and lender quote contracts.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quality, explanations and lending-risk ownership.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Utility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loan routing and zero-fee Instacash. Integrate 10 D2C design partners.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Usable profiles, suitable quotes and waiver funding.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CPA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CPA marketplace, target 25 brands and start the cohort test by day 75.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CPAs, funded rewards and correct settlement.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CPA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brands. Referral and gamification tests.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Coverage, returns and cost recovery.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ROI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WOW ROI Dashboard and second-bounty reminders. Prepare creator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Visible fee coverage and protected experiment integrity.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Expand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D90 matures near day 165. Review category and regional expansion.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BUR90 plus renewal, credit and contribution guardrails.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1118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4CE86-1469-4D49-BAD7-79ADFB5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61EFD-5E1E-4952-AA30-2B998F04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GO-TO-MARKET &amp; SIX-MONTH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E3B7F-E0F7-43DA-92FF-A5EA6B4D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4C355-E9C6-4311-A555-CB53C84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2A7D8-44BF-479F-99F3-756B11F9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57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2B9F2-ED40-4071-A890-5295139D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Funding follows capability and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32BBB-1D47-496D-BE78-B18AD30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12 core roles plus shared Risk/Finance support. Fully allocated steady run cost is $145k/month.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B400D-264E-4F27-BE82-B7BF71A1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Assumption: shared underwriting expertise and platform reuse fit the $980k pilot envelope. Extra lender build costs trigger a revised funding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2590D-EC6F-4831-88CB-982D0D25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477000"/>
                <a:gridCol w="4495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Allocation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or capacity assumption</a:t>
                      </a:r>
                    </a:p>
                  </a:txBody>
                  <a:tcPr marL="142875" marR="142875" marT="66675" marB="66675" anchor="ctr">
                    <a:solidFill>
                      <a:srgbClr val="A4452A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delivery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PM, 1 designer, 4 engineers and 1 data specialist.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cash-flow profiles, lender APIs, reward ledger, consent and measurement.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execution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partnership specialists and 2 operations specialists.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Acquire 50-brand supply, manage lender relationships, reconcile rewards and renew commercial terms.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control functions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lender-model Risk, Security, Legal and Finance decision owners.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Included in the planning cost envelope. Validate actual availability.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 1: month 1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$160k for baseline, discovery and commercial validation.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first. Stop if relevant funded supply is not credible.</a:t>
                      </a:r>
                    </a:p>
                  </a:txBody>
                  <a:tcPr marL="142875" marR="142875" marT="66675" marB="66675" anchor="ctr">
                    <a:solidFill>
                      <a:srgbClr val="FBECE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Tranches 2 and 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$320k for months 2-3, then $500k for months 4-6.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$980k: $870k run cost + $110k pilot/tooling contingency.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9002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A3E40-5F7E-4633-8A0A-801FD1E8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B48F1-771A-4FFA-8A43-6EF3083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GO-TO-MARKET &amp; SIX-MONTH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767FF-7FFA-45D6-AE47-50B25F0A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C0875-4FE1-4B4E-997A-1449212E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B86E3-2573-4396-B904-B62AFD3F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58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4B8CF-E5E4-4DD6-8350-937E22F1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Retargeting advances utility and the second bounty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CA6AF-18BB-44A5-B59A-2EF10CB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Permissioned lifecycle messages respond to the member’s profile, shopping eligibility and reward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95C48-25BB-42C7-8A50-8009E503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Measure incremental BUR90 and renewal against a holdout. Suppress loan or shopping prompts when consent, suitability or support status makes them inappropriate.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98188-508B-47DC-A91E-16DF7D15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99D60-F392-4CB1-84B3-24E7BF8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F49CE-26B9-4CF5-8FAF-5187B011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Member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E9C6A-ADE8-4D2F-84C7-22980BA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800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Read profile, bounty, billing and consent events before each send.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423CF-6F86-4CD5-B2D6-1DEB5EAA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28D8F-4C90-4391-B534-19BAD3E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Profile incomplete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8BFEC-0E4D-40FD-BEA0-F1A3A15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718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help repairs consent or missing data. Explain the utility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2741A-F120-4E2C-9ACE-1D84CD62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4795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03D9D-5771-4819-B4DC-C147A05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9082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First bounty settled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98F5E-38FA-4556-B5C5-59204B08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718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Optional email or push for a different eligible brand in a needed category.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05786-DD41-49BA-862D-D14FED43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356AE-39FB-49FB-B88F-F9BE69C5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5297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Pending reward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A92D1-DC6A-4C5E-BBB2-35624F1B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339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status, optional push for delays. Suppress purchase promotions.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30934-2917-4B98-B98E-1A864C2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1010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A7356-161E-42A3-8143-741C2A14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5297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Before renewal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423F5-3465-4ECE-92FB-014E3A0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1339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ROI statement: bounty count, fee coverage, next charge and membership controls.</a:t>
            </a:r>
          </a:p>
        </p:txBody>
      </p: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752850" y="3314700"/>
            <a:ext cx="120015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A4452A"/>
            </a:solidFill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752850" y="4333875"/>
            <a:ext cx="1200150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A4452A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752850" y="3314700"/>
            <a:ext cx="6296025" cy="1019175"/>
          </a:xfrm>
          <a:prstGeom xmlns:a="http://schemas.openxmlformats.org/drawingml/2006/main" prst="bentConnector3">
            <a:avLst>
              <a:gd name="adj1" fmla="val 96369"/>
            </a:avLst>
          </a:prstGeom>
          <a:ln xmlns:a="http://schemas.openxmlformats.org/drawingml/2006/main" w="28575">
            <a:solidFill>
              <a:srgbClr val="A4452A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752850" y="4333875"/>
            <a:ext cx="6296025" cy="942975"/>
          </a:xfrm>
          <a:prstGeom xmlns:a="http://schemas.openxmlformats.org/drawingml/2006/main" prst="bentConnector3">
            <a:avLst>
              <a:gd name="adj1" fmla="val 96369"/>
            </a:avLst>
          </a:prstGeom>
          <a:ln xmlns:a="http://schemas.openxmlformats.org/drawingml/2006/main" w="28575">
            <a:solidFill>
              <a:srgbClr val="A4452A"/>
            </a:solidFill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5B382-362F-45DD-9DB0-AEAED71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4452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4452A"/>
                </a:solidFill>
                <a:latin typeface="DejaVu Sans"/>
                <a:ea typeface="DejaVu Sans"/>
                <a:cs typeface="DejaVu Sans"/>
              </a:rPr>
              <a:t>Route to the applicable message for the member’s current state. Re-check consent before sending.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99177-FF5A-4803-963B-D82F9FC4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43700"/>
            <a:ext cx="13868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7E7D3F-D781-4A40-84CB-FAEA5455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829425"/>
            <a:ext cx="1354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3E2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43E23"/>
                </a:solidFill>
                <a:latin typeface="DejaVu Sans"/>
                <a:ea typeface="DejaVu Sans"/>
                <a:cs typeface="DejaVu Sans"/>
              </a:rPr>
              <a:t>Global suppression: opt-out, complaint or weak fit. Assumption: at most two promotional contacts weekly.</a:t>
            </a:r>
          </a:p>
        </p:txBody>
      </p:sp>
    </p:spTree>
    <p:extLst>
      <p:ext uri="{BB962C8B-B14F-4D97-AF65-F5344CB8AC3E}">
        <p14:creationId xmlns:p14="http://schemas.microsoft.com/office/powerpoint/2010/main" val="7048758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3F7F3-EAF2-4F68-9A3D-B7FE59B3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D0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117A9-B6A5-4295-8910-D34297E7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 TRACKING &amp; WHAT WINNING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B5FB5-C665-4326-BA12-90C3C62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B8D60-43E1-47A1-A8D8-13E4D77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CE6D4-B67D-481F-95E3-A20674BD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59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CCCCC-89C7-499A-A509-D8999F4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5,000-signup spike gives way to a utilization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42C03-D0AB-43F3-9CBA-0984E61F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fact: 5,000 launch-week signups, followed by volatile weeks. Assumption: the cohort sizes and utilization curves below are illustrative.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2E0A5-9092-4861-B953-77F0316D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Signups measure acquisition. Bounty Utilization Rate measures repeated realization of the core commerce promise.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F9A0D-E222-4B5A-95BB-9313F357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 Chart data are assumptions, not observed MoneyLion results.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714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1b5e03e81c4b14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96460-B6EA-4A97-88ED-C291081F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Compare mature cohorts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7A0F2-0470-40B6-B39F-EFF5A276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If 5,000 signups become paid starts, 25% BUR90 means 1,250 members execute two settled transactions. A later 3,000-start cohort at 60% produces 1,800.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8F18B-1BF7-425D-A5F3-B1E0617E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Diagnose the mechanism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DAC54-28B7-439C-8D31-FF768733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funded supply, profile activation, first-bounty approval and second-bounty completion at equal tenure. Separate channel mix from product effects.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C0F6D-A869-48E3-B4FF-FAC9336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Read the full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F38D6-38E9-4081-8182-87F5B488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chart shows members with at least two settled transactions by each checkpoint. Track fee coverage, renewal and contribution to test whether use becomes a durable business.</a:t>
            </a:r>
          </a:p>
        </p:txBody>
      </p:sp>
    </p:spTree>
    <p:extLst>
      <p:ext uri="{BB962C8B-B14F-4D97-AF65-F5344CB8AC3E}">
        <p14:creationId xmlns:p14="http://schemas.microsoft.com/office/powerpoint/2010/main" val="121819410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A402E-ABB4-4548-A2D7-0A206C3D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D0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B6EF1-4C6A-40CE-8962-CBEA66C7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METRICS TRACKING &amp; WHAT WINNING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41004-E652-4626-B849-835DD33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76014-8641-4592-BF92-A3D49D26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213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E4583-B758-406D-A26B-003EB42B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09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60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BA863-D4A1-4A83-9874-64CFAF9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Bounty Utilization Rate leads the scale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978F9-9350-41CF-B10D-DAF0E164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primary scale criterion is the share of a WOW cohort that executes at least two qualifying D2C Mega-Cashback transactions within 90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84088-F390-41C1-AE8A-D0E0F70F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A4D08"/>
                </a:solidFill>
                <a:latin typeface="DejaVu Sans"/>
                <a:ea typeface="DejaVu Sans"/>
                <a:cs typeface="DejaVu Sans"/>
              </a:rPr>
              <a:t>Leadership ask: fund Phase 1 utility, secure lender participation and the first 10 CPA partners, then scale toward 50 brands on measured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65E45-CAEF-4C81-8F72-DF6BE17E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evidence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threshold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leadership interprets it</a:t>
                      </a:r>
                    </a:p>
                  </a:txBody>
                  <a:tcPr marL="142875" marR="142875" marT="66675" marB="66675" anchor="ctr">
                    <a:solidFill>
                      <a:srgbClr val="8A4D08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Primary: BUR90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≥60% of mature paid starts, with ≥10-point lift versus generic ranking of the same catalog.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distinct qualifying orders bought and settled by D90. Include canceled members in the cohort.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coverage and renewal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Monitor settled bounty dollars ÷ fees, D90 paid renewal and the next 90-day cycle.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Utilization earns confidence when members recover fees and choose to stay.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Supply and economics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Funded next-cycle offers, positive contribution and CAC at or below the $15 planning target.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actual costs, merchant incrementality and observed acquisition payback.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and personalization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Improved suitable matches with stable or better risk at comparable approval rates.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loan-vintage outcomes, model calibration, fair-lending review and ranking holdouts.</a:t>
                      </a:r>
                    </a:p>
                  </a:txBody>
                  <a:tcPr marL="142875" marR="142875" marT="66675" marB="66675" anchor="ctr">
                    <a:solidFill>
                      <a:srgbClr val="FFF0DA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Pass: expand the segment. Utilization weak: repair fit. Economics weak: repair funding.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the mechanism still fails after a bounded retest, stop acquisition and honor earned obligations.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831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2026-09-24T04:43:45.8430000Z</dcterms:created>
  <dcterms:modified xsi:type="dcterms:W3CDTF">2026-09-24T04:43:45.8430000Z</dcterms:modified>
</coreProperties>
</file>